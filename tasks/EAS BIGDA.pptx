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18288000" cy="10287000"/>
  <p:notesSz cx="6858000" cy="9144000"/>
  <p:embeddedFontLst>
    <p:embeddedFont>
      <p:font typeface="Bree Serif" charset="1" panose="02000503040000020004"/>
      <p:regular r:id="rId42"/>
    </p:embeddedFont>
    <p:embeddedFont>
      <p:font typeface="Open Sauce" charset="1" panose="00000500000000000000"/>
      <p:regular r:id="rId43"/>
    </p:embeddedFont>
    <p:embeddedFont>
      <p:font typeface="Montserrat Bold" charset="1" panose="00000800000000000000"/>
      <p:regular r:id="rId44"/>
    </p:embeddedFont>
    <p:embeddedFont>
      <p:font typeface="Garet" charset="1" panose="00000000000000000000"/>
      <p:regular r:id="rId45"/>
    </p:embeddedFont>
    <p:embeddedFont>
      <p:font typeface="Montserrat" charset="1" panose="00000500000000000000"/>
      <p:regular r:id="rId46"/>
    </p:embeddedFont>
    <p:embeddedFont>
      <p:font typeface="Open Sauce Bold" charset="1" panose="00000800000000000000"/>
      <p:regular r:id="rId47"/>
    </p:embeddedFont>
    <p:embeddedFont>
      <p:font typeface="Aileron" charset="1" panose="00000500000000000000"/>
      <p:regular r:id="rId48"/>
    </p:embeddedFont>
    <p:embeddedFont>
      <p:font typeface="Aileron Ultra-Bold" charset="1" panose="00000A00000000000000"/>
      <p:regular r:id="rId49"/>
    </p:embeddedFont>
    <p:embeddedFont>
      <p:font typeface="Garet Bold" charset="1" panose="00000000000000000000"/>
      <p:regular r:id="rId50"/>
    </p:embeddedFont>
    <p:embeddedFont>
      <p:font typeface="Canva Sans Bold" charset="1" panose="020B0803030501040103"/>
      <p:regular r:id="rId51"/>
    </p:embeddedFont>
    <p:embeddedFont>
      <p:font typeface="Canva Sans" charset="1" panose="020B0503030501040103"/>
      <p:regular r:id="rId52"/>
    </p:embeddedFont>
    <p:embeddedFont>
      <p:font typeface="League Spartan" charset="1" panose="00000800000000000000"/>
      <p:regular r:id="rId53"/>
    </p:embeddedFont>
    <p:embeddedFont>
      <p:font typeface="Gotham" charset="1" panose="00000000000000000000"/>
      <p:regular r:id="rId54"/>
    </p:embeddedFont>
    <p:embeddedFont>
      <p:font typeface="ITC Avant Garde Gothic Bold" charset="1" panose="020B0802020202020204"/>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jpe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11.jpe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jpeg" Type="http://schemas.openxmlformats.org/officeDocument/2006/relationships/image"/><Relationship Id="rId7" Target="../media/image10.jpeg" Type="http://schemas.openxmlformats.org/officeDocument/2006/relationships/image"/><Relationship Id="rId8" Target="../media/image22.png" Type="http://schemas.openxmlformats.org/officeDocument/2006/relationships/image"/><Relationship Id="rId9" Target="../media/image1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 Id="rId4" Target="../embeddings/oleObject1.bin" Type="http://schemas.openxmlformats.org/officeDocument/2006/relationships/oleObject"/><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 Id="rId4" Target="../embeddings/oleObject2.bin" Type="http://schemas.openxmlformats.org/officeDocument/2006/relationships/oleObject"/><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embeddings/oleObject3.bin" Type="http://schemas.openxmlformats.org/officeDocument/2006/relationships/oleObject"/><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4.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7.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8.png" Type="http://schemas.openxmlformats.org/officeDocument/2006/relationships/image"/><Relationship Id="rId4" Target="../embeddings/oleObject4.bin" Type="http://schemas.openxmlformats.org/officeDocument/2006/relationships/oleObject"/><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1556418" y="2664964"/>
            <a:ext cx="15175164" cy="4684532"/>
          </a:xfrm>
          <a:prstGeom prst="rect">
            <a:avLst/>
          </a:prstGeom>
        </p:spPr>
        <p:txBody>
          <a:bodyPr anchor="t" rtlCol="false" tIns="0" lIns="0" bIns="0" rIns="0">
            <a:spAutoFit/>
          </a:bodyPr>
          <a:lstStyle/>
          <a:p>
            <a:pPr algn="ctr">
              <a:lnSpc>
                <a:spcPts val="7347"/>
              </a:lnSpc>
            </a:pPr>
            <a:r>
              <a:rPr lang="en-US" sz="7986">
                <a:solidFill>
                  <a:srgbClr val="FFFFFF"/>
                </a:solidFill>
                <a:latin typeface="Bree Serif"/>
                <a:ea typeface="Bree Serif"/>
                <a:cs typeface="Bree Serif"/>
                <a:sym typeface="Bree Serif"/>
              </a:rPr>
              <a:t>BRAND DOMINANCE, PRICE ANOMALY, DAN RESALE VALUE ANALYSIS PADA PRODUK TEKNOLOGI DI E-COMMERCE INDONESIA</a:t>
            </a:r>
          </a:p>
        </p:txBody>
      </p:sp>
      <p:grpSp>
        <p:nvGrpSpPr>
          <p:cNvPr name="Group 4" id="4"/>
          <p:cNvGrpSpPr/>
          <p:nvPr/>
        </p:nvGrpSpPr>
        <p:grpSpPr>
          <a:xfrm rot="0">
            <a:off x="6988426" y="8305798"/>
            <a:ext cx="4311147" cy="479418"/>
            <a:chOff x="0" y="0"/>
            <a:chExt cx="5748197" cy="639224"/>
          </a:xfrm>
        </p:grpSpPr>
        <p:grpSp>
          <p:nvGrpSpPr>
            <p:cNvPr name="Group 5" id="5"/>
            <p:cNvGrpSpPr/>
            <p:nvPr/>
          </p:nvGrpSpPr>
          <p:grpSpPr>
            <a:xfrm rot="0">
              <a:off x="1940184" y="0"/>
              <a:ext cx="3751168" cy="639224"/>
              <a:chOff x="0" y="0"/>
              <a:chExt cx="994633" cy="169492"/>
            </a:xfrm>
          </p:grpSpPr>
          <p:sp>
            <p:nvSpPr>
              <p:cNvPr name="Freeform 6" id="6"/>
              <p:cNvSpPr/>
              <p:nvPr/>
            </p:nvSpPr>
            <p:spPr>
              <a:xfrm flipH="false" flipV="false" rot="0">
                <a:off x="0" y="0"/>
                <a:ext cx="994633" cy="169492"/>
              </a:xfrm>
              <a:custGeom>
                <a:avLst/>
                <a:gdLst/>
                <a:ahLst/>
                <a:cxnLst/>
                <a:rect r="r" b="b" t="t" l="l"/>
                <a:pathLst>
                  <a:path h="169492" w="994633">
                    <a:moveTo>
                      <a:pt x="84746" y="0"/>
                    </a:moveTo>
                    <a:lnTo>
                      <a:pt x="909887" y="0"/>
                    </a:lnTo>
                    <a:cubicBezTo>
                      <a:pt x="932363" y="0"/>
                      <a:pt x="953918" y="8929"/>
                      <a:pt x="969811" y="24822"/>
                    </a:cubicBezTo>
                    <a:cubicBezTo>
                      <a:pt x="985704" y="40714"/>
                      <a:pt x="994633" y="62270"/>
                      <a:pt x="994633" y="84746"/>
                    </a:cubicBezTo>
                    <a:lnTo>
                      <a:pt x="994633" y="84746"/>
                    </a:lnTo>
                    <a:cubicBezTo>
                      <a:pt x="994633" y="107222"/>
                      <a:pt x="985704" y="128777"/>
                      <a:pt x="969811" y="144670"/>
                    </a:cubicBezTo>
                    <a:cubicBezTo>
                      <a:pt x="953918" y="160563"/>
                      <a:pt x="932363" y="169492"/>
                      <a:pt x="909887" y="169492"/>
                    </a:cubicBezTo>
                    <a:lnTo>
                      <a:pt x="84746" y="169492"/>
                    </a:lnTo>
                    <a:cubicBezTo>
                      <a:pt x="62270" y="169492"/>
                      <a:pt x="40714" y="160563"/>
                      <a:pt x="24822" y="144670"/>
                    </a:cubicBezTo>
                    <a:cubicBezTo>
                      <a:pt x="8929" y="128777"/>
                      <a:pt x="0" y="107222"/>
                      <a:pt x="0" y="84746"/>
                    </a:cubicBezTo>
                    <a:lnTo>
                      <a:pt x="0" y="84746"/>
                    </a:lnTo>
                    <a:cubicBezTo>
                      <a:pt x="0" y="62270"/>
                      <a:pt x="8929" y="40714"/>
                      <a:pt x="24822" y="24822"/>
                    </a:cubicBezTo>
                    <a:cubicBezTo>
                      <a:pt x="40714" y="8929"/>
                      <a:pt x="62270" y="0"/>
                      <a:pt x="84746"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7" id="7"/>
              <p:cNvSpPr txBox="true"/>
              <p:nvPr/>
            </p:nvSpPr>
            <p:spPr>
              <a:xfrm>
                <a:off x="0" y="85725"/>
                <a:ext cx="994633" cy="83767"/>
              </a:xfrm>
              <a:prstGeom prst="rect">
                <a:avLst/>
              </a:prstGeom>
            </p:spPr>
            <p:txBody>
              <a:bodyPr anchor="ctr" rtlCol="false" tIns="50800" lIns="50800" bIns="50800" rIns="50800"/>
              <a:lstStyle/>
              <a:p>
                <a:pPr algn="ctr">
                  <a:lnSpc>
                    <a:spcPts val="2218"/>
                  </a:lnSpc>
                </a:pPr>
              </a:p>
            </p:txBody>
          </p:sp>
        </p:grpSp>
        <p:grpSp>
          <p:nvGrpSpPr>
            <p:cNvPr name="Group 8" id="8"/>
            <p:cNvGrpSpPr/>
            <p:nvPr/>
          </p:nvGrpSpPr>
          <p:grpSpPr>
            <a:xfrm rot="0">
              <a:off x="0" y="0"/>
              <a:ext cx="1777988" cy="639224"/>
              <a:chOff x="0" y="0"/>
              <a:chExt cx="471439" cy="169492"/>
            </a:xfrm>
          </p:grpSpPr>
          <p:sp>
            <p:nvSpPr>
              <p:cNvPr name="Freeform 9" id="9"/>
              <p:cNvSpPr/>
              <p:nvPr/>
            </p:nvSpPr>
            <p:spPr>
              <a:xfrm flipH="false" flipV="false" rot="0">
                <a:off x="0" y="0"/>
                <a:ext cx="471439" cy="169492"/>
              </a:xfrm>
              <a:custGeom>
                <a:avLst/>
                <a:gdLst/>
                <a:ahLst/>
                <a:cxnLst/>
                <a:rect r="r" b="b" t="t" l="l"/>
                <a:pathLst>
                  <a:path h="169492" w="471439">
                    <a:moveTo>
                      <a:pt x="84746" y="0"/>
                    </a:moveTo>
                    <a:lnTo>
                      <a:pt x="386693" y="0"/>
                    </a:lnTo>
                    <a:cubicBezTo>
                      <a:pt x="409169" y="0"/>
                      <a:pt x="430724" y="8929"/>
                      <a:pt x="446617" y="24822"/>
                    </a:cubicBezTo>
                    <a:cubicBezTo>
                      <a:pt x="462510" y="40714"/>
                      <a:pt x="471439" y="62270"/>
                      <a:pt x="471439" y="84746"/>
                    </a:cubicBezTo>
                    <a:lnTo>
                      <a:pt x="471439" y="84746"/>
                    </a:lnTo>
                    <a:cubicBezTo>
                      <a:pt x="471439" y="107222"/>
                      <a:pt x="462510" y="128777"/>
                      <a:pt x="446617" y="144670"/>
                    </a:cubicBezTo>
                    <a:cubicBezTo>
                      <a:pt x="430724" y="160563"/>
                      <a:pt x="409169" y="169492"/>
                      <a:pt x="386693" y="169492"/>
                    </a:cubicBezTo>
                    <a:lnTo>
                      <a:pt x="84746" y="169492"/>
                    </a:lnTo>
                    <a:cubicBezTo>
                      <a:pt x="62270" y="169492"/>
                      <a:pt x="40714" y="160563"/>
                      <a:pt x="24822" y="144670"/>
                    </a:cubicBezTo>
                    <a:cubicBezTo>
                      <a:pt x="8929" y="128777"/>
                      <a:pt x="0" y="107222"/>
                      <a:pt x="0" y="84746"/>
                    </a:cubicBezTo>
                    <a:lnTo>
                      <a:pt x="0" y="84746"/>
                    </a:lnTo>
                    <a:cubicBezTo>
                      <a:pt x="0" y="62270"/>
                      <a:pt x="8929" y="40714"/>
                      <a:pt x="24822" y="24822"/>
                    </a:cubicBezTo>
                    <a:cubicBezTo>
                      <a:pt x="40714" y="8929"/>
                      <a:pt x="62270" y="0"/>
                      <a:pt x="84746"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0" id="10"/>
              <p:cNvSpPr txBox="true"/>
              <p:nvPr/>
            </p:nvSpPr>
            <p:spPr>
              <a:xfrm>
                <a:off x="0" y="85725"/>
                <a:ext cx="471439" cy="83767"/>
              </a:xfrm>
              <a:prstGeom prst="rect">
                <a:avLst/>
              </a:prstGeom>
            </p:spPr>
            <p:txBody>
              <a:bodyPr anchor="ctr" rtlCol="false" tIns="50800" lIns="50800" bIns="50800" rIns="50800"/>
              <a:lstStyle/>
              <a:p>
                <a:pPr algn="ctr">
                  <a:lnSpc>
                    <a:spcPts val="2218"/>
                  </a:lnSpc>
                </a:pPr>
              </a:p>
            </p:txBody>
          </p:sp>
        </p:grpSp>
        <p:sp>
          <p:nvSpPr>
            <p:cNvPr name="TextBox 11" id="11"/>
            <p:cNvSpPr txBox="true"/>
            <p:nvPr/>
          </p:nvSpPr>
          <p:spPr>
            <a:xfrm rot="0">
              <a:off x="1940184" y="51722"/>
              <a:ext cx="3808013" cy="502666"/>
            </a:xfrm>
            <a:prstGeom prst="rect">
              <a:avLst/>
            </a:prstGeom>
          </p:spPr>
          <p:txBody>
            <a:bodyPr anchor="t" rtlCol="false" tIns="0" lIns="0" bIns="0" rIns="0">
              <a:spAutoFit/>
            </a:bodyPr>
            <a:lstStyle/>
            <a:p>
              <a:pPr algn="ctr">
                <a:lnSpc>
                  <a:spcPts val="3024"/>
                </a:lnSpc>
              </a:pPr>
              <a:r>
                <a:rPr lang="en-US" sz="2400" spc="-134">
                  <a:solidFill>
                    <a:srgbClr val="FFFFFF"/>
                  </a:solidFill>
                  <a:latin typeface="Open Sauce"/>
                  <a:ea typeface="Open Sauce"/>
                  <a:cs typeface="Open Sauce"/>
                  <a:sym typeface="Open Sauce"/>
                </a:rPr>
                <a:t>Kelompok Sip </a:t>
              </a:r>
            </a:p>
          </p:txBody>
        </p:sp>
        <p:sp>
          <p:nvSpPr>
            <p:cNvPr name="TextBox 12" id="12"/>
            <p:cNvSpPr txBox="true"/>
            <p:nvPr/>
          </p:nvSpPr>
          <p:spPr>
            <a:xfrm rot="0">
              <a:off x="296266" y="101172"/>
              <a:ext cx="1089236" cy="417830"/>
            </a:xfrm>
            <a:prstGeom prst="rect">
              <a:avLst/>
            </a:prstGeom>
          </p:spPr>
          <p:txBody>
            <a:bodyPr anchor="t" rtlCol="false" tIns="0" lIns="0" bIns="0" rIns="0">
              <a:spAutoFit/>
            </a:bodyPr>
            <a:lstStyle/>
            <a:p>
              <a:pPr algn="ctr">
                <a:lnSpc>
                  <a:spcPts val="2519"/>
                </a:lnSpc>
              </a:pPr>
              <a:r>
                <a:rPr lang="en-US" sz="1999" spc="-111">
                  <a:solidFill>
                    <a:srgbClr val="FFFFFF"/>
                  </a:solidFill>
                  <a:latin typeface="Open Sauce"/>
                  <a:ea typeface="Open Sauce"/>
                  <a:cs typeface="Open Sauce"/>
                  <a:sym typeface="Open Sauce"/>
                </a:rPr>
                <a:t>Oleh :</a:t>
              </a:r>
            </a:p>
          </p:txBody>
        </p:sp>
      </p:grpSp>
      <p:grpSp>
        <p:nvGrpSpPr>
          <p:cNvPr name="Group 13" id="13"/>
          <p:cNvGrpSpPr/>
          <p:nvPr/>
        </p:nvGrpSpPr>
        <p:grpSpPr>
          <a:xfrm rot="0">
            <a:off x="5841280" y="9028487"/>
            <a:ext cx="6605439" cy="478965"/>
            <a:chOff x="0" y="0"/>
            <a:chExt cx="2538099" cy="184039"/>
          </a:xfrm>
        </p:grpSpPr>
        <p:sp>
          <p:nvSpPr>
            <p:cNvPr name="Freeform 14" id="14"/>
            <p:cNvSpPr/>
            <p:nvPr/>
          </p:nvSpPr>
          <p:spPr>
            <a:xfrm flipH="false" flipV="false" rot="0">
              <a:off x="0" y="0"/>
              <a:ext cx="2538099" cy="184039"/>
            </a:xfrm>
            <a:custGeom>
              <a:avLst/>
              <a:gdLst/>
              <a:ahLst/>
              <a:cxnLst/>
              <a:rect r="r" b="b" t="t" l="l"/>
              <a:pathLst>
                <a:path h="184039" w="2538099">
                  <a:moveTo>
                    <a:pt x="59775" y="0"/>
                  </a:moveTo>
                  <a:lnTo>
                    <a:pt x="2478325" y="0"/>
                  </a:lnTo>
                  <a:cubicBezTo>
                    <a:pt x="2511337" y="0"/>
                    <a:pt x="2538099" y="26762"/>
                    <a:pt x="2538099" y="59775"/>
                  </a:cubicBezTo>
                  <a:lnTo>
                    <a:pt x="2538099" y="124265"/>
                  </a:lnTo>
                  <a:cubicBezTo>
                    <a:pt x="2538099" y="157277"/>
                    <a:pt x="2511337" y="184039"/>
                    <a:pt x="2478325" y="184039"/>
                  </a:cubicBezTo>
                  <a:lnTo>
                    <a:pt x="59775" y="184039"/>
                  </a:lnTo>
                  <a:cubicBezTo>
                    <a:pt x="26762" y="184039"/>
                    <a:pt x="0" y="157277"/>
                    <a:pt x="0" y="124265"/>
                  </a:cubicBezTo>
                  <a:lnTo>
                    <a:pt x="0" y="59775"/>
                  </a:lnTo>
                  <a:cubicBezTo>
                    <a:pt x="0" y="26762"/>
                    <a:pt x="26762" y="0"/>
                    <a:pt x="5977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5" id="15"/>
            <p:cNvSpPr txBox="true"/>
            <p:nvPr/>
          </p:nvSpPr>
          <p:spPr>
            <a:xfrm>
              <a:off x="0" y="85725"/>
              <a:ext cx="2538099" cy="98314"/>
            </a:xfrm>
            <a:prstGeom prst="rect">
              <a:avLst/>
            </a:prstGeom>
          </p:spPr>
          <p:txBody>
            <a:bodyPr anchor="ctr" rtlCol="false" tIns="46740" lIns="46740" bIns="46740" rIns="46740"/>
            <a:lstStyle/>
            <a:p>
              <a:pPr algn="ctr">
                <a:lnSpc>
                  <a:spcPts val="2218"/>
                </a:lnSpc>
              </a:pPr>
            </a:p>
          </p:txBody>
        </p:sp>
      </p:grpSp>
      <p:sp>
        <p:nvSpPr>
          <p:cNvPr name="AutoShape 16" id="16"/>
          <p:cNvSpPr/>
          <p:nvPr/>
        </p:nvSpPr>
        <p:spPr>
          <a:xfrm>
            <a:off x="1153748" y="7617710"/>
            <a:ext cx="16105552" cy="0"/>
          </a:xfrm>
          <a:prstGeom prst="line">
            <a:avLst/>
          </a:prstGeom>
          <a:ln cap="flat" w="19050">
            <a:solidFill>
              <a:srgbClr val="FFFFFF"/>
            </a:solidFill>
            <a:prstDash val="solid"/>
            <a:headEnd type="none" len="sm" w="sm"/>
            <a:tailEnd type="none" len="sm" w="sm"/>
          </a:ln>
        </p:spPr>
      </p:sp>
      <p:grpSp>
        <p:nvGrpSpPr>
          <p:cNvPr name="Group 17" id="17"/>
          <p:cNvGrpSpPr/>
          <p:nvPr/>
        </p:nvGrpSpPr>
        <p:grpSpPr>
          <a:xfrm rot="0">
            <a:off x="1028700" y="337116"/>
            <a:ext cx="16386847" cy="1227065"/>
            <a:chOff x="0" y="0"/>
            <a:chExt cx="21849129" cy="1636087"/>
          </a:xfrm>
        </p:grpSpPr>
        <p:sp>
          <p:nvSpPr>
            <p:cNvPr name="Freeform 18" id="18"/>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19" id="19"/>
            <p:cNvGrpSpPr/>
            <p:nvPr/>
          </p:nvGrpSpPr>
          <p:grpSpPr>
            <a:xfrm rot="0">
              <a:off x="11378892" y="443664"/>
              <a:ext cx="3080976" cy="969444"/>
              <a:chOff x="0" y="0"/>
              <a:chExt cx="1291574" cy="406400"/>
            </a:xfrm>
          </p:grpSpPr>
          <p:sp>
            <p:nvSpPr>
              <p:cNvPr name="Freeform 20" id="20"/>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1" id="21"/>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23" id="23"/>
            <p:cNvGrpSpPr/>
            <p:nvPr/>
          </p:nvGrpSpPr>
          <p:grpSpPr>
            <a:xfrm rot="0">
              <a:off x="16468734" y="443664"/>
              <a:ext cx="5380395" cy="969444"/>
              <a:chOff x="0" y="0"/>
              <a:chExt cx="2255512" cy="406400"/>
            </a:xfrm>
          </p:grpSpPr>
          <p:sp>
            <p:nvSpPr>
              <p:cNvPr name="Freeform 24" id="24"/>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5" id="25"/>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7" id="27"/>
            <p:cNvGrpSpPr/>
            <p:nvPr/>
          </p:nvGrpSpPr>
          <p:grpSpPr>
            <a:xfrm rot="0">
              <a:off x="14828167" y="283406"/>
              <a:ext cx="1277412" cy="1277412"/>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9" id="29"/>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30" id="30"/>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31" id="31"/>
          <p:cNvSpPr txBox="true"/>
          <p:nvPr/>
        </p:nvSpPr>
        <p:spPr>
          <a:xfrm rot="0">
            <a:off x="5336808" y="9091872"/>
            <a:ext cx="7614384" cy="684279"/>
          </a:xfrm>
          <a:prstGeom prst="rect">
            <a:avLst/>
          </a:prstGeom>
        </p:spPr>
        <p:txBody>
          <a:bodyPr anchor="t" rtlCol="false" tIns="0" lIns="0" bIns="0" rIns="0">
            <a:spAutoFit/>
          </a:bodyPr>
          <a:lstStyle/>
          <a:p>
            <a:pPr algn="ctr">
              <a:lnSpc>
                <a:spcPts val="2782"/>
              </a:lnSpc>
            </a:pPr>
            <a:r>
              <a:rPr lang="en-US" sz="2208" spc="-123">
                <a:solidFill>
                  <a:srgbClr val="FFFFFF"/>
                </a:solidFill>
                <a:latin typeface="Open Sauce"/>
                <a:ea typeface="Open Sauce"/>
                <a:cs typeface="Open Sauce"/>
                <a:sym typeface="Open Sauce"/>
              </a:rPr>
              <a:t>Dr.Eng. Muhammad Zulhaj Aliansyah, S.T., M.Eng.</a:t>
            </a:r>
          </a:p>
          <a:p>
            <a:pPr algn="ctr">
              <a:lnSpc>
                <a:spcPts val="278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74958" y="4426091"/>
            <a:ext cx="3368342" cy="3368342"/>
            <a:chOff x="0" y="0"/>
            <a:chExt cx="13716000" cy="13716000"/>
          </a:xfrm>
        </p:grpSpPr>
        <p:sp>
          <p:nvSpPr>
            <p:cNvPr name="Freeform 4" id="4"/>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3"/>
              <a:stretch>
                <a:fillRect l="-46763" t="-108394" r="-43456" b="-45231"/>
              </a:stretch>
            </a:blipFill>
          </p:spPr>
        </p:sp>
      </p:grpSp>
      <p:sp>
        <p:nvSpPr>
          <p:cNvPr name="TextBox 5" id="5"/>
          <p:cNvSpPr txBox="true"/>
          <p:nvPr/>
        </p:nvSpPr>
        <p:spPr>
          <a:xfrm rot="0">
            <a:off x="1296171" y="8279928"/>
            <a:ext cx="2925915" cy="445389"/>
          </a:xfrm>
          <a:prstGeom prst="rect">
            <a:avLst/>
          </a:prstGeom>
        </p:spPr>
        <p:txBody>
          <a:bodyPr anchor="t" rtlCol="false" tIns="0" lIns="0" bIns="0" rIns="0">
            <a:spAutoFit/>
          </a:bodyPr>
          <a:lstStyle/>
          <a:p>
            <a:pPr algn="ctr">
              <a:lnSpc>
                <a:spcPts val="3527"/>
              </a:lnSpc>
              <a:spcBef>
                <a:spcPct val="0"/>
              </a:spcBef>
            </a:pPr>
            <a:r>
              <a:rPr lang="en-US" sz="2799" spc="-156">
                <a:solidFill>
                  <a:srgbClr val="FFFFFF"/>
                </a:solidFill>
                <a:latin typeface="Garet"/>
                <a:ea typeface="Garet"/>
                <a:cs typeface="Garet"/>
                <a:sym typeface="Garet"/>
              </a:rPr>
              <a:t>Eris Alfionita</a:t>
            </a:r>
          </a:p>
        </p:txBody>
      </p:sp>
      <p:grpSp>
        <p:nvGrpSpPr>
          <p:cNvPr name="Group 6" id="6"/>
          <p:cNvGrpSpPr/>
          <p:nvPr/>
        </p:nvGrpSpPr>
        <p:grpSpPr>
          <a:xfrm rot="0">
            <a:off x="5257469" y="4426091"/>
            <a:ext cx="3368342" cy="3368342"/>
            <a:chOff x="0" y="0"/>
            <a:chExt cx="13716000" cy="13716000"/>
          </a:xfrm>
        </p:grpSpPr>
        <p:sp>
          <p:nvSpPr>
            <p:cNvPr name="Freeform 7" id="7"/>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4"/>
              <a:stretch>
                <a:fillRect l="0" t="-6282" r="0" b="-27050"/>
              </a:stretch>
            </a:blipFill>
          </p:spPr>
        </p:sp>
      </p:grpSp>
      <p:grpSp>
        <p:nvGrpSpPr>
          <p:cNvPr name="Group 8" id="8"/>
          <p:cNvGrpSpPr/>
          <p:nvPr/>
        </p:nvGrpSpPr>
        <p:grpSpPr>
          <a:xfrm rot="0">
            <a:off x="9435436" y="4426091"/>
            <a:ext cx="3368342" cy="3368342"/>
            <a:chOff x="0" y="0"/>
            <a:chExt cx="13716000" cy="13716000"/>
          </a:xfrm>
        </p:grpSpPr>
        <p:sp>
          <p:nvSpPr>
            <p:cNvPr name="Freeform 9" id="9"/>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5"/>
              <a:stretch>
                <a:fillRect l="-39433" t="0" r="-39433" b="0"/>
              </a:stretch>
            </a:blipFill>
          </p:spPr>
        </p:sp>
      </p:grpSp>
      <p:grpSp>
        <p:nvGrpSpPr>
          <p:cNvPr name="Group 10" id="10"/>
          <p:cNvGrpSpPr/>
          <p:nvPr/>
        </p:nvGrpSpPr>
        <p:grpSpPr>
          <a:xfrm rot="0">
            <a:off x="13613402" y="4426091"/>
            <a:ext cx="3368342" cy="3368342"/>
            <a:chOff x="0" y="0"/>
            <a:chExt cx="13716000" cy="13716000"/>
          </a:xfrm>
        </p:grpSpPr>
        <p:sp>
          <p:nvSpPr>
            <p:cNvPr name="Freeform 11" id="11"/>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6"/>
              <a:stretch>
                <a:fillRect l="0" t="0" r="0" b="0"/>
              </a:stretch>
            </a:blipFill>
          </p:spPr>
        </p:sp>
      </p:grpSp>
      <p:sp>
        <p:nvSpPr>
          <p:cNvPr name="TextBox 12" id="12"/>
          <p:cNvSpPr txBox="true"/>
          <p:nvPr/>
        </p:nvSpPr>
        <p:spPr>
          <a:xfrm rot="0">
            <a:off x="1296171" y="8793795"/>
            <a:ext cx="2925915" cy="372237"/>
          </a:xfrm>
          <a:prstGeom prst="rect">
            <a:avLst/>
          </a:prstGeom>
        </p:spPr>
        <p:txBody>
          <a:bodyPr anchor="t" rtlCol="false" tIns="0" lIns="0" bIns="0" rIns="0">
            <a:spAutoFit/>
          </a:bodyPr>
          <a:lstStyle/>
          <a:p>
            <a:pPr algn="ctr">
              <a:lnSpc>
                <a:spcPts val="3023"/>
              </a:lnSpc>
              <a:spcBef>
                <a:spcPct val="0"/>
              </a:spcBef>
            </a:pPr>
            <a:r>
              <a:rPr lang="en-US" sz="2399" spc="170">
                <a:solidFill>
                  <a:srgbClr val="FFFFFF"/>
                </a:solidFill>
                <a:latin typeface="Montserrat"/>
                <a:ea typeface="Montserrat"/>
                <a:cs typeface="Montserrat"/>
                <a:sym typeface="Montserrat"/>
              </a:rPr>
              <a:t>24083010032</a:t>
            </a:r>
          </a:p>
        </p:txBody>
      </p:sp>
      <p:sp>
        <p:nvSpPr>
          <p:cNvPr name="TextBox 13" id="13"/>
          <p:cNvSpPr txBox="true"/>
          <p:nvPr/>
        </p:nvSpPr>
        <p:spPr>
          <a:xfrm rot="0">
            <a:off x="5368075" y="8279928"/>
            <a:ext cx="3147128" cy="445389"/>
          </a:xfrm>
          <a:prstGeom prst="rect">
            <a:avLst/>
          </a:prstGeom>
        </p:spPr>
        <p:txBody>
          <a:bodyPr anchor="t" rtlCol="false" tIns="0" lIns="0" bIns="0" rIns="0">
            <a:spAutoFit/>
          </a:bodyPr>
          <a:lstStyle/>
          <a:p>
            <a:pPr algn="ctr">
              <a:lnSpc>
                <a:spcPts val="3527"/>
              </a:lnSpc>
              <a:spcBef>
                <a:spcPct val="0"/>
              </a:spcBef>
            </a:pPr>
            <a:r>
              <a:rPr lang="en-US" sz="2799" spc="-156">
                <a:solidFill>
                  <a:srgbClr val="FFFFFF"/>
                </a:solidFill>
                <a:latin typeface="Garet"/>
                <a:ea typeface="Garet"/>
                <a:cs typeface="Garet"/>
                <a:sym typeface="Garet"/>
              </a:rPr>
              <a:t>Alfani Nur Azizah</a:t>
            </a:r>
          </a:p>
        </p:txBody>
      </p:sp>
      <p:sp>
        <p:nvSpPr>
          <p:cNvPr name="TextBox 14" id="14"/>
          <p:cNvSpPr txBox="true"/>
          <p:nvPr/>
        </p:nvSpPr>
        <p:spPr>
          <a:xfrm rot="0">
            <a:off x="5478682" y="8803320"/>
            <a:ext cx="2925915" cy="372237"/>
          </a:xfrm>
          <a:prstGeom prst="rect">
            <a:avLst/>
          </a:prstGeom>
        </p:spPr>
        <p:txBody>
          <a:bodyPr anchor="t" rtlCol="false" tIns="0" lIns="0" bIns="0" rIns="0">
            <a:spAutoFit/>
          </a:bodyPr>
          <a:lstStyle/>
          <a:p>
            <a:pPr algn="ctr">
              <a:lnSpc>
                <a:spcPts val="3023"/>
              </a:lnSpc>
              <a:spcBef>
                <a:spcPct val="0"/>
              </a:spcBef>
            </a:pPr>
            <a:r>
              <a:rPr lang="en-US" sz="2399" spc="170">
                <a:solidFill>
                  <a:srgbClr val="FFFFFF"/>
                </a:solidFill>
                <a:latin typeface="Montserrat"/>
                <a:ea typeface="Montserrat"/>
                <a:cs typeface="Montserrat"/>
                <a:sym typeface="Montserrat"/>
              </a:rPr>
              <a:t>24083010048</a:t>
            </a:r>
          </a:p>
        </p:txBody>
      </p:sp>
      <p:sp>
        <p:nvSpPr>
          <p:cNvPr name="TextBox 15" id="15"/>
          <p:cNvSpPr txBox="true"/>
          <p:nvPr/>
        </p:nvSpPr>
        <p:spPr>
          <a:xfrm rot="0">
            <a:off x="9126403" y="8279928"/>
            <a:ext cx="3986407" cy="445389"/>
          </a:xfrm>
          <a:prstGeom prst="rect">
            <a:avLst/>
          </a:prstGeom>
        </p:spPr>
        <p:txBody>
          <a:bodyPr anchor="t" rtlCol="false" tIns="0" lIns="0" bIns="0" rIns="0">
            <a:spAutoFit/>
          </a:bodyPr>
          <a:lstStyle/>
          <a:p>
            <a:pPr algn="ctr">
              <a:lnSpc>
                <a:spcPts val="3527"/>
              </a:lnSpc>
              <a:spcBef>
                <a:spcPct val="0"/>
              </a:spcBef>
            </a:pPr>
            <a:r>
              <a:rPr lang="en-US" sz="2799" spc="-156">
                <a:solidFill>
                  <a:srgbClr val="FFFFFF"/>
                </a:solidFill>
                <a:latin typeface="Garet"/>
                <a:ea typeface="Garet"/>
                <a:cs typeface="Garet"/>
                <a:sym typeface="Garet"/>
              </a:rPr>
              <a:t>Gendis Poerbodani</a:t>
            </a:r>
          </a:p>
        </p:txBody>
      </p:sp>
      <p:sp>
        <p:nvSpPr>
          <p:cNvPr name="TextBox 16" id="16"/>
          <p:cNvSpPr txBox="true"/>
          <p:nvPr/>
        </p:nvSpPr>
        <p:spPr>
          <a:xfrm rot="0">
            <a:off x="9642608" y="8841420"/>
            <a:ext cx="2925915" cy="399288"/>
          </a:xfrm>
          <a:prstGeom prst="rect">
            <a:avLst/>
          </a:prstGeom>
        </p:spPr>
        <p:txBody>
          <a:bodyPr anchor="t" rtlCol="false" tIns="0" lIns="0" bIns="0" rIns="0">
            <a:spAutoFit/>
          </a:bodyPr>
          <a:lstStyle/>
          <a:p>
            <a:pPr algn="ctr">
              <a:lnSpc>
                <a:spcPts val="3275"/>
              </a:lnSpc>
              <a:spcBef>
                <a:spcPct val="0"/>
              </a:spcBef>
            </a:pPr>
            <a:r>
              <a:rPr lang="en-US" sz="2599" spc="184">
                <a:solidFill>
                  <a:srgbClr val="FFFFFF"/>
                </a:solidFill>
                <a:latin typeface="Montserrat"/>
                <a:ea typeface="Montserrat"/>
                <a:cs typeface="Montserrat"/>
                <a:sym typeface="Montserrat"/>
              </a:rPr>
              <a:t>24083010077</a:t>
            </a:r>
          </a:p>
        </p:txBody>
      </p:sp>
      <p:sp>
        <p:nvSpPr>
          <p:cNvPr name="TextBox 17" id="17"/>
          <p:cNvSpPr txBox="true"/>
          <p:nvPr/>
        </p:nvSpPr>
        <p:spPr>
          <a:xfrm rot="0">
            <a:off x="13724009" y="8367456"/>
            <a:ext cx="3147128" cy="445389"/>
          </a:xfrm>
          <a:prstGeom prst="rect">
            <a:avLst/>
          </a:prstGeom>
        </p:spPr>
        <p:txBody>
          <a:bodyPr anchor="t" rtlCol="false" tIns="0" lIns="0" bIns="0" rIns="0">
            <a:spAutoFit/>
          </a:bodyPr>
          <a:lstStyle/>
          <a:p>
            <a:pPr algn="ctr">
              <a:lnSpc>
                <a:spcPts val="3527"/>
              </a:lnSpc>
              <a:spcBef>
                <a:spcPct val="0"/>
              </a:spcBef>
            </a:pPr>
            <a:r>
              <a:rPr lang="en-US" sz="2799" spc="-156">
                <a:solidFill>
                  <a:srgbClr val="FFFFFF"/>
                </a:solidFill>
                <a:latin typeface="Garet"/>
                <a:ea typeface="Garet"/>
                <a:cs typeface="Garet"/>
                <a:sym typeface="Garet"/>
              </a:rPr>
              <a:t>Khairunisa Olive Ek.</a:t>
            </a:r>
          </a:p>
        </p:txBody>
      </p:sp>
      <p:sp>
        <p:nvSpPr>
          <p:cNvPr name="TextBox 18" id="18"/>
          <p:cNvSpPr txBox="true"/>
          <p:nvPr/>
        </p:nvSpPr>
        <p:spPr>
          <a:xfrm rot="0">
            <a:off x="13834616" y="8841420"/>
            <a:ext cx="2925915" cy="399288"/>
          </a:xfrm>
          <a:prstGeom prst="rect">
            <a:avLst/>
          </a:prstGeom>
        </p:spPr>
        <p:txBody>
          <a:bodyPr anchor="t" rtlCol="false" tIns="0" lIns="0" bIns="0" rIns="0">
            <a:spAutoFit/>
          </a:bodyPr>
          <a:lstStyle/>
          <a:p>
            <a:pPr algn="ctr">
              <a:lnSpc>
                <a:spcPts val="3275"/>
              </a:lnSpc>
              <a:spcBef>
                <a:spcPct val="0"/>
              </a:spcBef>
            </a:pPr>
            <a:r>
              <a:rPr lang="en-US" sz="2599" spc="184">
                <a:solidFill>
                  <a:srgbClr val="FFFFFF"/>
                </a:solidFill>
                <a:latin typeface="Montserrat"/>
                <a:ea typeface="Montserrat"/>
                <a:cs typeface="Montserrat"/>
                <a:sym typeface="Montserrat"/>
              </a:rPr>
              <a:t>24083010120</a:t>
            </a:r>
          </a:p>
        </p:txBody>
      </p:sp>
      <p:grpSp>
        <p:nvGrpSpPr>
          <p:cNvPr name="Group 19" id="19"/>
          <p:cNvGrpSpPr/>
          <p:nvPr/>
        </p:nvGrpSpPr>
        <p:grpSpPr>
          <a:xfrm rot="0">
            <a:off x="960676" y="8194734"/>
            <a:ext cx="3530249" cy="1236223"/>
            <a:chOff x="0" y="0"/>
            <a:chExt cx="1356476" cy="475011"/>
          </a:xfrm>
        </p:grpSpPr>
        <p:sp>
          <p:nvSpPr>
            <p:cNvPr name="Freeform 20" id="20"/>
            <p:cNvSpPr/>
            <p:nvPr/>
          </p:nvSpPr>
          <p:spPr>
            <a:xfrm flipH="false" flipV="false" rot="0">
              <a:off x="0" y="0"/>
              <a:ext cx="1356476" cy="475011"/>
            </a:xfrm>
            <a:custGeom>
              <a:avLst/>
              <a:gdLst/>
              <a:ahLst/>
              <a:cxnLst/>
              <a:rect r="r" b="b" t="t" l="l"/>
              <a:pathLst>
                <a:path h="475011" w="1356476">
                  <a:moveTo>
                    <a:pt x="111844" y="0"/>
                  </a:moveTo>
                  <a:lnTo>
                    <a:pt x="1244632" y="0"/>
                  </a:lnTo>
                  <a:cubicBezTo>
                    <a:pt x="1274295" y="0"/>
                    <a:pt x="1302743" y="11784"/>
                    <a:pt x="1323718" y="32758"/>
                  </a:cubicBezTo>
                  <a:cubicBezTo>
                    <a:pt x="1344693" y="53733"/>
                    <a:pt x="1356476" y="82181"/>
                    <a:pt x="1356476" y="111844"/>
                  </a:cubicBezTo>
                  <a:lnTo>
                    <a:pt x="1356476" y="363167"/>
                  </a:lnTo>
                  <a:cubicBezTo>
                    <a:pt x="1356476" y="424937"/>
                    <a:pt x="1306402" y="475011"/>
                    <a:pt x="1244632" y="475011"/>
                  </a:cubicBezTo>
                  <a:lnTo>
                    <a:pt x="111844" y="475011"/>
                  </a:lnTo>
                  <a:cubicBezTo>
                    <a:pt x="50074" y="475011"/>
                    <a:pt x="0" y="424937"/>
                    <a:pt x="0" y="363167"/>
                  </a:cubicBezTo>
                  <a:lnTo>
                    <a:pt x="0" y="111844"/>
                  </a:lnTo>
                  <a:cubicBezTo>
                    <a:pt x="0" y="50074"/>
                    <a:pt x="50074" y="0"/>
                    <a:pt x="111844"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1" id="21"/>
            <p:cNvSpPr txBox="true"/>
            <p:nvPr/>
          </p:nvSpPr>
          <p:spPr>
            <a:xfrm>
              <a:off x="0" y="85725"/>
              <a:ext cx="1356476" cy="389286"/>
            </a:xfrm>
            <a:prstGeom prst="rect">
              <a:avLst/>
            </a:prstGeom>
          </p:spPr>
          <p:txBody>
            <a:bodyPr anchor="ctr" rtlCol="false" tIns="46740" lIns="46740" bIns="46740" rIns="46740"/>
            <a:lstStyle/>
            <a:p>
              <a:pPr algn="ctr">
                <a:lnSpc>
                  <a:spcPts val="2218"/>
                </a:lnSpc>
              </a:pPr>
            </a:p>
          </p:txBody>
        </p:sp>
      </p:grpSp>
      <p:grpSp>
        <p:nvGrpSpPr>
          <p:cNvPr name="Group 22" id="22"/>
          <p:cNvGrpSpPr/>
          <p:nvPr/>
        </p:nvGrpSpPr>
        <p:grpSpPr>
          <a:xfrm rot="0">
            <a:off x="5176515" y="8170832"/>
            <a:ext cx="3530249" cy="1236223"/>
            <a:chOff x="0" y="0"/>
            <a:chExt cx="1356476" cy="475011"/>
          </a:xfrm>
        </p:grpSpPr>
        <p:sp>
          <p:nvSpPr>
            <p:cNvPr name="Freeform 23" id="23"/>
            <p:cNvSpPr/>
            <p:nvPr/>
          </p:nvSpPr>
          <p:spPr>
            <a:xfrm flipH="false" flipV="false" rot="0">
              <a:off x="0" y="0"/>
              <a:ext cx="1356476" cy="475011"/>
            </a:xfrm>
            <a:custGeom>
              <a:avLst/>
              <a:gdLst/>
              <a:ahLst/>
              <a:cxnLst/>
              <a:rect r="r" b="b" t="t" l="l"/>
              <a:pathLst>
                <a:path h="475011" w="1356476">
                  <a:moveTo>
                    <a:pt x="111844" y="0"/>
                  </a:moveTo>
                  <a:lnTo>
                    <a:pt x="1244632" y="0"/>
                  </a:lnTo>
                  <a:cubicBezTo>
                    <a:pt x="1274295" y="0"/>
                    <a:pt x="1302743" y="11784"/>
                    <a:pt x="1323718" y="32758"/>
                  </a:cubicBezTo>
                  <a:cubicBezTo>
                    <a:pt x="1344693" y="53733"/>
                    <a:pt x="1356476" y="82181"/>
                    <a:pt x="1356476" y="111844"/>
                  </a:cubicBezTo>
                  <a:lnTo>
                    <a:pt x="1356476" y="363167"/>
                  </a:lnTo>
                  <a:cubicBezTo>
                    <a:pt x="1356476" y="424937"/>
                    <a:pt x="1306402" y="475011"/>
                    <a:pt x="1244632" y="475011"/>
                  </a:cubicBezTo>
                  <a:lnTo>
                    <a:pt x="111844" y="475011"/>
                  </a:lnTo>
                  <a:cubicBezTo>
                    <a:pt x="50074" y="475011"/>
                    <a:pt x="0" y="424937"/>
                    <a:pt x="0" y="363167"/>
                  </a:cubicBezTo>
                  <a:lnTo>
                    <a:pt x="0" y="111844"/>
                  </a:lnTo>
                  <a:cubicBezTo>
                    <a:pt x="0" y="50074"/>
                    <a:pt x="50074" y="0"/>
                    <a:pt x="111844"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4" id="24"/>
            <p:cNvSpPr txBox="true"/>
            <p:nvPr/>
          </p:nvSpPr>
          <p:spPr>
            <a:xfrm>
              <a:off x="0" y="85725"/>
              <a:ext cx="1356476" cy="389286"/>
            </a:xfrm>
            <a:prstGeom prst="rect">
              <a:avLst/>
            </a:prstGeom>
          </p:spPr>
          <p:txBody>
            <a:bodyPr anchor="ctr" rtlCol="false" tIns="46740" lIns="46740" bIns="46740" rIns="46740"/>
            <a:lstStyle/>
            <a:p>
              <a:pPr algn="ctr">
                <a:lnSpc>
                  <a:spcPts val="2218"/>
                </a:lnSpc>
              </a:pPr>
            </a:p>
          </p:txBody>
        </p:sp>
      </p:grpSp>
      <p:grpSp>
        <p:nvGrpSpPr>
          <p:cNvPr name="Group 25" id="25"/>
          <p:cNvGrpSpPr/>
          <p:nvPr/>
        </p:nvGrpSpPr>
        <p:grpSpPr>
          <a:xfrm rot="0">
            <a:off x="13335847" y="8161307"/>
            <a:ext cx="3923453" cy="1269649"/>
            <a:chOff x="0" y="0"/>
            <a:chExt cx="1507563" cy="487855"/>
          </a:xfrm>
        </p:grpSpPr>
        <p:sp>
          <p:nvSpPr>
            <p:cNvPr name="Freeform 26" id="26"/>
            <p:cNvSpPr/>
            <p:nvPr/>
          </p:nvSpPr>
          <p:spPr>
            <a:xfrm flipH="false" flipV="false" rot="0">
              <a:off x="0" y="0"/>
              <a:ext cx="1507563" cy="487855"/>
            </a:xfrm>
            <a:custGeom>
              <a:avLst/>
              <a:gdLst/>
              <a:ahLst/>
              <a:cxnLst/>
              <a:rect r="r" b="b" t="t" l="l"/>
              <a:pathLst>
                <a:path h="487855" w="1507563">
                  <a:moveTo>
                    <a:pt x="100635" y="0"/>
                  </a:moveTo>
                  <a:lnTo>
                    <a:pt x="1406928" y="0"/>
                  </a:lnTo>
                  <a:cubicBezTo>
                    <a:pt x="1462507" y="0"/>
                    <a:pt x="1507563" y="45056"/>
                    <a:pt x="1507563" y="100635"/>
                  </a:cubicBezTo>
                  <a:lnTo>
                    <a:pt x="1507563" y="387220"/>
                  </a:lnTo>
                  <a:cubicBezTo>
                    <a:pt x="1507563" y="442799"/>
                    <a:pt x="1462507" y="487855"/>
                    <a:pt x="1406928" y="487855"/>
                  </a:cubicBezTo>
                  <a:lnTo>
                    <a:pt x="100635" y="487855"/>
                  </a:lnTo>
                  <a:cubicBezTo>
                    <a:pt x="45056" y="487855"/>
                    <a:pt x="0" y="442799"/>
                    <a:pt x="0" y="387220"/>
                  </a:cubicBezTo>
                  <a:lnTo>
                    <a:pt x="0" y="100635"/>
                  </a:lnTo>
                  <a:cubicBezTo>
                    <a:pt x="0" y="45056"/>
                    <a:pt x="45056" y="0"/>
                    <a:pt x="10063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7" id="27"/>
            <p:cNvSpPr txBox="true"/>
            <p:nvPr/>
          </p:nvSpPr>
          <p:spPr>
            <a:xfrm>
              <a:off x="0" y="85725"/>
              <a:ext cx="1507563" cy="402130"/>
            </a:xfrm>
            <a:prstGeom prst="rect">
              <a:avLst/>
            </a:prstGeom>
          </p:spPr>
          <p:txBody>
            <a:bodyPr anchor="ctr" rtlCol="false" tIns="46740" lIns="46740" bIns="46740" rIns="46740"/>
            <a:lstStyle/>
            <a:p>
              <a:pPr algn="ctr">
                <a:lnSpc>
                  <a:spcPts val="2218"/>
                </a:lnSpc>
              </a:pPr>
            </a:p>
          </p:txBody>
        </p:sp>
      </p:grpSp>
      <p:grpSp>
        <p:nvGrpSpPr>
          <p:cNvPr name="Group 28" id="28"/>
          <p:cNvGrpSpPr/>
          <p:nvPr/>
        </p:nvGrpSpPr>
        <p:grpSpPr>
          <a:xfrm rot="0">
            <a:off x="9242826" y="8161307"/>
            <a:ext cx="3749308" cy="1236223"/>
            <a:chOff x="0" y="0"/>
            <a:chExt cx="1440649" cy="475011"/>
          </a:xfrm>
        </p:grpSpPr>
        <p:sp>
          <p:nvSpPr>
            <p:cNvPr name="Freeform 29" id="29"/>
            <p:cNvSpPr/>
            <p:nvPr/>
          </p:nvSpPr>
          <p:spPr>
            <a:xfrm flipH="false" flipV="false" rot="0">
              <a:off x="0" y="0"/>
              <a:ext cx="1440649" cy="475011"/>
            </a:xfrm>
            <a:custGeom>
              <a:avLst/>
              <a:gdLst/>
              <a:ahLst/>
              <a:cxnLst/>
              <a:rect r="r" b="b" t="t" l="l"/>
              <a:pathLst>
                <a:path h="475011" w="1440649">
                  <a:moveTo>
                    <a:pt x="105310" y="0"/>
                  </a:moveTo>
                  <a:lnTo>
                    <a:pt x="1335339" y="0"/>
                  </a:lnTo>
                  <a:cubicBezTo>
                    <a:pt x="1363269" y="0"/>
                    <a:pt x="1390055" y="11095"/>
                    <a:pt x="1409804" y="30844"/>
                  </a:cubicBezTo>
                  <a:cubicBezTo>
                    <a:pt x="1429554" y="50594"/>
                    <a:pt x="1440649" y="77380"/>
                    <a:pt x="1440649" y="105310"/>
                  </a:cubicBezTo>
                  <a:lnTo>
                    <a:pt x="1440649" y="369701"/>
                  </a:lnTo>
                  <a:cubicBezTo>
                    <a:pt x="1440649" y="397631"/>
                    <a:pt x="1429554" y="424417"/>
                    <a:pt x="1409804" y="444166"/>
                  </a:cubicBezTo>
                  <a:cubicBezTo>
                    <a:pt x="1390055" y="463916"/>
                    <a:pt x="1363269" y="475011"/>
                    <a:pt x="1335339" y="475011"/>
                  </a:cubicBezTo>
                  <a:lnTo>
                    <a:pt x="105310" y="475011"/>
                  </a:lnTo>
                  <a:cubicBezTo>
                    <a:pt x="77380" y="475011"/>
                    <a:pt x="50594" y="463916"/>
                    <a:pt x="30844" y="444166"/>
                  </a:cubicBezTo>
                  <a:cubicBezTo>
                    <a:pt x="11095" y="424417"/>
                    <a:pt x="0" y="397631"/>
                    <a:pt x="0" y="369701"/>
                  </a:cubicBezTo>
                  <a:lnTo>
                    <a:pt x="0" y="105310"/>
                  </a:lnTo>
                  <a:cubicBezTo>
                    <a:pt x="0" y="77380"/>
                    <a:pt x="11095" y="50594"/>
                    <a:pt x="30844" y="30844"/>
                  </a:cubicBezTo>
                  <a:cubicBezTo>
                    <a:pt x="50594" y="11095"/>
                    <a:pt x="77380" y="0"/>
                    <a:pt x="105310"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0" id="30"/>
            <p:cNvSpPr txBox="true"/>
            <p:nvPr/>
          </p:nvSpPr>
          <p:spPr>
            <a:xfrm>
              <a:off x="0" y="85725"/>
              <a:ext cx="1440649" cy="389286"/>
            </a:xfrm>
            <a:prstGeom prst="rect">
              <a:avLst/>
            </a:prstGeom>
          </p:spPr>
          <p:txBody>
            <a:bodyPr anchor="ctr" rtlCol="false" tIns="46740" lIns="46740" bIns="46740" rIns="46740"/>
            <a:lstStyle/>
            <a:p>
              <a:pPr algn="ctr">
                <a:lnSpc>
                  <a:spcPts val="2218"/>
                </a:lnSpc>
              </a:pPr>
            </a:p>
          </p:txBody>
        </p:sp>
      </p:grpSp>
      <p:grpSp>
        <p:nvGrpSpPr>
          <p:cNvPr name="Group 31" id="31"/>
          <p:cNvGrpSpPr/>
          <p:nvPr/>
        </p:nvGrpSpPr>
        <p:grpSpPr>
          <a:xfrm rot="0">
            <a:off x="1028700" y="337116"/>
            <a:ext cx="16386847" cy="1227065"/>
            <a:chOff x="0" y="0"/>
            <a:chExt cx="21849129" cy="1636087"/>
          </a:xfrm>
        </p:grpSpPr>
        <p:sp>
          <p:nvSpPr>
            <p:cNvPr name="Freeform 32" id="32"/>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7"/>
              <a:stretch>
                <a:fillRect l="-2838" t="-22494" r="-26999" b="-4205"/>
              </a:stretch>
            </a:blipFill>
          </p:spPr>
        </p:sp>
        <p:grpSp>
          <p:nvGrpSpPr>
            <p:cNvPr name="Group 33" id="33"/>
            <p:cNvGrpSpPr/>
            <p:nvPr/>
          </p:nvGrpSpPr>
          <p:grpSpPr>
            <a:xfrm rot="0">
              <a:off x="11378892" y="443664"/>
              <a:ext cx="3080976" cy="969444"/>
              <a:chOff x="0" y="0"/>
              <a:chExt cx="1291574" cy="406400"/>
            </a:xfrm>
          </p:grpSpPr>
          <p:sp>
            <p:nvSpPr>
              <p:cNvPr name="Freeform 34" id="34"/>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35" id="35"/>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36" id="36"/>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37" id="37"/>
            <p:cNvGrpSpPr/>
            <p:nvPr/>
          </p:nvGrpSpPr>
          <p:grpSpPr>
            <a:xfrm rot="0">
              <a:off x="16468734" y="443664"/>
              <a:ext cx="5380395" cy="969444"/>
              <a:chOff x="0" y="0"/>
              <a:chExt cx="2255512" cy="406400"/>
            </a:xfrm>
          </p:grpSpPr>
          <p:sp>
            <p:nvSpPr>
              <p:cNvPr name="Freeform 38" id="38"/>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39" id="39"/>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40" id="40"/>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41" id="41"/>
            <p:cNvGrpSpPr/>
            <p:nvPr/>
          </p:nvGrpSpPr>
          <p:grpSpPr>
            <a:xfrm rot="0">
              <a:off x="14828167" y="283406"/>
              <a:ext cx="1277412" cy="1277412"/>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43" id="43"/>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44" id="44"/>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45" id="45"/>
          <p:cNvSpPr txBox="true"/>
          <p:nvPr/>
        </p:nvSpPr>
        <p:spPr>
          <a:xfrm rot="0">
            <a:off x="3077250" y="2089335"/>
            <a:ext cx="11259028" cy="1327106"/>
          </a:xfrm>
          <a:prstGeom prst="rect">
            <a:avLst/>
          </a:prstGeom>
        </p:spPr>
        <p:txBody>
          <a:bodyPr anchor="t" rtlCol="false" tIns="0" lIns="0" bIns="0" rIns="0">
            <a:spAutoFit/>
          </a:bodyPr>
          <a:lstStyle/>
          <a:p>
            <a:pPr algn="ctr">
              <a:lnSpc>
                <a:spcPts val="10507"/>
              </a:lnSpc>
              <a:spcBef>
                <a:spcPct val="0"/>
              </a:spcBef>
            </a:pPr>
            <a:r>
              <a:rPr lang="en-US" b="true" sz="8339" spc="-466">
                <a:solidFill>
                  <a:srgbClr val="FFFFFF"/>
                </a:solidFill>
                <a:latin typeface="Open Sauce Bold"/>
                <a:ea typeface="Open Sauce Bold"/>
                <a:cs typeface="Open Sauce Bold"/>
                <a:sym typeface="Open Sauce Bold"/>
              </a:rPr>
              <a:t>ANGGOTA KELOMPOK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337116"/>
            <a:ext cx="16386847" cy="1227065"/>
            <a:chOff x="0" y="0"/>
            <a:chExt cx="21849129" cy="1636087"/>
          </a:xfrm>
        </p:grpSpPr>
        <p:sp>
          <p:nvSpPr>
            <p:cNvPr name="Freeform 4" id="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5" id="5"/>
            <p:cNvGrpSpPr/>
            <p:nvPr/>
          </p:nvGrpSpPr>
          <p:grpSpPr>
            <a:xfrm rot="0">
              <a:off x="11378892" y="443664"/>
              <a:ext cx="3080976" cy="969444"/>
              <a:chOff x="0" y="0"/>
              <a:chExt cx="1291574" cy="406400"/>
            </a:xfrm>
          </p:grpSpPr>
          <p:sp>
            <p:nvSpPr>
              <p:cNvPr name="Freeform 6" id="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7" id="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9" id="9"/>
            <p:cNvGrpSpPr/>
            <p:nvPr/>
          </p:nvGrpSpPr>
          <p:grpSpPr>
            <a:xfrm rot="0">
              <a:off x="16468734" y="443664"/>
              <a:ext cx="5380395" cy="969444"/>
              <a:chOff x="0" y="0"/>
              <a:chExt cx="2255512" cy="406400"/>
            </a:xfrm>
          </p:grpSpPr>
          <p:sp>
            <p:nvSpPr>
              <p:cNvPr name="Freeform 10" id="1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3" id="13"/>
            <p:cNvGrpSpPr/>
            <p:nvPr/>
          </p:nvGrpSpPr>
          <p:grpSpPr>
            <a:xfrm rot="0">
              <a:off x="14828167" y="283406"/>
              <a:ext cx="1277412" cy="12774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5" id="1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6" id="1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7" id="17"/>
          <p:cNvGrpSpPr/>
          <p:nvPr/>
        </p:nvGrpSpPr>
        <p:grpSpPr>
          <a:xfrm rot="0">
            <a:off x="3188011" y="5243098"/>
            <a:ext cx="4573421" cy="1303731"/>
            <a:chOff x="0" y="0"/>
            <a:chExt cx="1757309" cy="500951"/>
          </a:xfrm>
        </p:grpSpPr>
        <p:sp>
          <p:nvSpPr>
            <p:cNvPr name="Freeform 18" id="18"/>
            <p:cNvSpPr/>
            <p:nvPr/>
          </p:nvSpPr>
          <p:spPr>
            <a:xfrm flipH="false" flipV="false" rot="0">
              <a:off x="0" y="0"/>
              <a:ext cx="1757309" cy="500951"/>
            </a:xfrm>
            <a:custGeom>
              <a:avLst/>
              <a:gdLst/>
              <a:ahLst/>
              <a:cxnLst/>
              <a:rect r="r" b="b" t="t" l="l"/>
              <a:pathLst>
                <a:path h="500951" w="1757309">
                  <a:moveTo>
                    <a:pt x="86333" y="0"/>
                  </a:moveTo>
                  <a:lnTo>
                    <a:pt x="1670976" y="0"/>
                  </a:lnTo>
                  <a:cubicBezTo>
                    <a:pt x="1718656" y="0"/>
                    <a:pt x="1757309" y="38653"/>
                    <a:pt x="1757309" y="86333"/>
                  </a:cubicBezTo>
                  <a:lnTo>
                    <a:pt x="1757309" y="414617"/>
                  </a:lnTo>
                  <a:cubicBezTo>
                    <a:pt x="1757309" y="462298"/>
                    <a:pt x="1718656" y="500951"/>
                    <a:pt x="1670976" y="500951"/>
                  </a:cubicBezTo>
                  <a:lnTo>
                    <a:pt x="86333" y="500951"/>
                  </a:lnTo>
                  <a:cubicBezTo>
                    <a:pt x="38653" y="500951"/>
                    <a:pt x="0" y="462298"/>
                    <a:pt x="0" y="414617"/>
                  </a:cubicBezTo>
                  <a:lnTo>
                    <a:pt x="0" y="86333"/>
                  </a:lnTo>
                  <a:cubicBezTo>
                    <a:pt x="0" y="38653"/>
                    <a:pt x="38653" y="0"/>
                    <a:pt x="8633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9" id="19"/>
            <p:cNvSpPr txBox="true"/>
            <p:nvPr/>
          </p:nvSpPr>
          <p:spPr>
            <a:xfrm>
              <a:off x="0" y="85725"/>
              <a:ext cx="1757309" cy="415226"/>
            </a:xfrm>
            <a:prstGeom prst="rect">
              <a:avLst/>
            </a:prstGeom>
          </p:spPr>
          <p:txBody>
            <a:bodyPr anchor="ctr" rtlCol="false" tIns="46740" lIns="46740" bIns="46740" rIns="46740"/>
            <a:lstStyle/>
            <a:p>
              <a:pPr algn="ctr">
                <a:lnSpc>
                  <a:spcPts val="2218"/>
                </a:lnSpc>
              </a:pPr>
              <a:r>
                <a:rPr lang="en-US" sz="2609" spc="78">
                  <a:solidFill>
                    <a:srgbClr val="FFFFFF"/>
                  </a:solidFill>
                  <a:latin typeface="Aileron"/>
                  <a:ea typeface="Aileron"/>
                  <a:cs typeface="Aileron"/>
                  <a:sym typeface="Aileron"/>
                </a:rPr>
                <a:t>Web Scraper</a:t>
              </a:r>
            </a:p>
          </p:txBody>
        </p:sp>
      </p:grpSp>
      <p:grpSp>
        <p:nvGrpSpPr>
          <p:cNvPr name="Group 20" id="20"/>
          <p:cNvGrpSpPr/>
          <p:nvPr/>
        </p:nvGrpSpPr>
        <p:grpSpPr>
          <a:xfrm rot="0">
            <a:off x="2007177" y="4946123"/>
            <a:ext cx="1897682" cy="1897682"/>
            <a:chOff x="0" y="0"/>
            <a:chExt cx="13716000" cy="13716000"/>
          </a:xfrm>
        </p:grpSpPr>
        <p:sp>
          <p:nvSpPr>
            <p:cNvPr name="Freeform 21" id="21"/>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6"/>
              <a:stretch>
                <a:fillRect l="0" t="-15256" r="0" b="-5696"/>
              </a:stretch>
            </a:blipFill>
          </p:spPr>
        </p:sp>
      </p:grpSp>
      <p:grpSp>
        <p:nvGrpSpPr>
          <p:cNvPr name="Group 22" id="22"/>
          <p:cNvGrpSpPr/>
          <p:nvPr/>
        </p:nvGrpSpPr>
        <p:grpSpPr>
          <a:xfrm rot="0">
            <a:off x="3188011" y="7531659"/>
            <a:ext cx="4573421" cy="1303731"/>
            <a:chOff x="0" y="0"/>
            <a:chExt cx="1757309" cy="500951"/>
          </a:xfrm>
        </p:grpSpPr>
        <p:sp>
          <p:nvSpPr>
            <p:cNvPr name="Freeform 23" id="23"/>
            <p:cNvSpPr/>
            <p:nvPr/>
          </p:nvSpPr>
          <p:spPr>
            <a:xfrm flipH="false" flipV="false" rot="0">
              <a:off x="0" y="0"/>
              <a:ext cx="1757309" cy="500951"/>
            </a:xfrm>
            <a:custGeom>
              <a:avLst/>
              <a:gdLst/>
              <a:ahLst/>
              <a:cxnLst/>
              <a:rect r="r" b="b" t="t" l="l"/>
              <a:pathLst>
                <a:path h="500951" w="1757309">
                  <a:moveTo>
                    <a:pt x="86333" y="0"/>
                  </a:moveTo>
                  <a:lnTo>
                    <a:pt x="1670976" y="0"/>
                  </a:lnTo>
                  <a:cubicBezTo>
                    <a:pt x="1718656" y="0"/>
                    <a:pt x="1757309" y="38653"/>
                    <a:pt x="1757309" y="86333"/>
                  </a:cubicBezTo>
                  <a:lnTo>
                    <a:pt x="1757309" y="414617"/>
                  </a:lnTo>
                  <a:cubicBezTo>
                    <a:pt x="1757309" y="462298"/>
                    <a:pt x="1718656" y="500951"/>
                    <a:pt x="1670976" y="500951"/>
                  </a:cubicBezTo>
                  <a:lnTo>
                    <a:pt x="86333" y="500951"/>
                  </a:lnTo>
                  <a:cubicBezTo>
                    <a:pt x="38653" y="500951"/>
                    <a:pt x="0" y="462298"/>
                    <a:pt x="0" y="414617"/>
                  </a:cubicBezTo>
                  <a:lnTo>
                    <a:pt x="0" y="86333"/>
                  </a:lnTo>
                  <a:cubicBezTo>
                    <a:pt x="0" y="38653"/>
                    <a:pt x="38653" y="0"/>
                    <a:pt x="8633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4" id="24"/>
            <p:cNvSpPr txBox="true"/>
            <p:nvPr/>
          </p:nvSpPr>
          <p:spPr>
            <a:xfrm>
              <a:off x="0" y="85725"/>
              <a:ext cx="1757309" cy="415226"/>
            </a:xfrm>
            <a:prstGeom prst="rect">
              <a:avLst/>
            </a:prstGeom>
          </p:spPr>
          <p:txBody>
            <a:bodyPr anchor="ctr" rtlCol="false" tIns="46740" lIns="46740" bIns="46740" rIns="46740"/>
            <a:lstStyle/>
            <a:p>
              <a:pPr algn="ctr">
                <a:lnSpc>
                  <a:spcPts val="2218"/>
                </a:lnSpc>
              </a:pPr>
              <a:r>
                <a:rPr lang="en-US" b="true" sz="2609" spc="78">
                  <a:solidFill>
                    <a:srgbClr val="FFFFFF"/>
                  </a:solidFill>
                  <a:latin typeface="Aileron Ultra-Bold"/>
                  <a:ea typeface="Aileron Ultra-Bold"/>
                  <a:cs typeface="Aileron Ultra-Bold"/>
                  <a:sym typeface="Aileron Ultra-Bold"/>
                </a:rPr>
                <a:t>Web Scraper</a:t>
              </a:r>
            </a:p>
          </p:txBody>
        </p:sp>
      </p:grpSp>
      <p:grpSp>
        <p:nvGrpSpPr>
          <p:cNvPr name="Group 25" id="25"/>
          <p:cNvGrpSpPr/>
          <p:nvPr/>
        </p:nvGrpSpPr>
        <p:grpSpPr>
          <a:xfrm rot="0">
            <a:off x="2007177" y="7239631"/>
            <a:ext cx="1887787" cy="1887787"/>
            <a:chOff x="0" y="0"/>
            <a:chExt cx="13716000" cy="13716000"/>
          </a:xfrm>
        </p:grpSpPr>
        <p:sp>
          <p:nvSpPr>
            <p:cNvPr name="Freeform 26" id="26"/>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7"/>
              <a:stretch>
                <a:fillRect l="0" t="0" r="0" b="0"/>
              </a:stretch>
            </a:blipFill>
          </p:spPr>
        </p:sp>
      </p:grpSp>
      <p:grpSp>
        <p:nvGrpSpPr>
          <p:cNvPr name="Group 27" id="27"/>
          <p:cNvGrpSpPr/>
          <p:nvPr/>
        </p:nvGrpSpPr>
        <p:grpSpPr>
          <a:xfrm rot="0">
            <a:off x="3188011" y="2970329"/>
            <a:ext cx="4573421" cy="1289994"/>
            <a:chOff x="0" y="0"/>
            <a:chExt cx="1757309" cy="495672"/>
          </a:xfrm>
        </p:grpSpPr>
        <p:sp>
          <p:nvSpPr>
            <p:cNvPr name="Freeform 28" id="28"/>
            <p:cNvSpPr/>
            <p:nvPr/>
          </p:nvSpPr>
          <p:spPr>
            <a:xfrm flipH="false" flipV="false" rot="0">
              <a:off x="0" y="0"/>
              <a:ext cx="1757309" cy="495672"/>
            </a:xfrm>
            <a:custGeom>
              <a:avLst/>
              <a:gdLst/>
              <a:ahLst/>
              <a:cxnLst/>
              <a:rect r="r" b="b" t="t" l="l"/>
              <a:pathLst>
                <a:path h="495672" w="1757309">
                  <a:moveTo>
                    <a:pt x="86333" y="0"/>
                  </a:moveTo>
                  <a:lnTo>
                    <a:pt x="1670976" y="0"/>
                  </a:lnTo>
                  <a:cubicBezTo>
                    <a:pt x="1718656" y="0"/>
                    <a:pt x="1757309" y="38653"/>
                    <a:pt x="1757309" y="86333"/>
                  </a:cubicBezTo>
                  <a:lnTo>
                    <a:pt x="1757309" y="409339"/>
                  </a:lnTo>
                  <a:cubicBezTo>
                    <a:pt x="1757309" y="457019"/>
                    <a:pt x="1718656" y="495672"/>
                    <a:pt x="1670976" y="495672"/>
                  </a:cubicBezTo>
                  <a:lnTo>
                    <a:pt x="86333" y="495672"/>
                  </a:lnTo>
                  <a:cubicBezTo>
                    <a:pt x="38653" y="495672"/>
                    <a:pt x="0" y="457019"/>
                    <a:pt x="0" y="409339"/>
                  </a:cubicBezTo>
                  <a:lnTo>
                    <a:pt x="0" y="86333"/>
                  </a:lnTo>
                  <a:cubicBezTo>
                    <a:pt x="0" y="38653"/>
                    <a:pt x="38653" y="0"/>
                    <a:pt x="8633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9" id="29"/>
            <p:cNvSpPr txBox="true"/>
            <p:nvPr/>
          </p:nvSpPr>
          <p:spPr>
            <a:xfrm>
              <a:off x="0" y="85725"/>
              <a:ext cx="1757309" cy="409947"/>
            </a:xfrm>
            <a:prstGeom prst="rect">
              <a:avLst/>
            </a:prstGeom>
          </p:spPr>
          <p:txBody>
            <a:bodyPr anchor="ctr" rtlCol="false" tIns="46740" lIns="46740" bIns="46740" rIns="46740"/>
            <a:lstStyle/>
            <a:p>
              <a:pPr algn="ctr">
                <a:lnSpc>
                  <a:spcPts val="2218"/>
                </a:lnSpc>
              </a:pPr>
              <a:r>
                <a:rPr lang="en-US" b="true" sz="2609" spc="78">
                  <a:solidFill>
                    <a:srgbClr val="FFFFFF"/>
                  </a:solidFill>
                  <a:latin typeface="Aileron Ultra-Bold"/>
                  <a:ea typeface="Aileron Ultra-Bold"/>
                  <a:cs typeface="Aileron Ultra-Bold"/>
                  <a:sym typeface="Aileron Ultra-Bold"/>
                </a:rPr>
                <a:t>Simplescrapper</a:t>
              </a:r>
            </a:p>
          </p:txBody>
        </p:sp>
      </p:grpSp>
      <p:grpSp>
        <p:nvGrpSpPr>
          <p:cNvPr name="Group 30" id="30"/>
          <p:cNvGrpSpPr/>
          <p:nvPr/>
        </p:nvGrpSpPr>
        <p:grpSpPr>
          <a:xfrm rot="0">
            <a:off x="2007177" y="2652614"/>
            <a:ext cx="1897682" cy="1897682"/>
            <a:chOff x="0" y="0"/>
            <a:chExt cx="13716000" cy="13716000"/>
          </a:xfrm>
        </p:grpSpPr>
        <p:sp>
          <p:nvSpPr>
            <p:cNvPr name="Freeform 31" id="31"/>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8"/>
              <a:stretch>
                <a:fillRect l="0" t="0" r="0" b="0"/>
              </a:stretch>
            </a:blipFill>
          </p:spPr>
        </p:sp>
      </p:grpSp>
      <p:sp>
        <p:nvSpPr>
          <p:cNvPr name="TextBox 32" id="32"/>
          <p:cNvSpPr txBox="true"/>
          <p:nvPr/>
        </p:nvSpPr>
        <p:spPr>
          <a:xfrm rot="0">
            <a:off x="10647306" y="2288220"/>
            <a:ext cx="4374952"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DATASET</a:t>
            </a:r>
          </a:p>
        </p:txBody>
      </p:sp>
      <p:sp>
        <p:nvSpPr>
          <p:cNvPr name="TextBox 33" id="33"/>
          <p:cNvSpPr txBox="true"/>
          <p:nvPr/>
        </p:nvSpPr>
        <p:spPr>
          <a:xfrm rot="0">
            <a:off x="9056999" y="4169868"/>
            <a:ext cx="8889238" cy="617982"/>
          </a:xfrm>
          <a:prstGeom prst="rect">
            <a:avLst/>
          </a:prstGeom>
        </p:spPr>
        <p:txBody>
          <a:bodyPr anchor="t" rtlCol="false" tIns="0" lIns="0" bIns="0" rIns="0">
            <a:spAutoFit/>
          </a:bodyPr>
          <a:lstStyle/>
          <a:p>
            <a:pPr algn="l">
              <a:lnSpc>
                <a:spcPts val="4913"/>
              </a:lnSpc>
              <a:spcBef>
                <a:spcPct val="0"/>
              </a:spcBef>
            </a:pPr>
            <a:r>
              <a:rPr lang="en-US" sz="3899" spc="-218">
                <a:solidFill>
                  <a:srgbClr val="FFFFFF"/>
                </a:solidFill>
                <a:latin typeface="Garet"/>
                <a:ea typeface="Garet"/>
                <a:cs typeface="Garet"/>
                <a:sym typeface="Garet"/>
              </a:rPr>
              <a:t>TOTAL DATA: </a:t>
            </a:r>
            <a:r>
              <a:rPr lang="en-US" b="true" sz="3899" spc="-218">
                <a:solidFill>
                  <a:srgbClr val="F4D820"/>
                </a:solidFill>
                <a:latin typeface="Garet Bold"/>
                <a:ea typeface="Garet Bold"/>
                <a:cs typeface="Garet Bold"/>
                <a:sym typeface="Garet Bold"/>
              </a:rPr>
              <a:t>97.166</a:t>
            </a:r>
          </a:p>
        </p:txBody>
      </p:sp>
      <p:sp>
        <p:nvSpPr>
          <p:cNvPr name="TextBox 34" id="34"/>
          <p:cNvSpPr txBox="true"/>
          <p:nvPr/>
        </p:nvSpPr>
        <p:spPr>
          <a:xfrm rot="0">
            <a:off x="9056999" y="4879086"/>
            <a:ext cx="8889238" cy="490728"/>
          </a:xfrm>
          <a:prstGeom prst="rect">
            <a:avLst/>
          </a:prstGeom>
        </p:spPr>
        <p:txBody>
          <a:bodyPr anchor="t" rtlCol="false" tIns="0" lIns="0" bIns="0" rIns="0">
            <a:spAutoFit/>
          </a:bodyPr>
          <a:lstStyle/>
          <a:p>
            <a:pPr algn="l">
              <a:lnSpc>
                <a:spcPts val="3905"/>
              </a:lnSpc>
              <a:spcBef>
                <a:spcPct val="0"/>
              </a:spcBef>
            </a:pPr>
            <a:r>
              <a:rPr lang="en-US" sz="3099" spc="-173">
                <a:solidFill>
                  <a:srgbClr val="FFFFFF"/>
                </a:solidFill>
                <a:latin typeface="Garet"/>
                <a:ea typeface="Garet"/>
                <a:cs typeface="Garet"/>
                <a:sym typeface="Garet"/>
              </a:rPr>
              <a:t>PERIODE PENGAMBILAN DATA: </a:t>
            </a:r>
            <a:r>
              <a:rPr lang="en-US" b="true" sz="3099" spc="-173">
                <a:solidFill>
                  <a:srgbClr val="F4D820"/>
                </a:solidFill>
                <a:latin typeface="Garet Bold"/>
                <a:ea typeface="Garet Bold"/>
                <a:cs typeface="Garet Bold"/>
                <a:sym typeface="Garet Bold"/>
              </a:rPr>
              <a:t>+/- 1 BULAN</a:t>
            </a:r>
          </a:p>
        </p:txBody>
      </p:sp>
      <p:pic>
        <p:nvPicPr>
          <p:cNvPr name="Picture 35" id="35"/>
          <p:cNvPicPr>
            <a:picLocks noChangeAspect="true"/>
          </p:cNvPicPr>
          <p:nvPr/>
        </p:nvPicPr>
        <p:blipFill>
          <a:blip r:embed="rId9"/>
          <a:stretch>
            <a:fillRect/>
          </a:stretch>
        </p:blipFill>
        <p:spPr>
          <a:xfrm rot="0">
            <a:off x="10123100" y="5133899"/>
            <a:ext cx="5418748" cy="5407335"/>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2667164" y="5533584"/>
            <a:ext cx="7118016" cy="427101"/>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Extraction &amp; Standardization: </a:t>
            </a:r>
          </a:p>
        </p:txBody>
      </p:sp>
      <p:sp>
        <p:nvSpPr>
          <p:cNvPr name="TextBox 4" id="4"/>
          <p:cNvSpPr txBox="true"/>
          <p:nvPr/>
        </p:nvSpPr>
        <p:spPr>
          <a:xfrm rot="0">
            <a:off x="1093464" y="5105400"/>
            <a:ext cx="1573700"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01</a:t>
            </a:r>
          </a:p>
        </p:txBody>
      </p:sp>
      <p:sp>
        <p:nvSpPr>
          <p:cNvPr name="TextBox 5" id="5"/>
          <p:cNvSpPr txBox="true"/>
          <p:nvPr/>
        </p:nvSpPr>
        <p:spPr>
          <a:xfrm rot="0">
            <a:off x="8892088" y="5105400"/>
            <a:ext cx="1460092"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02</a:t>
            </a:r>
          </a:p>
        </p:txBody>
      </p:sp>
      <p:sp>
        <p:nvSpPr>
          <p:cNvPr name="TextBox 6" id="6"/>
          <p:cNvSpPr txBox="true"/>
          <p:nvPr/>
        </p:nvSpPr>
        <p:spPr>
          <a:xfrm rot="0">
            <a:off x="4841367" y="3606585"/>
            <a:ext cx="9887625" cy="335661"/>
          </a:xfrm>
          <a:prstGeom prst="rect">
            <a:avLst/>
          </a:prstGeom>
        </p:spPr>
        <p:txBody>
          <a:bodyPr anchor="t" rtlCol="false" tIns="0" lIns="0" bIns="0" rIns="0">
            <a:spAutoFit/>
          </a:bodyPr>
          <a:lstStyle/>
          <a:p>
            <a:pPr algn="l">
              <a:lnSpc>
                <a:spcPts val="2771"/>
              </a:lnSpc>
              <a:spcBef>
                <a:spcPct val="0"/>
              </a:spcBef>
            </a:pPr>
            <a:r>
              <a:rPr lang="en-US" sz="2199" spc="-123">
                <a:solidFill>
                  <a:srgbClr val="FFFFFF"/>
                </a:solidFill>
                <a:latin typeface="Garet"/>
                <a:ea typeface="Garet"/>
                <a:cs typeface="Garet"/>
                <a:sym typeface="Garet"/>
              </a:rPr>
              <a:t>Data tersebar di 3 platform dengan kolom yang berbeda-beda </a:t>
            </a:r>
          </a:p>
        </p:txBody>
      </p:sp>
      <p:grpSp>
        <p:nvGrpSpPr>
          <p:cNvPr name="Group 7" id="7"/>
          <p:cNvGrpSpPr/>
          <p:nvPr/>
        </p:nvGrpSpPr>
        <p:grpSpPr>
          <a:xfrm rot="0">
            <a:off x="1028700" y="337116"/>
            <a:ext cx="16386847" cy="1227065"/>
            <a:chOff x="0" y="0"/>
            <a:chExt cx="21849129" cy="1636087"/>
          </a:xfrm>
        </p:grpSpPr>
        <p:sp>
          <p:nvSpPr>
            <p:cNvPr name="Freeform 8" id="8"/>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9" id="9"/>
            <p:cNvGrpSpPr/>
            <p:nvPr/>
          </p:nvGrpSpPr>
          <p:grpSpPr>
            <a:xfrm rot="0">
              <a:off x="11378892" y="443664"/>
              <a:ext cx="3080976" cy="969444"/>
              <a:chOff x="0" y="0"/>
              <a:chExt cx="1291574" cy="406400"/>
            </a:xfrm>
          </p:grpSpPr>
          <p:sp>
            <p:nvSpPr>
              <p:cNvPr name="Freeform 10" id="10"/>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3" id="13"/>
            <p:cNvGrpSpPr/>
            <p:nvPr/>
          </p:nvGrpSpPr>
          <p:grpSpPr>
            <a:xfrm rot="0">
              <a:off x="16468734" y="443664"/>
              <a:ext cx="5380395" cy="969444"/>
              <a:chOff x="0" y="0"/>
              <a:chExt cx="2255512" cy="406400"/>
            </a:xfrm>
          </p:grpSpPr>
          <p:sp>
            <p:nvSpPr>
              <p:cNvPr name="Freeform 14" id="14"/>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5" id="15"/>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7" id="17"/>
            <p:cNvGrpSpPr/>
            <p:nvPr/>
          </p:nvGrpSpPr>
          <p:grpSpPr>
            <a:xfrm rot="0">
              <a:off x="14828167" y="283406"/>
              <a:ext cx="1277412" cy="127741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9" id="19"/>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0" id="20"/>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1" id="21"/>
          <p:cNvSpPr txBox="true"/>
          <p:nvPr/>
        </p:nvSpPr>
        <p:spPr>
          <a:xfrm rot="0">
            <a:off x="5123459" y="2062229"/>
            <a:ext cx="8319342" cy="1017732"/>
          </a:xfrm>
          <a:prstGeom prst="rect">
            <a:avLst/>
          </a:prstGeom>
        </p:spPr>
        <p:txBody>
          <a:bodyPr anchor="t" rtlCol="false" tIns="0" lIns="0" bIns="0" rIns="0">
            <a:spAutoFit/>
          </a:bodyPr>
          <a:lstStyle/>
          <a:p>
            <a:pPr algn="l">
              <a:lnSpc>
                <a:spcPts val="8113"/>
              </a:lnSpc>
              <a:spcBef>
                <a:spcPct val="0"/>
              </a:spcBef>
            </a:pPr>
            <a:r>
              <a:rPr lang="en-US" b="true" sz="6439" spc="-360">
                <a:solidFill>
                  <a:srgbClr val="FFFFFF"/>
                </a:solidFill>
                <a:latin typeface="Open Sauce Bold"/>
                <a:ea typeface="Open Sauce Bold"/>
                <a:cs typeface="Open Sauce Bold"/>
                <a:sym typeface="Open Sauce Bold"/>
              </a:rPr>
              <a:t>DATA PREPARATION </a:t>
            </a:r>
          </a:p>
        </p:txBody>
      </p:sp>
      <p:sp>
        <p:nvSpPr>
          <p:cNvPr name="TextBox 22" id="22"/>
          <p:cNvSpPr txBox="true"/>
          <p:nvPr/>
        </p:nvSpPr>
        <p:spPr>
          <a:xfrm rot="0">
            <a:off x="3461806" y="4164530"/>
            <a:ext cx="12207989" cy="335661"/>
          </a:xfrm>
          <a:prstGeom prst="rect">
            <a:avLst/>
          </a:prstGeom>
        </p:spPr>
        <p:txBody>
          <a:bodyPr anchor="t" rtlCol="false" tIns="0" lIns="0" bIns="0" rIns="0">
            <a:spAutoFit/>
          </a:bodyPr>
          <a:lstStyle/>
          <a:p>
            <a:pPr algn="ctr">
              <a:lnSpc>
                <a:spcPts val="2771"/>
              </a:lnSpc>
              <a:spcBef>
                <a:spcPct val="0"/>
              </a:spcBef>
            </a:pPr>
            <a:r>
              <a:rPr lang="en-US" sz="2199" spc="-123">
                <a:solidFill>
                  <a:srgbClr val="FFFFFF"/>
                </a:solidFill>
                <a:latin typeface="Garet"/>
                <a:ea typeface="Garet"/>
                <a:cs typeface="Garet"/>
                <a:sym typeface="Garet"/>
              </a:rPr>
              <a:t>proses integrasi data multi-sumber untuk menciptakan basis data tunggal yang siap dianalisis.</a:t>
            </a:r>
          </a:p>
        </p:txBody>
      </p:sp>
      <p:sp>
        <p:nvSpPr>
          <p:cNvPr name="TextBox 23" id="23"/>
          <p:cNvSpPr txBox="true"/>
          <p:nvPr/>
        </p:nvSpPr>
        <p:spPr>
          <a:xfrm rot="0">
            <a:off x="2667164" y="6189760"/>
            <a:ext cx="5630077" cy="567309"/>
          </a:xfrm>
          <a:prstGeom prst="rect">
            <a:avLst/>
          </a:prstGeom>
        </p:spPr>
        <p:txBody>
          <a:bodyPr anchor="t" rtlCol="false" tIns="0" lIns="0" bIns="0" rIns="0">
            <a:spAutoFit/>
          </a:bodyPr>
          <a:lstStyle/>
          <a:p>
            <a:pPr algn="l">
              <a:lnSpc>
                <a:spcPts val="2268"/>
              </a:lnSpc>
              <a:spcBef>
                <a:spcPct val="0"/>
              </a:spcBef>
            </a:pPr>
            <a:r>
              <a:rPr lang="en-US" sz="1800" spc="-100">
                <a:solidFill>
                  <a:srgbClr val="FFFFFF"/>
                </a:solidFill>
                <a:latin typeface="Garet"/>
                <a:ea typeface="Garet"/>
                <a:cs typeface="Garet"/>
                <a:sym typeface="Garet"/>
              </a:rPr>
              <a:t>Mengambil kolom relevan dari berbagai dataset (per platform dan menyeragamkan struktur data.</a:t>
            </a:r>
          </a:p>
        </p:txBody>
      </p:sp>
      <p:grpSp>
        <p:nvGrpSpPr>
          <p:cNvPr name="Group 24" id="24"/>
          <p:cNvGrpSpPr/>
          <p:nvPr/>
        </p:nvGrpSpPr>
        <p:grpSpPr>
          <a:xfrm rot="0">
            <a:off x="10618880" y="5533196"/>
            <a:ext cx="7118016" cy="1397937"/>
            <a:chOff x="0" y="0"/>
            <a:chExt cx="9490687" cy="1863916"/>
          </a:xfrm>
        </p:grpSpPr>
        <p:sp>
          <p:nvSpPr>
            <p:cNvPr name="TextBox 25" id="25"/>
            <p:cNvSpPr txBox="true"/>
            <p:nvPr/>
          </p:nvSpPr>
          <p:spPr>
            <a:xfrm rot="0">
              <a:off x="0" y="-19050"/>
              <a:ext cx="9490687" cy="563118"/>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Enrichment: </a:t>
              </a:r>
            </a:p>
          </p:txBody>
        </p:sp>
        <p:sp>
          <p:nvSpPr>
            <p:cNvPr name="TextBox 26" id="26"/>
            <p:cNvSpPr txBox="true"/>
            <p:nvPr/>
          </p:nvSpPr>
          <p:spPr>
            <a:xfrm rot="0">
              <a:off x="4532" y="729679"/>
              <a:ext cx="7506769" cy="1134237"/>
            </a:xfrm>
            <a:prstGeom prst="rect">
              <a:avLst/>
            </a:prstGeom>
          </p:spPr>
          <p:txBody>
            <a:bodyPr anchor="t" rtlCol="false" tIns="0" lIns="0" bIns="0" rIns="0">
              <a:spAutoFit/>
            </a:bodyPr>
            <a:lstStyle/>
            <a:p>
              <a:pPr algn="l">
                <a:lnSpc>
                  <a:spcPts val="2268"/>
                </a:lnSpc>
                <a:spcBef>
                  <a:spcPct val="0"/>
                </a:spcBef>
              </a:pPr>
              <a:r>
                <a:rPr lang="en-US" sz="1800" spc="-100">
                  <a:solidFill>
                    <a:srgbClr val="FFFFFF"/>
                  </a:solidFill>
                  <a:latin typeface="Garet"/>
                  <a:ea typeface="Garet"/>
                  <a:cs typeface="Garet"/>
                  <a:sym typeface="Garet"/>
                </a:rPr>
                <a:t>Menambahkan informasi konteks (metadata) seperti kategori, kondisi, dan platform langsung dari sumber file.</a:t>
              </a:r>
            </a:p>
          </p:txBody>
        </p:sp>
      </p:grpSp>
      <p:sp>
        <p:nvSpPr>
          <p:cNvPr name="TextBox 27" id="27"/>
          <p:cNvSpPr txBox="true"/>
          <p:nvPr/>
        </p:nvSpPr>
        <p:spPr>
          <a:xfrm rot="0">
            <a:off x="5180609" y="7540733"/>
            <a:ext cx="1573700"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03</a:t>
            </a:r>
          </a:p>
        </p:txBody>
      </p:sp>
      <p:grpSp>
        <p:nvGrpSpPr>
          <p:cNvPr name="Group 28" id="28"/>
          <p:cNvGrpSpPr/>
          <p:nvPr/>
        </p:nvGrpSpPr>
        <p:grpSpPr>
          <a:xfrm rot="0">
            <a:off x="6587760" y="7912293"/>
            <a:ext cx="7118016" cy="1397937"/>
            <a:chOff x="0" y="0"/>
            <a:chExt cx="9490687" cy="1863916"/>
          </a:xfrm>
        </p:grpSpPr>
        <p:sp>
          <p:nvSpPr>
            <p:cNvPr name="TextBox 29" id="29"/>
            <p:cNvSpPr txBox="true"/>
            <p:nvPr/>
          </p:nvSpPr>
          <p:spPr>
            <a:xfrm rot="0">
              <a:off x="0" y="-19050"/>
              <a:ext cx="9490687" cy="563118"/>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Consolidation (Merging):</a:t>
              </a:r>
            </a:p>
          </p:txBody>
        </p:sp>
        <p:sp>
          <p:nvSpPr>
            <p:cNvPr name="TextBox 30" id="30"/>
            <p:cNvSpPr txBox="true"/>
            <p:nvPr/>
          </p:nvSpPr>
          <p:spPr>
            <a:xfrm rot="0">
              <a:off x="4532" y="729679"/>
              <a:ext cx="8528581" cy="1134237"/>
            </a:xfrm>
            <a:prstGeom prst="rect">
              <a:avLst/>
            </a:prstGeom>
          </p:spPr>
          <p:txBody>
            <a:bodyPr anchor="t" rtlCol="false" tIns="0" lIns="0" bIns="0" rIns="0">
              <a:spAutoFit/>
            </a:bodyPr>
            <a:lstStyle/>
            <a:p>
              <a:pPr algn="l">
                <a:lnSpc>
                  <a:spcPts val="2268"/>
                </a:lnSpc>
                <a:spcBef>
                  <a:spcPct val="0"/>
                </a:spcBef>
              </a:pPr>
              <a:r>
                <a:rPr lang="en-US" sz="1800" spc="-100">
                  <a:solidFill>
                    <a:srgbClr val="FFFFFF"/>
                  </a:solidFill>
                  <a:latin typeface="Garet"/>
                  <a:ea typeface="Garet"/>
                  <a:cs typeface="Garet"/>
                  <a:sym typeface="Garet"/>
                </a:rPr>
                <a:t>Menggabungkan seluruh data yang telah tersinkronisasi ke dalam satu dataframe untuk memastikan konsistensi analisis di tahap selanjutnya.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337116"/>
            <a:ext cx="16386847" cy="1227065"/>
            <a:chOff x="0" y="0"/>
            <a:chExt cx="21849129" cy="1636087"/>
          </a:xfrm>
        </p:grpSpPr>
        <p:sp>
          <p:nvSpPr>
            <p:cNvPr name="Freeform 4" id="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5" id="5"/>
            <p:cNvGrpSpPr/>
            <p:nvPr/>
          </p:nvGrpSpPr>
          <p:grpSpPr>
            <a:xfrm rot="0">
              <a:off x="11378892" y="443664"/>
              <a:ext cx="3080976" cy="969444"/>
              <a:chOff x="0" y="0"/>
              <a:chExt cx="1291574" cy="406400"/>
            </a:xfrm>
          </p:grpSpPr>
          <p:sp>
            <p:nvSpPr>
              <p:cNvPr name="Freeform 6" id="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7" id="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9" id="9"/>
            <p:cNvGrpSpPr/>
            <p:nvPr/>
          </p:nvGrpSpPr>
          <p:grpSpPr>
            <a:xfrm rot="0">
              <a:off x="16468734" y="443664"/>
              <a:ext cx="5380395" cy="969444"/>
              <a:chOff x="0" y="0"/>
              <a:chExt cx="2255512" cy="406400"/>
            </a:xfrm>
          </p:grpSpPr>
          <p:sp>
            <p:nvSpPr>
              <p:cNvPr name="Freeform 10" id="1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3" id="13"/>
            <p:cNvGrpSpPr/>
            <p:nvPr/>
          </p:nvGrpSpPr>
          <p:grpSpPr>
            <a:xfrm rot="0">
              <a:off x="14828167" y="283406"/>
              <a:ext cx="1277412" cy="12774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5" id="1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6" id="1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7" id="17"/>
          <p:cNvSpPr txBox="true"/>
          <p:nvPr/>
        </p:nvSpPr>
        <p:spPr>
          <a:xfrm rot="0">
            <a:off x="2783112" y="4483419"/>
            <a:ext cx="7118016" cy="427101"/>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Menghapus baris tidak relevan</a:t>
            </a:r>
          </a:p>
        </p:txBody>
      </p:sp>
      <p:sp>
        <p:nvSpPr>
          <p:cNvPr name="TextBox 18" id="18"/>
          <p:cNvSpPr txBox="true"/>
          <p:nvPr/>
        </p:nvSpPr>
        <p:spPr>
          <a:xfrm rot="0">
            <a:off x="1268142" y="4269173"/>
            <a:ext cx="1573700"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01</a:t>
            </a:r>
          </a:p>
        </p:txBody>
      </p:sp>
      <p:sp>
        <p:nvSpPr>
          <p:cNvPr name="TextBox 19" id="19"/>
          <p:cNvSpPr txBox="true"/>
          <p:nvPr/>
        </p:nvSpPr>
        <p:spPr>
          <a:xfrm rot="0">
            <a:off x="1268142" y="6884422"/>
            <a:ext cx="1460092"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02</a:t>
            </a:r>
          </a:p>
        </p:txBody>
      </p:sp>
      <p:sp>
        <p:nvSpPr>
          <p:cNvPr name="TextBox 20" id="20"/>
          <p:cNvSpPr txBox="true"/>
          <p:nvPr/>
        </p:nvSpPr>
        <p:spPr>
          <a:xfrm rot="0">
            <a:off x="9410524" y="4269173"/>
            <a:ext cx="1460092"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03</a:t>
            </a:r>
          </a:p>
        </p:txBody>
      </p:sp>
      <p:sp>
        <p:nvSpPr>
          <p:cNvPr name="TextBox 21" id="21"/>
          <p:cNvSpPr txBox="true"/>
          <p:nvPr/>
        </p:nvSpPr>
        <p:spPr>
          <a:xfrm rot="0">
            <a:off x="2783112" y="5051949"/>
            <a:ext cx="6439011" cy="142455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Dr</a:t>
            </a:r>
            <a:r>
              <a:rPr lang="en-US" sz="1800" spc="-100">
                <a:solidFill>
                  <a:srgbClr val="FFFFFF"/>
                </a:solidFill>
                <a:latin typeface="Garet"/>
                <a:ea typeface="Garet"/>
                <a:cs typeface="Garet"/>
                <a:sym typeface="Garet"/>
              </a:rPr>
              <a:t>op baris dengan nama_produk == "Akan Hadir" (placeholder)</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Drop baris pre-order kosong ("pre-order", "preorder")</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Pre-order dengan detail lengkap → diflag kolom is_preorder, lalu dipisah ke df_analisis</a:t>
            </a:r>
          </a:p>
        </p:txBody>
      </p:sp>
      <p:sp>
        <p:nvSpPr>
          <p:cNvPr name="TextBox 22" id="22"/>
          <p:cNvSpPr txBox="true"/>
          <p:nvPr/>
        </p:nvSpPr>
        <p:spPr>
          <a:xfrm rot="0">
            <a:off x="2841842" y="7902073"/>
            <a:ext cx="6380281" cy="142455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D</a:t>
            </a:r>
            <a:r>
              <a:rPr lang="en-US" sz="1800" spc="-100">
                <a:solidFill>
                  <a:srgbClr val="FFFFFF"/>
                </a:solidFill>
                <a:latin typeface="Garet"/>
                <a:ea typeface="Garet"/>
                <a:cs typeface="Garet"/>
                <a:sym typeface="Garet"/>
              </a:rPr>
              <a:t>rop baris yang nama_produk atau harga kosong (kolom kritis)</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kondisi yang kosong → diisi "Baru"</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lokasi_penjual yang kosong → diisi "Tidak Diketahui"</a:t>
            </a:r>
          </a:p>
          <a:p>
            <a:pPr algn="l">
              <a:lnSpc>
                <a:spcPts val="2268"/>
              </a:lnSpc>
              <a:spcBef>
                <a:spcPct val="0"/>
              </a:spcBef>
            </a:pPr>
          </a:p>
        </p:txBody>
      </p:sp>
      <p:sp>
        <p:nvSpPr>
          <p:cNvPr name="TextBox 23" id="23"/>
          <p:cNvSpPr txBox="true"/>
          <p:nvPr/>
        </p:nvSpPr>
        <p:spPr>
          <a:xfrm rot="0">
            <a:off x="1268142" y="2531379"/>
            <a:ext cx="8872428" cy="1017732"/>
          </a:xfrm>
          <a:prstGeom prst="rect">
            <a:avLst/>
          </a:prstGeom>
        </p:spPr>
        <p:txBody>
          <a:bodyPr anchor="t" rtlCol="false" tIns="0" lIns="0" bIns="0" rIns="0">
            <a:spAutoFit/>
          </a:bodyPr>
          <a:lstStyle/>
          <a:p>
            <a:pPr algn="l">
              <a:lnSpc>
                <a:spcPts val="8113"/>
              </a:lnSpc>
              <a:spcBef>
                <a:spcPct val="0"/>
              </a:spcBef>
            </a:pPr>
            <a:r>
              <a:rPr lang="en-US" b="true" sz="6439" spc="-360">
                <a:solidFill>
                  <a:srgbClr val="FFFFFF"/>
                </a:solidFill>
                <a:latin typeface="Open Sauce Bold"/>
                <a:ea typeface="Open Sauce Bold"/>
                <a:cs typeface="Open Sauce Bold"/>
                <a:sym typeface="Open Sauce Bold"/>
              </a:rPr>
              <a:t>PRE-PROCESSING</a:t>
            </a:r>
          </a:p>
        </p:txBody>
      </p:sp>
      <p:sp>
        <p:nvSpPr>
          <p:cNvPr name="TextBox 24" id="24"/>
          <p:cNvSpPr txBox="true"/>
          <p:nvPr/>
        </p:nvSpPr>
        <p:spPr>
          <a:xfrm rot="0">
            <a:off x="2841842" y="6903472"/>
            <a:ext cx="7118016" cy="855726"/>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Menghapus Duplikat dan menangani missing values</a:t>
            </a:r>
          </a:p>
        </p:txBody>
      </p:sp>
      <p:sp>
        <p:nvSpPr>
          <p:cNvPr name="TextBox 25" id="25"/>
          <p:cNvSpPr txBox="true"/>
          <p:nvPr/>
        </p:nvSpPr>
        <p:spPr>
          <a:xfrm rot="0">
            <a:off x="11169984" y="4483419"/>
            <a:ext cx="7118016" cy="427101"/>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Standarisasi tipe data &amp; format</a:t>
            </a:r>
          </a:p>
        </p:txBody>
      </p:sp>
      <p:sp>
        <p:nvSpPr>
          <p:cNvPr name="TextBox 26" id="26"/>
          <p:cNvSpPr txBox="true"/>
          <p:nvPr/>
        </p:nvSpPr>
        <p:spPr>
          <a:xfrm rot="0">
            <a:off x="11169984" y="5051949"/>
            <a:ext cx="6439011" cy="228180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harga:</a:t>
            </a:r>
            <a:r>
              <a:rPr lang="en-US" sz="1800" spc="-100">
                <a:solidFill>
                  <a:srgbClr val="FFFFFF"/>
                </a:solidFill>
                <a:latin typeface="Garet"/>
                <a:ea typeface="Garet"/>
                <a:cs typeface="Garet"/>
                <a:sym typeface="Garet"/>
              </a:rPr>
              <a:t> strip "Rp" &amp; karakter non-angka → konversi ke numerik, filter harga &lt; Rp100.000</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rating: ganti koma → titik, konversi ke numerik, nilai di luar 1–5 → NaN</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jumlah_terjual: parse format "10rb+" → integer</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brand, kategori, kondisi, platform: .strip().str.title() untuk konsistensi</a:t>
            </a:r>
          </a:p>
          <a:p>
            <a:pPr algn="l">
              <a:lnSpc>
                <a:spcPts val="2268"/>
              </a:lnSpc>
              <a:spcBef>
                <a:spcPct val="0"/>
              </a:spcBef>
            </a:pPr>
          </a:p>
        </p:txBody>
      </p:sp>
      <p:sp>
        <p:nvSpPr>
          <p:cNvPr name="TextBox 27" id="27"/>
          <p:cNvSpPr txBox="true"/>
          <p:nvPr/>
        </p:nvSpPr>
        <p:spPr>
          <a:xfrm rot="0">
            <a:off x="9410524" y="7374521"/>
            <a:ext cx="1460092"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04</a:t>
            </a:r>
          </a:p>
        </p:txBody>
      </p:sp>
      <p:sp>
        <p:nvSpPr>
          <p:cNvPr name="TextBox 28" id="28"/>
          <p:cNvSpPr txBox="true"/>
          <p:nvPr/>
        </p:nvSpPr>
        <p:spPr>
          <a:xfrm rot="0">
            <a:off x="11169984" y="7536123"/>
            <a:ext cx="7118016" cy="427101"/>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Fix typo &amp;  Inkonsistensi kategorikal</a:t>
            </a:r>
          </a:p>
        </p:txBody>
      </p:sp>
      <p:sp>
        <p:nvSpPr>
          <p:cNvPr name="TextBox 29" id="29"/>
          <p:cNvSpPr txBox="true"/>
          <p:nvPr/>
        </p:nvSpPr>
        <p:spPr>
          <a:xfrm rot="0">
            <a:off x="11169984" y="8172774"/>
            <a:ext cx="6380281" cy="113880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brand: "Iphone" / "iphone" → "Apple", alias sub-brand (Nubia, Redmagic → Zte)</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platform: "Bliblii" → "Blibli", "Baru" → NaN</a:t>
            </a:r>
          </a:p>
          <a:p>
            <a:pPr algn="l">
              <a:lnSpc>
                <a:spcPts val="2268"/>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2783112" y="4483419"/>
            <a:ext cx="7118016" cy="427101"/>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Validasi brand  dengan Fuzzy Matching</a:t>
            </a:r>
          </a:p>
        </p:txBody>
      </p:sp>
      <p:sp>
        <p:nvSpPr>
          <p:cNvPr name="TextBox 4" id="4"/>
          <p:cNvSpPr txBox="true"/>
          <p:nvPr/>
        </p:nvSpPr>
        <p:spPr>
          <a:xfrm rot="0">
            <a:off x="1268142" y="4269173"/>
            <a:ext cx="1573700"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05</a:t>
            </a:r>
          </a:p>
        </p:txBody>
      </p:sp>
      <p:sp>
        <p:nvSpPr>
          <p:cNvPr name="TextBox 5" id="5"/>
          <p:cNvSpPr txBox="true"/>
          <p:nvPr/>
        </p:nvSpPr>
        <p:spPr>
          <a:xfrm rot="0">
            <a:off x="9709892" y="4269173"/>
            <a:ext cx="1460092" cy="1244594"/>
          </a:xfrm>
          <a:prstGeom prst="rect">
            <a:avLst/>
          </a:prstGeom>
        </p:spPr>
        <p:txBody>
          <a:bodyPr anchor="t" rtlCol="false" tIns="0" lIns="0" bIns="0" rIns="0">
            <a:spAutoFit/>
          </a:bodyPr>
          <a:lstStyle/>
          <a:p>
            <a:pPr algn="l">
              <a:lnSpc>
                <a:spcPts val="9975"/>
              </a:lnSpc>
              <a:spcBef>
                <a:spcPct val="0"/>
              </a:spcBef>
            </a:pPr>
            <a:r>
              <a:rPr lang="en-US" b="true" sz="7917" spc="-443">
                <a:solidFill>
                  <a:srgbClr val="FFFFFF"/>
                </a:solidFill>
                <a:latin typeface="Open Sauce Bold"/>
                <a:ea typeface="Open Sauce Bold"/>
                <a:cs typeface="Open Sauce Bold"/>
                <a:sym typeface="Open Sauce Bold"/>
              </a:rPr>
              <a:t>06</a:t>
            </a:r>
          </a:p>
        </p:txBody>
      </p:sp>
      <p:sp>
        <p:nvSpPr>
          <p:cNvPr name="TextBox 6" id="6"/>
          <p:cNvSpPr txBox="true"/>
          <p:nvPr/>
        </p:nvSpPr>
        <p:spPr>
          <a:xfrm rot="0">
            <a:off x="2783112" y="5051949"/>
            <a:ext cx="6439011" cy="853059"/>
          </a:xfrm>
          <a:prstGeom prst="rect">
            <a:avLst/>
          </a:prstGeom>
        </p:spPr>
        <p:txBody>
          <a:bodyPr anchor="t" rtlCol="false" tIns="0" lIns="0" bIns="0" rIns="0">
            <a:spAutoFit/>
          </a:bodyPr>
          <a:lstStyle/>
          <a:p>
            <a:pPr algn="l">
              <a:lnSpc>
                <a:spcPts val="2268"/>
              </a:lnSpc>
              <a:spcBef>
                <a:spcPct val="0"/>
              </a:spcBef>
            </a:pPr>
            <a:r>
              <a:rPr lang="en-US" sz="1800" spc="-100">
                <a:solidFill>
                  <a:srgbClr val="FFFFFF"/>
                </a:solidFill>
                <a:latin typeface="Garet"/>
                <a:ea typeface="Garet"/>
                <a:cs typeface="Garet"/>
                <a:sym typeface="Garet"/>
              </a:rPr>
              <a:t>Gunakan ra</a:t>
            </a:r>
            <a:r>
              <a:rPr lang="en-US" sz="1800" spc="-100">
                <a:solidFill>
                  <a:srgbClr val="FFFFFF"/>
                </a:solidFill>
                <a:latin typeface="Garet"/>
                <a:ea typeface="Garet"/>
                <a:cs typeface="Garet"/>
                <a:sym typeface="Garet"/>
              </a:rPr>
              <a:t>pidfuzz — bandingkan brand vs nama_produk. Jika skor &lt; 70, ekstrak ulang brand dari nama produk berdasarkan known_brands.</a:t>
            </a:r>
          </a:p>
        </p:txBody>
      </p:sp>
      <p:grpSp>
        <p:nvGrpSpPr>
          <p:cNvPr name="Group 7" id="7"/>
          <p:cNvGrpSpPr/>
          <p:nvPr/>
        </p:nvGrpSpPr>
        <p:grpSpPr>
          <a:xfrm rot="0">
            <a:off x="1028700" y="337116"/>
            <a:ext cx="16386847" cy="1227065"/>
            <a:chOff x="0" y="0"/>
            <a:chExt cx="21849129" cy="1636087"/>
          </a:xfrm>
        </p:grpSpPr>
        <p:sp>
          <p:nvSpPr>
            <p:cNvPr name="Freeform 8" id="8"/>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9" id="9"/>
            <p:cNvGrpSpPr/>
            <p:nvPr/>
          </p:nvGrpSpPr>
          <p:grpSpPr>
            <a:xfrm rot="0">
              <a:off x="11378892" y="443664"/>
              <a:ext cx="3080976" cy="969444"/>
              <a:chOff x="0" y="0"/>
              <a:chExt cx="1291574" cy="406400"/>
            </a:xfrm>
          </p:grpSpPr>
          <p:sp>
            <p:nvSpPr>
              <p:cNvPr name="Freeform 10" id="10"/>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3" id="13"/>
            <p:cNvGrpSpPr/>
            <p:nvPr/>
          </p:nvGrpSpPr>
          <p:grpSpPr>
            <a:xfrm rot="0">
              <a:off x="16468734" y="443664"/>
              <a:ext cx="5380395" cy="969444"/>
              <a:chOff x="0" y="0"/>
              <a:chExt cx="2255512" cy="406400"/>
            </a:xfrm>
          </p:grpSpPr>
          <p:sp>
            <p:nvSpPr>
              <p:cNvPr name="Freeform 14" id="14"/>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5" id="15"/>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7" id="17"/>
            <p:cNvGrpSpPr/>
            <p:nvPr/>
          </p:nvGrpSpPr>
          <p:grpSpPr>
            <a:xfrm rot="0">
              <a:off x="14828167" y="283406"/>
              <a:ext cx="1277412" cy="127741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9" id="19"/>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0" id="20"/>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1" id="21"/>
          <p:cNvSpPr txBox="true"/>
          <p:nvPr/>
        </p:nvSpPr>
        <p:spPr>
          <a:xfrm rot="0">
            <a:off x="1268142" y="2531379"/>
            <a:ext cx="8872428" cy="1017732"/>
          </a:xfrm>
          <a:prstGeom prst="rect">
            <a:avLst/>
          </a:prstGeom>
        </p:spPr>
        <p:txBody>
          <a:bodyPr anchor="t" rtlCol="false" tIns="0" lIns="0" bIns="0" rIns="0">
            <a:spAutoFit/>
          </a:bodyPr>
          <a:lstStyle/>
          <a:p>
            <a:pPr algn="l">
              <a:lnSpc>
                <a:spcPts val="8113"/>
              </a:lnSpc>
              <a:spcBef>
                <a:spcPct val="0"/>
              </a:spcBef>
            </a:pPr>
            <a:r>
              <a:rPr lang="en-US" b="true" sz="6439" spc="-360">
                <a:solidFill>
                  <a:srgbClr val="FFFFFF"/>
                </a:solidFill>
                <a:latin typeface="Open Sauce Bold"/>
                <a:ea typeface="Open Sauce Bold"/>
                <a:cs typeface="Open Sauce Bold"/>
                <a:sym typeface="Open Sauce Bold"/>
              </a:rPr>
              <a:t>PRE-PROCESSING</a:t>
            </a:r>
          </a:p>
        </p:txBody>
      </p:sp>
      <p:sp>
        <p:nvSpPr>
          <p:cNvPr name="TextBox 22" id="22"/>
          <p:cNvSpPr txBox="true"/>
          <p:nvPr/>
        </p:nvSpPr>
        <p:spPr>
          <a:xfrm rot="0">
            <a:off x="11169984" y="4483419"/>
            <a:ext cx="7118016" cy="427101"/>
          </a:xfrm>
          <a:prstGeom prst="rect">
            <a:avLst/>
          </a:prstGeom>
        </p:spPr>
        <p:txBody>
          <a:bodyPr anchor="t" rtlCol="false" tIns="0" lIns="0" bIns="0" rIns="0">
            <a:spAutoFit/>
          </a:bodyPr>
          <a:lstStyle/>
          <a:p>
            <a:pPr algn="l">
              <a:lnSpc>
                <a:spcPts val="3401"/>
              </a:lnSpc>
              <a:spcBef>
                <a:spcPct val="0"/>
              </a:spcBef>
            </a:pPr>
            <a:r>
              <a:rPr lang="en-US" b="true" sz="2699" spc="-151">
                <a:solidFill>
                  <a:srgbClr val="FFFFFF"/>
                </a:solidFill>
                <a:latin typeface="Garet Bold"/>
                <a:ea typeface="Garet Bold"/>
                <a:cs typeface="Garet Bold"/>
                <a:sym typeface="Garet Bold"/>
              </a:rPr>
              <a:t>Drop produk di luar scope</a:t>
            </a:r>
          </a:p>
        </p:txBody>
      </p:sp>
      <p:sp>
        <p:nvSpPr>
          <p:cNvPr name="TextBox 23" id="23"/>
          <p:cNvSpPr txBox="true"/>
          <p:nvPr/>
        </p:nvSpPr>
        <p:spPr>
          <a:xfrm rot="0">
            <a:off x="11169984" y="5051949"/>
            <a:ext cx="6439011" cy="113880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Smar</a:t>
            </a:r>
            <a:r>
              <a:rPr lang="en-US" sz="1800" spc="-100">
                <a:solidFill>
                  <a:srgbClr val="FFFFFF"/>
                </a:solidFill>
                <a:latin typeface="Garet"/>
                <a:ea typeface="Garet"/>
                <a:cs typeface="Garet"/>
                <a:sym typeface="Garet"/>
              </a:rPr>
              <a:t>twatch yang masuk kategori HP/Laptop → di-drop</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Brand minor (Blackview, Doogee, Motorola) → di-drop karena data sangat sedikit</a:t>
            </a:r>
          </a:p>
          <a:p>
            <a:pPr algn="l">
              <a:lnSpc>
                <a:spcPts val="2268"/>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1028700" y="2357150"/>
            <a:ext cx="8872428" cy="1327106"/>
          </a:xfrm>
          <a:prstGeom prst="rect">
            <a:avLst/>
          </a:prstGeom>
        </p:spPr>
        <p:txBody>
          <a:bodyPr anchor="t" rtlCol="false" tIns="0" lIns="0" bIns="0" rIns="0">
            <a:spAutoFit/>
          </a:bodyPr>
          <a:lstStyle/>
          <a:p>
            <a:pPr algn="just">
              <a:lnSpc>
                <a:spcPts val="10507"/>
              </a:lnSpc>
              <a:spcBef>
                <a:spcPct val="0"/>
              </a:spcBef>
            </a:pPr>
            <a:r>
              <a:rPr lang="en-US" b="true" sz="8339" spc="-466">
                <a:solidFill>
                  <a:srgbClr val="FFFFFF"/>
                </a:solidFill>
                <a:latin typeface="Open Sauce Bold"/>
                <a:ea typeface="Open Sauce Bold"/>
                <a:cs typeface="Open Sauce Bold"/>
                <a:sym typeface="Open Sauce Bold"/>
              </a:rPr>
              <a:t>VOLUME</a:t>
            </a:r>
          </a:p>
        </p:txBody>
      </p:sp>
      <p:sp>
        <p:nvSpPr>
          <p:cNvPr name="AutoShape 4" id="4"/>
          <p:cNvSpPr/>
          <p:nvPr/>
        </p:nvSpPr>
        <p:spPr>
          <a:xfrm>
            <a:off x="1028700" y="9248775"/>
            <a:ext cx="16230600"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1155990" y="3967829"/>
            <a:ext cx="8221877" cy="1565529"/>
          </a:xfrm>
          <a:prstGeom prst="rect">
            <a:avLst/>
          </a:prstGeom>
        </p:spPr>
        <p:txBody>
          <a:bodyPr anchor="t" rtlCol="false" tIns="0" lIns="0" bIns="0" rIns="0">
            <a:spAutoFit/>
          </a:bodyPr>
          <a:lstStyle/>
          <a:p>
            <a:pPr algn="l">
              <a:lnSpc>
                <a:spcPts val="4157"/>
              </a:lnSpc>
            </a:pPr>
            <a:r>
              <a:rPr lang="en-US" sz="3299" spc="-184">
                <a:solidFill>
                  <a:srgbClr val="FFFFFF"/>
                </a:solidFill>
                <a:latin typeface="Garet"/>
                <a:ea typeface="Garet"/>
                <a:cs typeface="Garet"/>
                <a:sym typeface="Garet"/>
              </a:rPr>
              <a:t>Data Hasil Scraping: </a:t>
            </a:r>
            <a:r>
              <a:rPr lang="en-US" sz="3299" spc="-184" b="true">
                <a:solidFill>
                  <a:srgbClr val="FFFFFF"/>
                </a:solidFill>
                <a:latin typeface="Garet Bold"/>
                <a:ea typeface="Garet Bold"/>
                <a:cs typeface="Garet Bold"/>
                <a:sym typeface="Garet Bold"/>
              </a:rPr>
              <a:t>97.166</a:t>
            </a:r>
          </a:p>
          <a:p>
            <a:pPr algn="l">
              <a:lnSpc>
                <a:spcPts val="4157"/>
              </a:lnSpc>
            </a:pPr>
            <a:r>
              <a:rPr lang="en-US" sz="3299" spc="-184">
                <a:solidFill>
                  <a:srgbClr val="FFFFFF"/>
                </a:solidFill>
                <a:latin typeface="Garet"/>
                <a:ea typeface="Garet"/>
                <a:cs typeface="Garet"/>
                <a:sym typeface="Garet"/>
              </a:rPr>
              <a:t>Data setelah pre-proccesing </a:t>
            </a:r>
          </a:p>
          <a:p>
            <a:pPr algn="l">
              <a:lnSpc>
                <a:spcPts val="4157"/>
              </a:lnSpc>
              <a:spcBef>
                <a:spcPct val="0"/>
              </a:spcBef>
            </a:pPr>
            <a:r>
              <a:rPr lang="en-US" sz="3299" spc="-184">
                <a:solidFill>
                  <a:srgbClr val="FFFFFF"/>
                </a:solidFill>
                <a:latin typeface="Garet"/>
                <a:ea typeface="Garet"/>
                <a:cs typeface="Garet"/>
                <a:sym typeface="Garet"/>
              </a:rPr>
              <a:t>&amp; cleaning:</a:t>
            </a:r>
            <a:r>
              <a:rPr lang="en-US" b="true" sz="3299" spc="-184">
                <a:solidFill>
                  <a:srgbClr val="F4D820"/>
                </a:solidFill>
                <a:latin typeface="Garet Bold"/>
                <a:ea typeface="Garet Bold"/>
                <a:cs typeface="Garet Bold"/>
                <a:sym typeface="Garet Bold"/>
              </a:rPr>
              <a:t> 34.654</a:t>
            </a:r>
          </a:p>
        </p:txBody>
      </p:sp>
      <p:sp>
        <p:nvSpPr>
          <p:cNvPr name="TextBox 6" id="6"/>
          <p:cNvSpPr txBox="true"/>
          <p:nvPr/>
        </p:nvSpPr>
        <p:spPr>
          <a:xfrm rot="0">
            <a:off x="1028700" y="5819109"/>
            <a:ext cx="6620126" cy="3275838"/>
          </a:xfrm>
          <a:prstGeom prst="rect">
            <a:avLst/>
          </a:prstGeom>
        </p:spPr>
        <p:txBody>
          <a:bodyPr anchor="t" rtlCol="false" tIns="0" lIns="0" bIns="0" rIns="0">
            <a:spAutoFit/>
          </a:bodyPr>
          <a:lstStyle/>
          <a:p>
            <a:pPr algn="l" marL="561336" indent="-280668" lvl="1">
              <a:lnSpc>
                <a:spcPts val="3275"/>
              </a:lnSpc>
              <a:spcBef>
                <a:spcPct val="0"/>
              </a:spcBef>
              <a:buFont typeface="Arial"/>
              <a:buChar char="•"/>
            </a:pPr>
            <a:r>
              <a:rPr lang="en-US" sz="2599" spc="-145">
                <a:solidFill>
                  <a:srgbClr val="FFFFFF"/>
                </a:solidFill>
                <a:latin typeface="Garet"/>
                <a:ea typeface="Garet"/>
                <a:cs typeface="Garet"/>
                <a:sym typeface="Garet"/>
              </a:rPr>
              <a:t>Dist</a:t>
            </a:r>
            <a:r>
              <a:rPr lang="en-US" sz="2599" spc="-145">
                <a:solidFill>
                  <a:srgbClr val="FFFFFF"/>
                </a:solidFill>
                <a:latin typeface="Garet"/>
                <a:ea typeface="Garet"/>
                <a:cs typeface="Garet"/>
                <a:sym typeface="Garet"/>
              </a:rPr>
              <a:t>ribusi data antar platform relatif seimbang (sekitar 33% per platform).</a:t>
            </a:r>
          </a:p>
          <a:p>
            <a:pPr algn="l" marL="561336" indent="-280668" lvl="1">
              <a:lnSpc>
                <a:spcPts val="3275"/>
              </a:lnSpc>
              <a:spcBef>
                <a:spcPct val="0"/>
              </a:spcBef>
              <a:buFont typeface="Arial"/>
              <a:buChar char="•"/>
            </a:pPr>
            <a:r>
              <a:rPr lang="en-US" sz="2599" spc="-145">
                <a:solidFill>
                  <a:srgbClr val="FFFFFF"/>
                </a:solidFill>
                <a:latin typeface="Garet"/>
                <a:ea typeface="Garet"/>
                <a:cs typeface="Garet"/>
                <a:sym typeface="Garet"/>
              </a:rPr>
              <a:t>Tidak terdapat dominasi jumlah data dari satu platform tertentu sehingga hasil analisis lebih representatif dan tidak bias terhadap marketplace tertentu.</a:t>
            </a:r>
          </a:p>
          <a:p>
            <a:pPr algn="l">
              <a:lnSpc>
                <a:spcPts val="3275"/>
              </a:lnSpc>
              <a:spcBef>
                <a:spcPct val="0"/>
              </a:spcBef>
            </a:pPr>
          </a:p>
        </p:txBody>
      </p:sp>
      <p:pic>
        <p:nvPicPr>
          <p:cNvPr name="Picture 7" id="7"/>
          <p:cNvPicPr>
            <a:picLocks noChangeAspect="true"/>
          </p:cNvPicPr>
          <p:nvPr/>
        </p:nvPicPr>
        <p:blipFill>
          <a:blip r:embed="rId3"/>
          <a:stretch>
            <a:fillRect/>
          </a:stretch>
        </p:blipFill>
        <p:spPr>
          <a:xfrm rot="0">
            <a:off x="8264017" y="1728304"/>
            <a:ext cx="8231958" cy="8215993"/>
          </a:xfrm>
          <a:prstGeom prst="rect">
            <a:avLst/>
          </a:prstGeom>
        </p:spPr>
      </p:pic>
      <p:grpSp>
        <p:nvGrpSpPr>
          <p:cNvPr name="Group 8" id="8"/>
          <p:cNvGrpSpPr/>
          <p:nvPr/>
        </p:nvGrpSpPr>
        <p:grpSpPr>
          <a:xfrm rot="0">
            <a:off x="1028700" y="337116"/>
            <a:ext cx="16386847" cy="1227065"/>
            <a:chOff x="0" y="0"/>
            <a:chExt cx="21849129" cy="1636087"/>
          </a:xfrm>
        </p:grpSpPr>
        <p:sp>
          <p:nvSpPr>
            <p:cNvPr name="Freeform 9" id="9"/>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0" id="10"/>
            <p:cNvGrpSpPr/>
            <p:nvPr/>
          </p:nvGrpSpPr>
          <p:grpSpPr>
            <a:xfrm rot="0">
              <a:off x="11378892" y="443664"/>
              <a:ext cx="3080976" cy="969444"/>
              <a:chOff x="0" y="0"/>
              <a:chExt cx="1291574" cy="406400"/>
            </a:xfrm>
          </p:grpSpPr>
          <p:sp>
            <p:nvSpPr>
              <p:cNvPr name="Freeform 11" id="11"/>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2" id="12"/>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4" id="14"/>
            <p:cNvGrpSpPr/>
            <p:nvPr/>
          </p:nvGrpSpPr>
          <p:grpSpPr>
            <a:xfrm rot="0">
              <a:off x="16468734" y="443664"/>
              <a:ext cx="5380395" cy="969444"/>
              <a:chOff x="0" y="0"/>
              <a:chExt cx="2255512" cy="406400"/>
            </a:xfrm>
          </p:grpSpPr>
          <p:sp>
            <p:nvSpPr>
              <p:cNvPr name="Freeform 15" id="15"/>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6" id="16"/>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8" id="18"/>
            <p:cNvGrpSpPr/>
            <p:nvPr/>
          </p:nvGrpSpPr>
          <p:grpSpPr>
            <a:xfrm rot="0">
              <a:off x="14828167" y="283406"/>
              <a:ext cx="1277412" cy="127741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0" id="20"/>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1" id="21"/>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a:off x="1028700" y="9248775"/>
            <a:ext cx="16230600" cy="0"/>
          </a:xfrm>
          <a:prstGeom prst="line">
            <a:avLst/>
          </a:prstGeom>
          <a:ln cap="flat" w="19050">
            <a:solidFill>
              <a:srgbClr val="FFFFFF"/>
            </a:solidFill>
            <a:prstDash val="solid"/>
            <a:headEnd type="none" len="sm" w="sm"/>
            <a:tailEnd type="none" len="sm" w="sm"/>
          </a:ln>
        </p:spPr>
      </p:sp>
      <p:grpSp>
        <p:nvGrpSpPr>
          <p:cNvPr name="Group 4" id="4"/>
          <p:cNvGrpSpPr/>
          <p:nvPr/>
        </p:nvGrpSpPr>
        <p:grpSpPr>
          <a:xfrm rot="0">
            <a:off x="1293677" y="2584711"/>
            <a:ext cx="5881448" cy="3901857"/>
            <a:chOff x="0" y="0"/>
            <a:chExt cx="633485" cy="420265"/>
          </a:xfrm>
        </p:grpSpPr>
        <p:sp>
          <p:nvSpPr>
            <p:cNvPr name="Freeform 5" id="5"/>
            <p:cNvSpPr/>
            <p:nvPr/>
          </p:nvSpPr>
          <p:spPr>
            <a:xfrm flipH="false" flipV="false" rot="0">
              <a:off x="0" y="0"/>
              <a:ext cx="633485" cy="420265"/>
            </a:xfrm>
            <a:custGeom>
              <a:avLst/>
              <a:gdLst/>
              <a:ahLst/>
              <a:cxnLst/>
              <a:rect r="r" b="b" t="t" l="l"/>
              <a:pathLst>
                <a:path h="420265" w="633485">
                  <a:moveTo>
                    <a:pt x="0" y="0"/>
                  </a:moveTo>
                  <a:lnTo>
                    <a:pt x="633485" y="0"/>
                  </a:lnTo>
                  <a:lnTo>
                    <a:pt x="633485" y="420265"/>
                  </a:lnTo>
                  <a:lnTo>
                    <a:pt x="0" y="420265"/>
                  </a:lnTo>
                  <a:close/>
                </a:path>
              </a:pathLst>
            </a:custGeom>
            <a:blipFill>
              <a:blip r:embed="rId3"/>
              <a:stretch>
                <a:fillRect l="0" t="-78970" r="0" b="-89001"/>
              </a:stretch>
            </a:blipFill>
          </p:spPr>
        </p:sp>
      </p:grpSp>
      <p:grpSp>
        <p:nvGrpSpPr>
          <p:cNvPr name="Group 6" id="6"/>
          <p:cNvGrpSpPr/>
          <p:nvPr/>
        </p:nvGrpSpPr>
        <p:grpSpPr>
          <a:xfrm rot="0">
            <a:off x="1293677" y="6877093"/>
            <a:ext cx="5881448" cy="1968041"/>
            <a:chOff x="0" y="0"/>
            <a:chExt cx="727969" cy="243592"/>
          </a:xfrm>
        </p:grpSpPr>
        <p:sp>
          <p:nvSpPr>
            <p:cNvPr name="Freeform 7" id="7"/>
            <p:cNvSpPr/>
            <p:nvPr/>
          </p:nvSpPr>
          <p:spPr>
            <a:xfrm flipH="false" flipV="false" rot="0">
              <a:off x="0" y="0"/>
              <a:ext cx="727969" cy="243592"/>
            </a:xfrm>
            <a:custGeom>
              <a:avLst/>
              <a:gdLst/>
              <a:ahLst/>
              <a:cxnLst/>
              <a:rect r="r" b="b" t="t" l="l"/>
              <a:pathLst>
                <a:path h="243592" w="727969">
                  <a:moveTo>
                    <a:pt x="0" y="0"/>
                  </a:moveTo>
                  <a:lnTo>
                    <a:pt x="727969" y="0"/>
                  </a:lnTo>
                  <a:lnTo>
                    <a:pt x="727969" y="243592"/>
                  </a:lnTo>
                  <a:lnTo>
                    <a:pt x="0" y="243592"/>
                  </a:lnTo>
                  <a:close/>
                </a:path>
              </a:pathLst>
            </a:custGeom>
            <a:blipFill>
              <a:blip r:embed="rId4"/>
              <a:stretch>
                <a:fillRect l="0" t="-35385" r="0" b="-35385"/>
              </a:stretch>
            </a:blipFill>
          </p:spPr>
        </p:sp>
      </p:grpSp>
      <p:sp>
        <p:nvSpPr>
          <p:cNvPr name="TextBox 8" id="8"/>
          <p:cNvSpPr txBox="true"/>
          <p:nvPr/>
        </p:nvSpPr>
        <p:spPr>
          <a:xfrm rot="0">
            <a:off x="7848422" y="2160254"/>
            <a:ext cx="8872428" cy="1327106"/>
          </a:xfrm>
          <a:prstGeom prst="rect">
            <a:avLst/>
          </a:prstGeom>
        </p:spPr>
        <p:txBody>
          <a:bodyPr anchor="t" rtlCol="false" tIns="0" lIns="0" bIns="0" rIns="0">
            <a:spAutoFit/>
          </a:bodyPr>
          <a:lstStyle/>
          <a:p>
            <a:pPr algn="r">
              <a:lnSpc>
                <a:spcPts val="10507"/>
              </a:lnSpc>
              <a:spcBef>
                <a:spcPct val="0"/>
              </a:spcBef>
            </a:pPr>
            <a:r>
              <a:rPr lang="en-US" b="true" sz="8339" spc="-466">
                <a:solidFill>
                  <a:srgbClr val="FFFFFF"/>
                </a:solidFill>
                <a:latin typeface="Open Sauce Bold"/>
                <a:ea typeface="Open Sauce Bold"/>
                <a:cs typeface="Open Sauce Bold"/>
                <a:sym typeface="Open Sauce Bold"/>
              </a:rPr>
              <a:t>VARIETY</a:t>
            </a:r>
          </a:p>
        </p:txBody>
      </p:sp>
      <p:sp>
        <p:nvSpPr>
          <p:cNvPr name="TextBox 9" id="9"/>
          <p:cNvSpPr txBox="true"/>
          <p:nvPr/>
        </p:nvSpPr>
        <p:spPr>
          <a:xfrm rot="0">
            <a:off x="8874775" y="4182685"/>
            <a:ext cx="7846075" cy="4528566"/>
          </a:xfrm>
          <a:prstGeom prst="rect">
            <a:avLst/>
          </a:prstGeom>
        </p:spPr>
        <p:txBody>
          <a:bodyPr anchor="t" rtlCol="false" tIns="0" lIns="0" bIns="0" rIns="0">
            <a:spAutoFit/>
          </a:bodyPr>
          <a:lstStyle/>
          <a:p>
            <a:pPr algn="l">
              <a:lnSpc>
                <a:spcPts val="4031"/>
              </a:lnSpc>
              <a:spcBef>
                <a:spcPct val="0"/>
              </a:spcBef>
            </a:pPr>
            <a:r>
              <a:rPr lang="en-US" sz="3199" spc="-179">
                <a:solidFill>
                  <a:srgbClr val="FFFFFF"/>
                </a:solidFill>
                <a:latin typeface="Garet"/>
                <a:ea typeface="Garet"/>
                <a:cs typeface="Garet"/>
                <a:sym typeface="Garet"/>
              </a:rPr>
              <a:t>D</a:t>
            </a:r>
            <a:r>
              <a:rPr lang="en-US" sz="3199" spc="-179">
                <a:solidFill>
                  <a:srgbClr val="FFFFFF"/>
                </a:solidFill>
                <a:latin typeface="Garet"/>
                <a:ea typeface="Garet"/>
                <a:cs typeface="Garet"/>
                <a:sym typeface="Garet"/>
              </a:rPr>
              <a:t>ataset memiliki variasi tipe data yang beragam, antara lain:</a:t>
            </a:r>
          </a:p>
          <a:p>
            <a:pPr algn="l" marL="690872" indent="-345436" lvl="1">
              <a:lnSpc>
                <a:spcPts val="4031"/>
              </a:lnSpc>
              <a:spcBef>
                <a:spcPct val="0"/>
              </a:spcBef>
              <a:buFont typeface="Arial"/>
              <a:buChar char="•"/>
            </a:pPr>
            <a:r>
              <a:rPr lang="en-US" sz="3199" spc="-179">
                <a:solidFill>
                  <a:srgbClr val="FFFFFF"/>
                </a:solidFill>
                <a:latin typeface="Garet"/>
                <a:ea typeface="Garet"/>
                <a:cs typeface="Garet"/>
                <a:sym typeface="Garet"/>
              </a:rPr>
              <a:t>Data teks (nama produk, brand, penjual)</a:t>
            </a:r>
          </a:p>
          <a:p>
            <a:pPr algn="l" marL="690872" indent="-345436" lvl="1">
              <a:lnSpc>
                <a:spcPts val="4031"/>
              </a:lnSpc>
              <a:spcBef>
                <a:spcPct val="0"/>
              </a:spcBef>
              <a:buFont typeface="Arial"/>
              <a:buChar char="•"/>
            </a:pPr>
            <a:r>
              <a:rPr lang="en-US" sz="3199" spc="-179">
                <a:solidFill>
                  <a:srgbClr val="FFFFFF"/>
                </a:solidFill>
                <a:latin typeface="Garet"/>
                <a:ea typeface="Garet"/>
                <a:cs typeface="Garet"/>
                <a:sym typeface="Garet"/>
              </a:rPr>
              <a:t>Data numerik (harga, rating, jumlah ulasan, jumlah terjual)</a:t>
            </a:r>
          </a:p>
          <a:p>
            <a:pPr algn="l" marL="690872" indent="-345436" lvl="1">
              <a:lnSpc>
                <a:spcPts val="4031"/>
              </a:lnSpc>
              <a:spcBef>
                <a:spcPct val="0"/>
              </a:spcBef>
              <a:buFont typeface="Arial"/>
              <a:buChar char="•"/>
            </a:pPr>
            <a:r>
              <a:rPr lang="en-US" sz="3199" spc="-179">
                <a:solidFill>
                  <a:srgbClr val="FFFFFF"/>
                </a:solidFill>
                <a:latin typeface="Garet"/>
                <a:ea typeface="Garet"/>
                <a:cs typeface="Garet"/>
                <a:sym typeface="Garet"/>
              </a:rPr>
              <a:t>Data kategorikal (kategori produk, kondisi, dan platform)</a:t>
            </a:r>
          </a:p>
          <a:p>
            <a:pPr algn="l">
              <a:lnSpc>
                <a:spcPts val="4031"/>
              </a:lnSpc>
              <a:spcBef>
                <a:spcPct val="0"/>
              </a:spcBef>
            </a:pPr>
          </a:p>
        </p:txBody>
      </p:sp>
      <p:grpSp>
        <p:nvGrpSpPr>
          <p:cNvPr name="Group 10" id="10"/>
          <p:cNvGrpSpPr/>
          <p:nvPr/>
        </p:nvGrpSpPr>
        <p:grpSpPr>
          <a:xfrm rot="0">
            <a:off x="1028700" y="337116"/>
            <a:ext cx="16386847" cy="1227065"/>
            <a:chOff x="0" y="0"/>
            <a:chExt cx="21849129" cy="1636087"/>
          </a:xfrm>
        </p:grpSpPr>
        <p:sp>
          <p:nvSpPr>
            <p:cNvPr name="Freeform 11" id="11"/>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5"/>
              <a:stretch>
                <a:fillRect l="-2838" t="-22494" r="-26999" b="-4205"/>
              </a:stretch>
            </a:blipFill>
          </p:spPr>
        </p:sp>
        <p:grpSp>
          <p:nvGrpSpPr>
            <p:cNvPr name="Group 12" id="12"/>
            <p:cNvGrpSpPr/>
            <p:nvPr/>
          </p:nvGrpSpPr>
          <p:grpSpPr>
            <a:xfrm rot="0">
              <a:off x="11378892" y="443664"/>
              <a:ext cx="3080976" cy="969444"/>
              <a:chOff x="0" y="0"/>
              <a:chExt cx="1291574" cy="406400"/>
            </a:xfrm>
          </p:grpSpPr>
          <p:sp>
            <p:nvSpPr>
              <p:cNvPr name="Freeform 13" id="13"/>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4" id="14"/>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6" id="16"/>
            <p:cNvGrpSpPr/>
            <p:nvPr/>
          </p:nvGrpSpPr>
          <p:grpSpPr>
            <a:xfrm rot="0">
              <a:off x="16468734" y="443664"/>
              <a:ext cx="5380395" cy="969444"/>
              <a:chOff x="0" y="0"/>
              <a:chExt cx="2255512" cy="406400"/>
            </a:xfrm>
          </p:grpSpPr>
          <p:sp>
            <p:nvSpPr>
              <p:cNvPr name="Freeform 17" id="17"/>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8" id="18"/>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0" id="20"/>
            <p:cNvGrpSpPr/>
            <p:nvPr/>
          </p:nvGrpSpPr>
          <p:grpSpPr>
            <a:xfrm rot="0">
              <a:off x="14828167" y="283406"/>
              <a:ext cx="1277412" cy="127741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2" id="22"/>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3" id="23"/>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flipV="true">
            <a:off x="1028700" y="9248775"/>
            <a:ext cx="16230600" cy="9525"/>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8823100" y="4172828"/>
            <a:ext cx="8694505" cy="4317354"/>
          </a:xfrm>
          <a:custGeom>
            <a:avLst/>
            <a:gdLst/>
            <a:ahLst/>
            <a:cxnLst/>
            <a:rect r="r" b="b" t="t" l="l"/>
            <a:pathLst>
              <a:path h="4317354" w="8694505">
                <a:moveTo>
                  <a:pt x="0" y="0"/>
                </a:moveTo>
                <a:lnTo>
                  <a:pt x="8694505" y="0"/>
                </a:lnTo>
                <a:lnTo>
                  <a:pt x="8694505" y="4317354"/>
                </a:lnTo>
                <a:lnTo>
                  <a:pt x="0" y="4317354"/>
                </a:lnTo>
                <a:lnTo>
                  <a:pt x="0" y="0"/>
                </a:lnTo>
                <a:close/>
              </a:path>
            </a:pathLst>
          </a:custGeom>
          <a:blipFill>
            <a:blip r:embed="rId3"/>
            <a:stretch>
              <a:fillRect l="0" t="0" r="0" b="0"/>
            </a:stretch>
          </a:blipFill>
        </p:spPr>
      </p:sp>
      <p:sp>
        <p:nvSpPr>
          <p:cNvPr name="TextBox 5" id="5"/>
          <p:cNvSpPr txBox="true"/>
          <p:nvPr/>
        </p:nvSpPr>
        <p:spPr>
          <a:xfrm rot="0">
            <a:off x="1028700" y="4153778"/>
            <a:ext cx="7095124" cy="4474464"/>
          </a:xfrm>
          <a:prstGeom prst="rect">
            <a:avLst/>
          </a:prstGeom>
        </p:spPr>
        <p:txBody>
          <a:bodyPr anchor="t" rtlCol="false" tIns="0" lIns="0" bIns="0" rIns="0">
            <a:spAutoFit/>
          </a:bodyPr>
          <a:lstStyle/>
          <a:p>
            <a:pPr algn="l">
              <a:lnSpc>
                <a:spcPts val="3527"/>
              </a:lnSpc>
              <a:spcBef>
                <a:spcPct val="0"/>
              </a:spcBef>
            </a:pPr>
            <a:r>
              <a:rPr lang="en-US" sz="2799" spc="-156">
                <a:solidFill>
                  <a:srgbClr val="FFFFFF"/>
                </a:solidFill>
                <a:latin typeface="Garet"/>
                <a:ea typeface="Garet"/>
                <a:cs typeface="Garet"/>
                <a:sym typeface="Garet"/>
              </a:rPr>
              <a:t>S</a:t>
            </a:r>
            <a:r>
              <a:rPr lang="en-US" sz="2799" spc="-156">
                <a:solidFill>
                  <a:srgbClr val="FFFFFF"/>
                </a:solidFill>
                <a:latin typeface="Garet"/>
                <a:ea typeface="Garet"/>
                <a:cs typeface="Garet"/>
                <a:sym typeface="Garet"/>
              </a:rPr>
              <a:t>ecara konseptual, dataset memiliki </a:t>
            </a:r>
            <a:r>
              <a:rPr lang="en-US" b="true" sz="2799" spc="-156">
                <a:solidFill>
                  <a:srgbClr val="F4D820"/>
                </a:solidFill>
                <a:latin typeface="Garet Bold"/>
                <a:ea typeface="Garet Bold"/>
                <a:cs typeface="Garet Bold"/>
                <a:sym typeface="Garet Bold"/>
              </a:rPr>
              <a:t>velocity tinggi</a:t>
            </a:r>
            <a:r>
              <a:rPr lang="en-US" b="true" sz="2799" spc="-156">
                <a:solidFill>
                  <a:srgbClr val="FFFFFF"/>
                </a:solidFill>
                <a:latin typeface="Garet Bold"/>
                <a:ea typeface="Garet Bold"/>
                <a:cs typeface="Garet Bold"/>
                <a:sym typeface="Garet Bold"/>
              </a:rPr>
              <a:t> </a:t>
            </a:r>
            <a:r>
              <a:rPr lang="en-US" sz="2799" spc="-156">
                <a:solidFill>
                  <a:srgbClr val="FFFFFF"/>
                </a:solidFill>
                <a:latin typeface="Garet"/>
                <a:ea typeface="Garet"/>
                <a:cs typeface="Garet"/>
                <a:sym typeface="Garet"/>
              </a:rPr>
              <a:t>karena harga, stok, dan jumlah terjual berubah cepat akibat promo dan dinamika permintaan. Velocity juga tercermin dari seberapa laku suatu produk, diukur melalui j</a:t>
            </a:r>
            <a:r>
              <a:rPr lang="en-US" sz="2799" spc="-156">
                <a:solidFill>
                  <a:srgbClr val="F4D820"/>
                </a:solidFill>
                <a:latin typeface="Garet"/>
                <a:ea typeface="Garet"/>
                <a:cs typeface="Garet"/>
                <a:sym typeface="Garet"/>
              </a:rPr>
              <a:t>umlah_terjual</a:t>
            </a:r>
            <a:r>
              <a:rPr lang="en-US" sz="2799" spc="-156">
                <a:solidFill>
                  <a:srgbClr val="FFFFFF"/>
                </a:solidFill>
                <a:latin typeface="Garet"/>
                <a:ea typeface="Garet"/>
                <a:cs typeface="Garet"/>
                <a:sym typeface="Garet"/>
              </a:rPr>
              <a:t> dan </a:t>
            </a:r>
            <a:r>
              <a:rPr lang="en-US" sz="2799" spc="-156">
                <a:solidFill>
                  <a:srgbClr val="F4D820"/>
                </a:solidFill>
                <a:latin typeface="Garet"/>
                <a:ea typeface="Garet"/>
                <a:cs typeface="Garet"/>
                <a:sym typeface="Garet"/>
              </a:rPr>
              <a:t>estimasi revenue</a:t>
            </a:r>
            <a:r>
              <a:rPr lang="en-US" sz="2799" spc="-156">
                <a:solidFill>
                  <a:srgbClr val="FFFFFF"/>
                </a:solidFill>
                <a:latin typeface="Garet"/>
                <a:ea typeface="Garet"/>
                <a:cs typeface="Garet"/>
                <a:sym typeface="Garet"/>
              </a:rPr>
              <a:t> (harga × jumlah_terjual). Penambahan snapshot di waktu berbeda memungkinkan analisis perubahan harga dan penjualan dari waktu ke waktu.</a:t>
            </a:r>
          </a:p>
        </p:txBody>
      </p:sp>
      <p:sp>
        <p:nvSpPr>
          <p:cNvPr name="TextBox 6" id="6"/>
          <p:cNvSpPr txBox="true"/>
          <p:nvPr/>
        </p:nvSpPr>
        <p:spPr>
          <a:xfrm rot="0">
            <a:off x="1028700" y="2226597"/>
            <a:ext cx="6130319"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VELOCITY</a:t>
            </a:r>
          </a:p>
        </p:txBody>
      </p:sp>
      <p:grpSp>
        <p:nvGrpSpPr>
          <p:cNvPr name="Group 7" id="7"/>
          <p:cNvGrpSpPr/>
          <p:nvPr/>
        </p:nvGrpSpPr>
        <p:grpSpPr>
          <a:xfrm rot="0">
            <a:off x="1028700" y="337116"/>
            <a:ext cx="16386847" cy="1227065"/>
            <a:chOff x="0" y="0"/>
            <a:chExt cx="21849129" cy="1636087"/>
          </a:xfrm>
        </p:grpSpPr>
        <p:sp>
          <p:nvSpPr>
            <p:cNvPr name="Freeform 8" id="8"/>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9" id="9"/>
            <p:cNvGrpSpPr/>
            <p:nvPr/>
          </p:nvGrpSpPr>
          <p:grpSpPr>
            <a:xfrm rot="0">
              <a:off x="11378892" y="443664"/>
              <a:ext cx="3080976" cy="969444"/>
              <a:chOff x="0" y="0"/>
              <a:chExt cx="1291574" cy="406400"/>
            </a:xfrm>
          </p:grpSpPr>
          <p:sp>
            <p:nvSpPr>
              <p:cNvPr name="Freeform 10" id="10"/>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3" id="13"/>
            <p:cNvGrpSpPr/>
            <p:nvPr/>
          </p:nvGrpSpPr>
          <p:grpSpPr>
            <a:xfrm rot="0">
              <a:off x="16468734" y="443664"/>
              <a:ext cx="5380395" cy="969444"/>
              <a:chOff x="0" y="0"/>
              <a:chExt cx="2255512" cy="406400"/>
            </a:xfrm>
          </p:grpSpPr>
          <p:sp>
            <p:nvSpPr>
              <p:cNvPr name="Freeform 14" id="14"/>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5" id="15"/>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7" id="17"/>
            <p:cNvGrpSpPr/>
            <p:nvPr/>
          </p:nvGrpSpPr>
          <p:grpSpPr>
            <a:xfrm rot="0">
              <a:off x="14828167" y="283406"/>
              <a:ext cx="1277412" cy="127741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9" id="19"/>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0" id="20"/>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aphicFrame>
        <p:nvGraphicFramePr>
          <p:cNvPr name="Table 3" id="3"/>
          <p:cNvGraphicFramePr>
            <a:graphicFrameLocks noGrp="true"/>
          </p:cNvGraphicFramePr>
          <p:nvPr/>
        </p:nvGraphicFramePr>
        <p:xfrm>
          <a:off x="9222123" y="1997505"/>
          <a:ext cx="7315200" cy="7772400"/>
        </p:xfrm>
        <a:graphic>
          <a:graphicData uri="http://schemas.openxmlformats.org/drawingml/2006/table">
            <a:tbl>
              <a:tblPr/>
              <a:tblGrid>
                <a:gridCol w="2438400"/>
                <a:gridCol w="2438400"/>
                <a:gridCol w="2438400"/>
              </a:tblGrid>
              <a:tr h="775326">
                <a:tc>
                  <a:txBody>
                    <a:bodyPr anchor="t" rtlCol="false"/>
                    <a:lstStyle/>
                    <a:p>
                      <a:pPr algn="ctr">
                        <a:lnSpc>
                          <a:spcPts val="2659"/>
                        </a:lnSpc>
                        <a:defRPr/>
                      </a:pPr>
                      <a:r>
                        <a:rPr lang="en-US" b="true" sz="1899">
                          <a:solidFill>
                            <a:srgbClr val="000000"/>
                          </a:solidFill>
                          <a:latin typeface="Canva Sans Bold"/>
                          <a:ea typeface="Canva Sans Bold"/>
                          <a:cs typeface="Canva Sans Bold"/>
                          <a:sym typeface="Canva Sans Bold"/>
                        </a:rPr>
                        <a:t>Kondisi</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4D820"/>
                    </a:solidFill>
                  </a:tcPr>
                </a:tc>
                <a:tc>
                  <a:txBody>
                    <a:bodyPr anchor="t" rtlCol="false"/>
                    <a:lstStyle/>
                    <a:p>
                      <a:pPr algn="ctr">
                        <a:lnSpc>
                          <a:spcPts val="2659"/>
                        </a:lnSpc>
                        <a:defRPr/>
                      </a:pPr>
                      <a:r>
                        <a:rPr lang="en-US" b="true" sz="1899">
                          <a:solidFill>
                            <a:srgbClr val="000000"/>
                          </a:solidFill>
                          <a:latin typeface="Canva Sans Bold"/>
                          <a:ea typeface="Canva Sans Bold"/>
                          <a:cs typeface="Canva Sans Bold"/>
                          <a:sym typeface="Canva Sans Bold"/>
                        </a:rPr>
                        <a:t>Sebelum</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4D820"/>
                    </a:solidFill>
                  </a:tcPr>
                </a:tc>
                <a:tc>
                  <a:txBody>
                    <a:bodyPr anchor="t" rtlCol="false"/>
                    <a:lstStyle/>
                    <a:p>
                      <a:pPr algn="ctr">
                        <a:lnSpc>
                          <a:spcPts val="2659"/>
                        </a:lnSpc>
                        <a:defRPr/>
                      </a:pPr>
                      <a:r>
                        <a:rPr lang="en-US" b="true" sz="1899">
                          <a:solidFill>
                            <a:srgbClr val="000000"/>
                          </a:solidFill>
                          <a:latin typeface="Canva Sans Bold"/>
                          <a:ea typeface="Canva Sans Bold"/>
                          <a:cs typeface="Canva Sans Bold"/>
                          <a:sym typeface="Canva Sans Bold"/>
                        </a:rPr>
                        <a:t>Sesudah</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F4D820"/>
                    </a:solidFill>
                  </a:tcPr>
                </a:tc>
              </a:tr>
              <a:tr h="775326">
                <a:tc>
                  <a:txBody>
                    <a:bodyPr anchor="t" rtlCol="false"/>
                    <a:lstStyle/>
                    <a:p>
                      <a:pPr algn="ctr">
                        <a:lnSpc>
                          <a:spcPts val="2659"/>
                        </a:lnSpc>
                        <a:defRPr/>
                      </a:pPr>
                      <a:r>
                        <a:rPr lang="en-US" sz="1899">
                          <a:solidFill>
                            <a:srgbClr val="FFFFFF"/>
                          </a:solidFill>
                          <a:latin typeface="Canva Sans"/>
                          <a:ea typeface="Canva Sans"/>
                          <a:cs typeface="Canva Sans"/>
                          <a:sym typeface="Canva Sans"/>
                        </a:rPr>
                        <a:t>Total Baris</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97.166</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35.450</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5326">
                <a:tc>
                  <a:txBody>
                    <a:bodyPr anchor="t" rtlCol="false"/>
                    <a:lstStyle/>
                    <a:p>
                      <a:pPr algn="ctr">
                        <a:lnSpc>
                          <a:spcPts val="2659"/>
                        </a:lnSpc>
                        <a:defRPr/>
                      </a:pPr>
                      <a:r>
                        <a:rPr lang="en-US" sz="1899">
                          <a:solidFill>
                            <a:srgbClr val="FFFFFF"/>
                          </a:solidFill>
                          <a:latin typeface="Canva Sans"/>
                          <a:ea typeface="Canva Sans"/>
                          <a:cs typeface="Canva Sans"/>
                          <a:sym typeface="Canva Sans"/>
                        </a:rPr>
                        <a:t>Duplikat</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60.437</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36.084</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90189">
                <a:tc>
                  <a:txBody>
                    <a:bodyPr anchor="t" rtlCol="false"/>
                    <a:lstStyle/>
                    <a:p>
                      <a:pPr algn="ctr">
                        <a:lnSpc>
                          <a:spcPts val="2659"/>
                        </a:lnSpc>
                        <a:defRPr/>
                      </a:pPr>
                      <a:r>
                        <a:rPr lang="en-US" sz="1899">
                          <a:solidFill>
                            <a:srgbClr val="FFFFFF"/>
                          </a:solidFill>
                          <a:latin typeface="Canva Sans"/>
                          <a:ea typeface="Canva Sans"/>
                          <a:cs typeface="Canva Sans"/>
                          <a:sym typeface="Canva Sans"/>
                        </a:rPr>
                        <a:t>Missing nama_produk</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38</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0</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5326">
                <a:tc>
                  <a:txBody>
                    <a:bodyPr anchor="t" rtlCol="false"/>
                    <a:lstStyle/>
                    <a:p>
                      <a:pPr algn="ctr">
                        <a:lnSpc>
                          <a:spcPts val="2659"/>
                        </a:lnSpc>
                        <a:defRPr/>
                      </a:pPr>
                      <a:r>
                        <a:rPr lang="en-US" sz="1899">
                          <a:solidFill>
                            <a:srgbClr val="FFFFFF"/>
                          </a:solidFill>
                          <a:latin typeface="Canva Sans"/>
                          <a:ea typeface="Canva Sans"/>
                          <a:cs typeface="Canva Sans"/>
                          <a:sym typeface="Canva Sans"/>
                        </a:rPr>
                        <a:t>Missing harga</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42</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0</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75326">
                <a:tc>
                  <a:txBody>
                    <a:bodyPr anchor="t" rtlCol="false"/>
                    <a:lstStyle/>
                    <a:p>
                      <a:pPr algn="ctr">
                        <a:lnSpc>
                          <a:spcPts val="2659"/>
                        </a:lnSpc>
                        <a:defRPr/>
                      </a:pPr>
                      <a:r>
                        <a:rPr lang="en-US" sz="1899">
                          <a:solidFill>
                            <a:srgbClr val="FFFFFF"/>
                          </a:solidFill>
                          <a:latin typeface="Canva Sans"/>
                          <a:ea typeface="Canva Sans"/>
                          <a:cs typeface="Canva Sans"/>
                          <a:sym typeface="Canva Sans"/>
                        </a:rPr>
                        <a:t>Missing rating</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18.969</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18.708</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225206">
                <a:tc>
                  <a:txBody>
                    <a:bodyPr anchor="t" rtlCol="false"/>
                    <a:lstStyle/>
                    <a:p>
                      <a:pPr algn="ctr">
                        <a:lnSpc>
                          <a:spcPts val="2659"/>
                        </a:lnSpc>
                        <a:defRPr/>
                      </a:pPr>
                      <a:r>
                        <a:rPr lang="en-US" sz="1899">
                          <a:solidFill>
                            <a:srgbClr val="FFFFFF"/>
                          </a:solidFill>
                          <a:latin typeface="Canva Sans"/>
                          <a:ea typeface="Canva Sans"/>
                          <a:cs typeface="Canva Sans"/>
                          <a:sym typeface="Canva Sans"/>
                        </a:rPr>
                        <a:t>Missing kondisi</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endParaRPr lang="en-US" sz="1100"/>
                    </a:p>
                    <a:p>
                      <a:pPr algn="ctr">
                        <a:lnSpc>
                          <a:spcPts val="2659"/>
                        </a:lnSpc>
                      </a:pPr>
                      <a:r>
                        <a:rPr lang="en-US" sz="1899">
                          <a:solidFill>
                            <a:srgbClr val="FFFFFF"/>
                          </a:solidFill>
                          <a:latin typeface="Canva Sans"/>
                          <a:ea typeface="Canva Sans"/>
                          <a:cs typeface="Canva Sans"/>
                          <a:sym typeface="Canva Sans"/>
                        </a:rPr>
                        <a:t>2.705</a:t>
                      </a:r>
                    </a:p>
                    <a:p>
                      <a:pPr algn="ctr">
                        <a:lnSpc>
                          <a:spcPts val="2659"/>
                        </a:lnSpc>
                      </a:pPr>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0</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90189">
                <a:tc>
                  <a:txBody>
                    <a:bodyPr anchor="t" rtlCol="false"/>
                    <a:lstStyle/>
                    <a:p>
                      <a:pPr algn="ctr">
                        <a:lnSpc>
                          <a:spcPts val="2659"/>
                        </a:lnSpc>
                        <a:defRPr/>
                      </a:pPr>
                      <a:r>
                        <a:rPr lang="en-US" sz="1899">
                          <a:solidFill>
                            <a:srgbClr val="FFFFFF"/>
                          </a:solidFill>
                          <a:latin typeface="Canva Sans"/>
                          <a:ea typeface="Canva Sans"/>
                          <a:cs typeface="Canva Sans"/>
                          <a:sym typeface="Canva Sans"/>
                        </a:rPr>
                        <a:t>missing lokasi_penjual</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10.222</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10.128</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90189">
                <a:tc>
                  <a:txBody>
                    <a:bodyPr anchor="t" rtlCol="false"/>
                    <a:lstStyle/>
                    <a:p>
                      <a:pPr algn="ctr">
                        <a:lnSpc>
                          <a:spcPts val="2659"/>
                        </a:lnSpc>
                        <a:defRPr/>
                      </a:pPr>
                      <a:r>
                        <a:rPr lang="en-US" sz="1899">
                          <a:solidFill>
                            <a:srgbClr val="FFFFFF"/>
                          </a:solidFill>
                          <a:latin typeface="Canva Sans"/>
                          <a:ea typeface="Canva Sans"/>
                          <a:cs typeface="Canva Sans"/>
                          <a:sym typeface="Canva Sans"/>
                        </a:rPr>
                        <a:t>Placeholder “Akan Hadir”</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645</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Canva Sans"/>
                          <a:ea typeface="Canva Sans"/>
                          <a:cs typeface="Canva Sans"/>
                          <a:sym typeface="Canva Sans"/>
                        </a:rPr>
                        <a:t>0</a:t>
                      </a:r>
                      <a:endParaRPr lang="en-US" sz="1100"/>
                    </a:p>
                  </a:txBody>
                  <a:tcPr marL="66675" marR="66675" marT="66675" marB="66675"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4" id="4"/>
          <p:cNvSpPr txBox="true"/>
          <p:nvPr/>
        </p:nvSpPr>
        <p:spPr>
          <a:xfrm rot="0">
            <a:off x="1028700" y="2226597"/>
            <a:ext cx="6820158"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VERACITY</a:t>
            </a:r>
          </a:p>
        </p:txBody>
      </p:sp>
      <p:sp>
        <p:nvSpPr>
          <p:cNvPr name="TextBox 5" id="5"/>
          <p:cNvSpPr txBox="true"/>
          <p:nvPr/>
        </p:nvSpPr>
        <p:spPr>
          <a:xfrm rot="0">
            <a:off x="1028700" y="4163303"/>
            <a:ext cx="6903857" cy="4102227"/>
          </a:xfrm>
          <a:prstGeom prst="rect">
            <a:avLst/>
          </a:prstGeom>
        </p:spPr>
        <p:txBody>
          <a:bodyPr anchor="t" rtlCol="false" tIns="0" lIns="0" bIns="0" rIns="0">
            <a:spAutoFit/>
          </a:bodyPr>
          <a:lstStyle/>
          <a:p>
            <a:pPr algn="l">
              <a:lnSpc>
                <a:spcPts val="3653"/>
              </a:lnSpc>
              <a:spcBef>
                <a:spcPct val="0"/>
              </a:spcBef>
            </a:pPr>
            <a:r>
              <a:rPr lang="en-US" sz="2899" spc="-162">
                <a:solidFill>
                  <a:srgbClr val="FFFFFF"/>
                </a:solidFill>
                <a:latin typeface="Garet"/>
                <a:ea typeface="Garet"/>
                <a:cs typeface="Garet"/>
                <a:sym typeface="Garet"/>
              </a:rPr>
              <a:t>Data m</a:t>
            </a:r>
            <a:r>
              <a:rPr lang="en-US" sz="2899" spc="-162">
                <a:solidFill>
                  <a:srgbClr val="FFFFFF"/>
                </a:solidFill>
                <a:latin typeface="Garet"/>
                <a:ea typeface="Garet"/>
                <a:cs typeface="Garet"/>
                <a:sym typeface="Garet"/>
              </a:rPr>
              <a:t>engandung sejumlah noise dan inkonsistensi yang perlu ditangani, seperti </a:t>
            </a:r>
            <a:r>
              <a:rPr lang="en-US" sz="2899" spc="-162">
                <a:solidFill>
                  <a:srgbClr val="F4D820"/>
                </a:solidFill>
                <a:latin typeface="Garet"/>
                <a:ea typeface="Garet"/>
                <a:cs typeface="Garet"/>
                <a:sym typeface="Garet"/>
              </a:rPr>
              <a:t>typo</a:t>
            </a:r>
            <a:r>
              <a:rPr lang="en-US" sz="2899" spc="-162">
                <a:solidFill>
                  <a:srgbClr val="FFFFFF"/>
                </a:solidFill>
                <a:latin typeface="Garet"/>
                <a:ea typeface="Garet"/>
                <a:cs typeface="Garet"/>
                <a:sym typeface="Garet"/>
              </a:rPr>
              <a:t> nama brand dan platform, </a:t>
            </a:r>
            <a:r>
              <a:rPr lang="en-US" sz="2899" spc="-162">
                <a:solidFill>
                  <a:srgbClr val="F4D820"/>
                </a:solidFill>
                <a:latin typeface="Garet"/>
                <a:ea typeface="Garet"/>
                <a:cs typeface="Garet"/>
                <a:sym typeface="Garet"/>
              </a:rPr>
              <a:t>format harga</a:t>
            </a:r>
            <a:r>
              <a:rPr lang="en-US" sz="2899" spc="-162">
                <a:solidFill>
                  <a:srgbClr val="FFFFFF"/>
                </a:solidFill>
                <a:latin typeface="Garet"/>
                <a:ea typeface="Garet"/>
                <a:cs typeface="Garet"/>
                <a:sym typeface="Garet"/>
              </a:rPr>
              <a:t> yang tidak seragam, </a:t>
            </a:r>
            <a:r>
              <a:rPr lang="en-US" sz="2899" spc="-162">
                <a:solidFill>
                  <a:srgbClr val="F4D820"/>
                </a:solidFill>
                <a:latin typeface="Garet"/>
                <a:ea typeface="Garet"/>
                <a:cs typeface="Garet"/>
                <a:sym typeface="Garet"/>
              </a:rPr>
              <a:t>nilai</a:t>
            </a:r>
            <a:r>
              <a:rPr lang="en-US" sz="2899" spc="-162">
                <a:solidFill>
                  <a:srgbClr val="FFFFFF"/>
                </a:solidFill>
                <a:latin typeface="Garet"/>
                <a:ea typeface="Garet"/>
                <a:cs typeface="Garet"/>
                <a:sym typeface="Garet"/>
              </a:rPr>
              <a:t> </a:t>
            </a:r>
            <a:r>
              <a:rPr lang="en-US" sz="2899" spc="-162">
                <a:solidFill>
                  <a:srgbClr val="F4D820"/>
                </a:solidFill>
                <a:latin typeface="Garet"/>
                <a:ea typeface="Garet"/>
                <a:cs typeface="Garet"/>
                <a:sym typeface="Garet"/>
              </a:rPr>
              <a:t>rating</a:t>
            </a:r>
            <a:r>
              <a:rPr lang="en-US" sz="2899" spc="-162">
                <a:solidFill>
                  <a:srgbClr val="FFFFFF"/>
                </a:solidFill>
                <a:latin typeface="Garet"/>
                <a:ea typeface="Garet"/>
                <a:cs typeface="Garet"/>
                <a:sym typeface="Garet"/>
              </a:rPr>
              <a:t> </a:t>
            </a:r>
            <a:r>
              <a:rPr lang="en-US" sz="2899" spc="-162">
                <a:solidFill>
                  <a:srgbClr val="F4D820"/>
                </a:solidFill>
                <a:latin typeface="Garet"/>
                <a:ea typeface="Garet"/>
                <a:cs typeface="Garet"/>
                <a:sym typeface="Garet"/>
              </a:rPr>
              <a:t>di luar rentang</a:t>
            </a:r>
            <a:r>
              <a:rPr lang="en-US" sz="2899" spc="-162">
                <a:solidFill>
                  <a:srgbClr val="FFFFFF"/>
                </a:solidFill>
                <a:latin typeface="Garet"/>
                <a:ea typeface="Garet"/>
                <a:cs typeface="Garet"/>
                <a:sym typeface="Garet"/>
              </a:rPr>
              <a:t> valid, serta produk yang </a:t>
            </a:r>
            <a:r>
              <a:rPr lang="en-US" sz="2899" spc="-162">
                <a:solidFill>
                  <a:srgbClr val="F4D820"/>
                </a:solidFill>
                <a:latin typeface="Garet"/>
                <a:ea typeface="Garet"/>
                <a:cs typeface="Garet"/>
                <a:sym typeface="Garet"/>
              </a:rPr>
              <a:t>salah kategori</a:t>
            </a:r>
            <a:r>
              <a:rPr lang="en-US" sz="2899" spc="-162">
                <a:solidFill>
                  <a:srgbClr val="FFFFFF"/>
                </a:solidFill>
                <a:latin typeface="Garet"/>
                <a:ea typeface="Garet"/>
                <a:cs typeface="Garet"/>
                <a:sym typeface="Garet"/>
              </a:rPr>
              <a:t> (smartwatch masuk ke kategori HP/Laptop). Proses cleaning dilakukan untuk meningkatkan kepercayaan data sebelum dianalisis.</a:t>
            </a:r>
          </a:p>
        </p:txBody>
      </p:sp>
      <p:grpSp>
        <p:nvGrpSpPr>
          <p:cNvPr name="Group 6" id="6"/>
          <p:cNvGrpSpPr/>
          <p:nvPr/>
        </p:nvGrpSpPr>
        <p:grpSpPr>
          <a:xfrm rot="0">
            <a:off x="1028700" y="337116"/>
            <a:ext cx="16386847" cy="1227065"/>
            <a:chOff x="0" y="0"/>
            <a:chExt cx="21849129" cy="1636087"/>
          </a:xfrm>
        </p:grpSpPr>
        <p:sp>
          <p:nvSpPr>
            <p:cNvPr name="Freeform 7" id="7"/>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8" id="8"/>
            <p:cNvGrpSpPr/>
            <p:nvPr/>
          </p:nvGrpSpPr>
          <p:grpSpPr>
            <a:xfrm rot="0">
              <a:off x="11378892" y="443664"/>
              <a:ext cx="3080976" cy="969444"/>
              <a:chOff x="0" y="0"/>
              <a:chExt cx="1291574" cy="406400"/>
            </a:xfrm>
          </p:grpSpPr>
          <p:sp>
            <p:nvSpPr>
              <p:cNvPr name="Freeform 9" id="9"/>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0" id="10"/>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2" id="12"/>
            <p:cNvGrpSpPr/>
            <p:nvPr/>
          </p:nvGrpSpPr>
          <p:grpSpPr>
            <a:xfrm rot="0">
              <a:off x="16468734" y="443664"/>
              <a:ext cx="5380395" cy="969444"/>
              <a:chOff x="0" y="0"/>
              <a:chExt cx="2255512" cy="406400"/>
            </a:xfrm>
          </p:grpSpPr>
          <p:sp>
            <p:nvSpPr>
              <p:cNvPr name="Freeform 13" id="13"/>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4" id="14"/>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6" id="16"/>
            <p:cNvGrpSpPr/>
            <p:nvPr/>
          </p:nvGrpSpPr>
          <p:grpSpPr>
            <a:xfrm rot="0">
              <a:off x="14828167" y="283406"/>
              <a:ext cx="1277412" cy="12774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8" id="18"/>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9" id="19"/>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a:off x="1028700" y="9248775"/>
            <a:ext cx="16230600" cy="0"/>
          </a:xfrm>
          <a:prstGeom prst="line">
            <a:avLst/>
          </a:prstGeom>
          <a:ln cap="flat" w="19050">
            <a:solidFill>
              <a:srgbClr val="FFFFFF"/>
            </a:solidFill>
            <a:prstDash val="solid"/>
            <a:headEnd type="none" len="sm" w="sm"/>
            <a:tailEnd type="none" len="sm" w="sm"/>
          </a:ln>
        </p:spPr>
      </p:sp>
      <p:grpSp>
        <p:nvGrpSpPr>
          <p:cNvPr name="Group 4" id="4"/>
          <p:cNvGrpSpPr/>
          <p:nvPr/>
        </p:nvGrpSpPr>
        <p:grpSpPr>
          <a:xfrm rot="0">
            <a:off x="11596194" y="2953579"/>
            <a:ext cx="5246370" cy="5246370"/>
            <a:chOff x="0" y="0"/>
            <a:chExt cx="13716000" cy="13716000"/>
          </a:xfrm>
        </p:grpSpPr>
        <p:sp>
          <p:nvSpPr>
            <p:cNvPr name="Freeform 5" id="5"/>
            <p:cNvSpPr/>
            <p:nvPr/>
          </p:nvSpPr>
          <p:spPr>
            <a:xfrm flipH="false" flipV="false" rot="0">
              <a:off x="0" y="0"/>
              <a:ext cx="13716000" cy="13716000"/>
            </a:xfrm>
            <a:custGeom>
              <a:avLst/>
              <a:gdLst/>
              <a:ahLst/>
              <a:cxnLst/>
              <a:rect r="r" b="b" t="t" l="l"/>
              <a:pathLst>
                <a:path h="13716000" w="13716000">
                  <a:moveTo>
                    <a:pt x="6857994" y="0"/>
                  </a:moveTo>
                  <a:lnTo>
                    <a:pt x="6858008" y="0"/>
                  </a:lnTo>
                  <a:cubicBezTo>
                    <a:pt x="10645573" y="1"/>
                    <a:pt x="13716000" y="3070429"/>
                    <a:pt x="13716000" y="6857994"/>
                  </a:cubicBezTo>
                  <a:lnTo>
                    <a:pt x="13716000" y="13716000"/>
                  </a:lnTo>
                  <a:lnTo>
                    <a:pt x="0" y="13716000"/>
                  </a:lnTo>
                  <a:lnTo>
                    <a:pt x="0" y="6857994"/>
                  </a:lnTo>
                  <a:cubicBezTo>
                    <a:pt x="0" y="3070428"/>
                    <a:pt x="3070428" y="0"/>
                    <a:pt x="6857994" y="0"/>
                  </a:cubicBezTo>
                  <a:close/>
                </a:path>
              </a:pathLst>
            </a:custGeom>
            <a:blipFill>
              <a:blip r:embed="rId3"/>
              <a:stretch>
                <a:fillRect l="-23267" t="0" r="-26630" b="0"/>
              </a:stretch>
            </a:blipFill>
          </p:spPr>
        </p:sp>
      </p:grpSp>
      <p:sp>
        <p:nvSpPr>
          <p:cNvPr name="TextBox 6" id="6"/>
          <p:cNvSpPr txBox="true"/>
          <p:nvPr/>
        </p:nvSpPr>
        <p:spPr>
          <a:xfrm rot="0">
            <a:off x="1028700" y="2226597"/>
            <a:ext cx="6820158"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VALUE</a:t>
            </a:r>
          </a:p>
        </p:txBody>
      </p:sp>
      <p:sp>
        <p:nvSpPr>
          <p:cNvPr name="TextBox 7" id="7"/>
          <p:cNvSpPr txBox="true"/>
          <p:nvPr/>
        </p:nvSpPr>
        <p:spPr>
          <a:xfrm rot="0">
            <a:off x="1028700" y="4163303"/>
            <a:ext cx="9654503" cy="4559427"/>
          </a:xfrm>
          <a:prstGeom prst="rect">
            <a:avLst/>
          </a:prstGeom>
        </p:spPr>
        <p:txBody>
          <a:bodyPr anchor="t" rtlCol="false" tIns="0" lIns="0" bIns="0" rIns="0">
            <a:spAutoFit/>
          </a:bodyPr>
          <a:lstStyle/>
          <a:p>
            <a:pPr algn="l">
              <a:lnSpc>
                <a:spcPts val="3653"/>
              </a:lnSpc>
              <a:spcBef>
                <a:spcPct val="0"/>
              </a:spcBef>
            </a:pPr>
            <a:r>
              <a:rPr lang="en-US" sz="2899" spc="-162">
                <a:solidFill>
                  <a:srgbClr val="FFFFFF"/>
                </a:solidFill>
                <a:latin typeface="Garet"/>
                <a:ea typeface="Garet"/>
                <a:cs typeface="Garet"/>
                <a:sym typeface="Garet"/>
              </a:rPr>
              <a:t>Datas</a:t>
            </a:r>
            <a:r>
              <a:rPr lang="en-US" sz="2899" spc="-162">
                <a:solidFill>
                  <a:srgbClr val="FFFFFF"/>
                </a:solidFill>
                <a:latin typeface="Garet"/>
                <a:ea typeface="Garet"/>
                <a:cs typeface="Garet"/>
                <a:sym typeface="Garet"/>
              </a:rPr>
              <a:t>et memberikan nilai penting dalam analisis, </a:t>
            </a:r>
            <a:r>
              <a:rPr lang="en-US" sz="2899" spc="-162">
                <a:solidFill>
                  <a:srgbClr val="FFFFFF"/>
                </a:solidFill>
                <a:latin typeface="Garet"/>
                <a:ea typeface="Garet"/>
                <a:cs typeface="Garet"/>
                <a:sym typeface="Garet"/>
              </a:rPr>
              <a:t>antara</a:t>
            </a:r>
            <a:r>
              <a:rPr lang="en-US" sz="2899" spc="-162">
                <a:solidFill>
                  <a:srgbClr val="FFFFFF"/>
                </a:solidFill>
                <a:latin typeface="Garet"/>
                <a:ea typeface="Garet"/>
                <a:cs typeface="Garet"/>
                <a:sym typeface="Garet"/>
              </a:rPr>
              <a:t> lain:</a:t>
            </a:r>
          </a:p>
          <a:p>
            <a:pPr algn="l" marL="626104" indent="-313052" lvl="1">
              <a:lnSpc>
                <a:spcPts val="3653"/>
              </a:lnSpc>
              <a:spcBef>
                <a:spcPct val="0"/>
              </a:spcBef>
              <a:buFont typeface="Arial"/>
              <a:buChar char="•"/>
            </a:pPr>
            <a:r>
              <a:rPr lang="en-US" sz="2899" spc="-162">
                <a:solidFill>
                  <a:srgbClr val="FFFFFF"/>
                </a:solidFill>
                <a:latin typeface="Garet"/>
                <a:ea typeface="Garet"/>
                <a:cs typeface="Garet"/>
                <a:sym typeface="Garet"/>
              </a:rPr>
              <a:t>Mengidentifikasi platform e-comme</a:t>
            </a:r>
            <a:r>
              <a:rPr lang="en-US" sz="2899" spc="-162">
                <a:solidFill>
                  <a:srgbClr val="FFFFFF"/>
                </a:solidFill>
                <a:latin typeface="Garet"/>
                <a:ea typeface="Garet"/>
                <a:cs typeface="Garet"/>
                <a:sym typeface="Garet"/>
              </a:rPr>
              <a:t>rce mana</a:t>
            </a:r>
            <a:r>
              <a:rPr lang="en-US" sz="2899" spc="-162">
                <a:solidFill>
                  <a:srgbClr val="FFFFFF"/>
                </a:solidFill>
                <a:latin typeface="Garet"/>
                <a:ea typeface="Garet"/>
                <a:cs typeface="Garet"/>
                <a:sym typeface="Garet"/>
              </a:rPr>
              <a:t> y</a:t>
            </a:r>
            <a:r>
              <a:rPr lang="en-US" sz="2899" spc="-162">
                <a:solidFill>
                  <a:srgbClr val="FFFFFF"/>
                </a:solidFill>
                <a:latin typeface="Garet"/>
                <a:ea typeface="Garet"/>
                <a:cs typeface="Garet"/>
                <a:sym typeface="Garet"/>
              </a:rPr>
              <a:t>ang paling domin</a:t>
            </a:r>
            <a:r>
              <a:rPr lang="en-US" sz="2899" spc="-162">
                <a:solidFill>
                  <a:srgbClr val="FFFFFF"/>
                </a:solidFill>
                <a:latin typeface="Garet"/>
                <a:ea typeface="Garet"/>
                <a:cs typeface="Garet"/>
                <a:sym typeface="Garet"/>
              </a:rPr>
              <a:t>an dalam penjualan produk tekno</a:t>
            </a:r>
            <a:r>
              <a:rPr lang="en-US" sz="2899" spc="-162">
                <a:solidFill>
                  <a:srgbClr val="FFFFFF"/>
                </a:solidFill>
                <a:latin typeface="Garet"/>
                <a:ea typeface="Garet"/>
                <a:cs typeface="Garet"/>
                <a:sym typeface="Garet"/>
              </a:rPr>
              <a:t>logi</a:t>
            </a:r>
          </a:p>
          <a:p>
            <a:pPr algn="l" marL="626104" indent="-313052" lvl="1">
              <a:lnSpc>
                <a:spcPts val="3653"/>
              </a:lnSpc>
              <a:spcBef>
                <a:spcPct val="0"/>
              </a:spcBef>
              <a:buFont typeface="Arial"/>
              <a:buChar char="•"/>
            </a:pPr>
            <a:r>
              <a:rPr lang="en-US" sz="2899" spc="-162">
                <a:solidFill>
                  <a:srgbClr val="FFFFFF"/>
                </a:solidFill>
                <a:latin typeface="Garet"/>
                <a:ea typeface="Garet"/>
                <a:cs typeface="Garet"/>
                <a:sym typeface="Garet"/>
              </a:rPr>
              <a:t>Me</a:t>
            </a:r>
            <a:r>
              <a:rPr lang="en-US" sz="2899" spc="-162">
                <a:solidFill>
                  <a:srgbClr val="FFFFFF"/>
                </a:solidFill>
                <a:latin typeface="Garet"/>
                <a:ea typeface="Garet"/>
                <a:cs typeface="Garet"/>
                <a:sym typeface="Garet"/>
              </a:rPr>
              <a:t>mbandingkan performa kategori HP dan Laptop dari sisi volume penjualan dan harga secara terpisah.</a:t>
            </a:r>
          </a:p>
          <a:p>
            <a:pPr algn="l" marL="626104" indent="-313052" lvl="1">
              <a:lnSpc>
                <a:spcPts val="3653"/>
              </a:lnSpc>
              <a:spcBef>
                <a:spcPct val="0"/>
              </a:spcBef>
              <a:buFont typeface="Arial"/>
              <a:buChar char="•"/>
            </a:pPr>
            <a:r>
              <a:rPr lang="en-US" sz="2899" spc="-162">
                <a:solidFill>
                  <a:srgbClr val="FFFFFF"/>
                </a:solidFill>
                <a:latin typeface="Garet"/>
                <a:ea typeface="Garet"/>
                <a:cs typeface="Garet"/>
                <a:sym typeface="Garet"/>
              </a:rPr>
              <a:t>Menganalisis resale value produk bekas untuk membantu konsumen menentukan merek yang paling worth it untuk dibeli dan dijual kembali</a:t>
            </a:r>
          </a:p>
          <a:p>
            <a:pPr algn="l">
              <a:lnSpc>
                <a:spcPts val="3653"/>
              </a:lnSpc>
              <a:spcBef>
                <a:spcPct val="0"/>
              </a:spcBef>
            </a:pPr>
          </a:p>
        </p:txBody>
      </p:sp>
      <p:grpSp>
        <p:nvGrpSpPr>
          <p:cNvPr name="Group 8" id="8"/>
          <p:cNvGrpSpPr/>
          <p:nvPr/>
        </p:nvGrpSpPr>
        <p:grpSpPr>
          <a:xfrm rot="0">
            <a:off x="1028700" y="337116"/>
            <a:ext cx="16386847" cy="1227065"/>
            <a:chOff x="0" y="0"/>
            <a:chExt cx="21849129" cy="1636087"/>
          </a:xfrm>
        </p:grpSpPr>
        <p:sp>
          <p:nvSpPr>
            <p:cNvPr name="Freeform 9" id="9"/>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0" id="10"/>
            <p:cNvGrpSpPr/>
            <p:nvPr/>
          </p:nvGrpSpPr>
          <p:grpSpPr>
            <a:xfrm rot="0">
              <a:off x="11378892" y="443664"/>
              <a:ext cx="3080976" cy="969444"/>
              <a:chOff x="0" y="0"/>
              <a:chExt cx="1291574" cy="406400"/>
            </a:xfrm>
          </p:grpSpPr>
          <p:sp>
            <p:nvSpPr>
              <p:cNvPr name="Freeform 11" id="11"/>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2" id="12"/>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4" id="14"/>
            <p:cNvGrpSpPr/>
            <p:nvPr/>
          </p:nvGrpSpPr>
          <p:grpSpPr>
            <a:xfrm rot="0">
              <a:off x="16468734" y="443664"/>
              <a:ext cx="5380395" cy="969444"/>
              <a:chOff x="0" y="0"/>
              <a:chExt cx="2255512" cy="406400"/>
            </a:xfrm>
          </p:grpSpPr>
          <p:sp>
            <p:nvSpPr>
              <p:cNvPr name="Freeform 15" id="15"/>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6" id="16"/>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8" id="18"/>
            <p:cNvGrpSpPr/>
            <p:nvPr/>
          </p:nvGrpSpPr>
          <p:grpSpPr>
            <a:xfrm rot="0">
              <a:off x="14828167" y="283406"/>
              <a:ext cx="1277412" cy="127741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0" id="20"/>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1" id="21"/>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a:off x="1028700" y="9248775"/>
            <a:ext cx="16230600" cy="0"/>
          </a:xfrm>
          <a:prstGeom prst="line">
            <a:avLst/>
          </a:prstGeom>
          <a:ln cap="flat" w="19050">
            <a:solidFill>
              <a:srgbClr val="FFFFFF"/>
            </a:solidFill>
            <a:prstDash val="solid"/>
            <a:headEnd type="none" len="sm" w="sm"/>
            <a:tailEnd type="none" len="sm" w="sm"/>
          </a:ln>
        </p:spPr>
      </p:sp>
      <p:sp>
        <p:nvSpPr>
          <p:cNvPr name="TextBox 4" id="4"/>
          <p:cNvSpPr txBox="true"/>
          <p:nvPr/>
        </p:nvSpPr>
        <p:spPr>
          <a:xfrm rot="0">
            <a:off x="1028700" y="2226597"/>
            <a:ext cx="6820158"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VARIABILITY</a:t>
            </a:r>
          </a:p>
        </p:txBody>
      </p:sp>
      <p:sp>
        <p:nvSpPr>
          <p:cNvPr name="TextBox 5" id="5"/>
          <p:cNvSpPr txBox="true"/>
          <p:nvPr/>
        </p:nvSpPr>
        <p:spPr>
          <a:xfrm rot="0">
            <a:off x="1028700" y="4163303"/>
            <a:ext cx="9654503" cy="3187827"/>
          </a:xfrm>
          <a:prstGeom prst="rect">
            <a:avLst/>
          </a:prstGeom>
        </p:spPr>
        <p:txBody>
          <a:bodyPr anchor="t" rtlCol="false" tIns="0" lIns="0" bIns="0" rIns="0">
            <a:spAutoFit/>
          </a:bodyPr>
          <a:lstStyle/>
          <a:p>
            <a:pPr algn="l">
              <a:lnSpc>
                <a:spcPts val="3653"/>
              </a:lnSpc>
              <a:spcBef>
                <a:spcPct val="0"/>
              </a:spcBef>
            </a:pPr>
            <a:r>
              <a:rPr lang="en-US" sz="2899" spc="-162">
                <a:solidFill>
                  <a:srgbClr val="FFFFFF"/>
                </a:solidFill>
                <a:latin typeface="Garet"/>
                <a:ea typeface="Garet"/>
                <a:cs typeface="Garet"/>
                <a:sym typeface="Garet"/>
              </a:rPr>
              <a:t>Datas</a:t>
            </a:r>
            <a:r>
              <a:rPr lang="en-US" sz="2899" spc="-162">
                <a:solidFill>
                  <a:srgbClr val="FFFFFF"/>
                </a:solidFill>
                <a:latin typeface="Garet"/>
                <a:ea typeface="Garet"/>
                <a:cs typeface="Garet"/>
                <a:sym typeface="Garet"/>
              </a:rPr>
              <a:t>et menunjukkan dinamika brand dan h</a:t>
            </a:r>
            <a:r>
              <a:rPr lang="en-US" sz="2899" spc="-162">
                <a:solidFill>
                  <a:srgbClr val="FFFFFF"/>
                </a:solidFill>
                <a:latin typeface="Garet"/>
                <a:ea typeface="Garet"/>
                <a:cs typeface="Garet"/>
                <a:sym typeface="Garet"/>
              </a:rPr>
              <a:t>arga</a:t>
            </a:r>
            <a:r>
              <a:rPr lang="en-US" sz="2899" spc="-162">
                <a:solidFill>
                  <a:srgbClr val="FFFFFF"/>
                </a:solidFill>
                <a:latin typeface="Garet"/>
                <a:ea typeface="Garet"/>
                <a:cs typeface="Garet"/>
                <a:sym typeface="Garet"/>
              </a:rPr>
              <a:t> yang berbeda antar platform. </a:t>
            </a:r>
            <a:r>
              <a:rPr lang="en-US" sz="2899" spc="-162">
                <a:solidFill>
                  <a:srgbClr val="F4D820"/>
                </a:solidFill>
                <a:latin typeface="Garet"/>
                <a:ea typeface="Garet"/>
                <a:cs typeface="Garet"/>
                <a:sym typeface="Garet"/>
              </a:rPr>
              <a:t>Samsung</a:t>
            </a:r>
            <a:r>
              <a:rPr lang="en-US" sz="2899" spc="-162">
                <a:solidFill>
                  <a:srgbClr val="FFFFFF"/>
                </a:solidFill>
                <a:latin typeface="Garet"/>
                <a:ea typeface="Garet"/>
                <a:cs typeface="Garet"/>
                <a:sym typeface="Garet"/>
              </a:rPr>
              <a:t> domin</a:t>
            </a:r>
            <a:r>
              <a:rPr lang="en-US" sz="2899" spc="-162">
                <a:solidFill>
                  <a:srgbClr val="FFFFFF"/>
                </a:solidFill>
                <a:latin typeface="Garet"/>
                <a:ea typeface="Garet"/>
                <a:cs typeface="Garet"/>
                <a:sym typeface="Garet"/>
              </a:rPr>
              <a:t>an di Shopee, </a:t>
            </a:r>
            <a:r>
              <a:rPr lang="en-US" sz="2899" spc="-162">
                <a:solidFill>
                  <a:srgbClr val="F4D820"/>
                </a:solidFill>
                <a:latin typeface="Garet"/>
                <a:ea typeface="Garet"/>
                <a:cs typeface="Garet"/>
                <a:sym typeface="Garet"/>
              </a:rPr>
              <a:t>Poco &amp; Xiaomi</a:t>
            </a:r>
            <a:r>
              <a:rPr lang="en-US" sz="2899" spc="-162">
                <a:solidFill>
                  <a:srgbClr val="FFFFFF"/>
                </a:solidFill>
                <a:latin typeface="Garet"/>
                <a:ea typeface="Garet"/>
                <a:cs typeface="Garet"/>
                <a:sym typeface="Garet"/>
              </a:rPr>
              <a:t> kuat di Tokop</a:t>
            </a:r>
            <a:r>
              <a:rPr lang="en-US" sz="2899" spc="-162">
                <a:solidFill>
                  <a:srgbClr val="FFFFFF"/>
                </a:solidFill>
                <a:latin typeface="Garet"/>
                <a:ea typeface="Garet"/>
                <a:cs typeface="Garet"/>
                <a:sym typeface="Garet"/>
              </a:rPr>
              <a:t>e</a:t>
            </a:r>
            <a:r>
              <a:rPr lang="en-US" sz="2899" spc="-162">
                <a:solidFill>
                  <a:srgbClr val="FFFFFF"/>
                </a:solidFill>
                <a:latin typeface="Garet"/>
                <a:ea typeface="Garet"/>
                <a:cs typeface="Garet"/>
                <a:sym typeface="Garet"/>
              </a:rPr>
              <a:t>dia, </a:t>
            </a:r>
            <a:r>
              <a:rPr lang="en-US" sz="2899" spc="-162">
                <a:solidFill>
                  <a:srgbClr val="F4D820"/>
                </a:solidFill>
                <a:latin typeface="Garet"/>
                <a:ea typeface="Garet"/>
                <a:cs typeface="Garet"/>
                <a:sym typeface="Garet"/>
              </a:rPr>
              <a:t>Apple</a:t>
            </a:r>
            <a:r>
              <a:rPr lang="en-US" sz="2899" spc="-162">
                <a:solidFill>
                  <a:srgbClr val="FFFFFF"/>
                </a:solidFill>
                <a:latin typeface="Garet"/>
                <a:ea typeface="Garet"/>
                <a:cs typeface="Garet"/>
                <a:sym typeface="Garet"/>
              </a:rPr>
              <a:t> merata di semua platform. Blibli memiliki median harga tertinggi, Shopee paling terjangkau. Brand populer cenderung memiliki variasi harga lebih besar karena menjangkau segmen entry hingga flagship.</a:t>
            </a:r>
          </a:p>
        </p:txBody>
      </p:sp>
      <p:grpSp>
        <p:nvGrpSpPr>
          <p:cNvPr name="Group 6" id="6"/>
          <p:cNvGrpSpPr/>
          <p:nvPr/>
        </p:nvGrpSpPr>
        <p:grpSpPr>
          <a:xfrm rot="0">
            <a:off x="1028700" y="337116"/>
            <a:ext cx="16386847" cy="1227065"/>
            <a:chOff x="0" y="0"/>
            <a:chExt cx="21849129" cy="1636087"/>
          </a:xfrm>
        </p:grpSpPr>
        <p:sp>
          <p:nvSpPr>
            <p:cNvPr name="Freeform 7" id="7"/>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8" id="8"/>
            <p:cNvGrpSpPr/>
            <p:nvPr/>
          </p:nvGrpSpPr>
          <p:grpSpPr>
            <a:xfrm rot="0">
              <a:off x="11378892" y="443664"/>
              <a:ext cx="3080976" cy="969444"/>
              <a:chOff x="0" y="0"/>
              <a:chExt cx="1291574" cy="406400"/>
            </a:xfrm>
          </p:grpSpPr>
          <p:sp>
            <p:nvSpPr>
              <p:cNvPr name="Freeform 9" id="9"/>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0" id="10"/>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2" id="12"/>
            <p:cNvGrpSpPr/>
            <p:nvPr/>
          </p:nvGrpSpPr>
          <p:grpSpPr>
            <a:xfrm rot="0">
              <a:off x="16468734" y="443664"/>
              <a:ext cx="5380395" cy="969444"/>
              <a:chOff x="0" y="0"/>
              <a:chExt cx="2255512" cy="406400"/>
            </a:xfrm>
          </p:grpSpPr>
          <p:sp>
            <p:nvSpPr>
              <p:cNvPr name="Freeform 13" id="13"/>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4" id="14"/>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6" id="16"/>
            <p:cNvGrpSpPr/>
            <p:nvPr/>
          </p:nvGrpSpPr>
          <p:grpSpPr>
            <a:xfrm rot="0">
              <a:off x="14828167" y="283406"/>
              <a:ext cx="1277412" cy="12774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8" id="18"/>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9" id="19"/>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0" id="20"/>
          <p:cNvGrpSpPr/>
          <p:nvPr/>
        </p:nvGrpSpPr>
        <p:grpSpPr>
          <a:xfrm rot="0">
            <a:off x="11377852" y="3553703"/>
            <a:ext cx="5881448" cy="3901857"/>
            <a:chOff x="0" y="0"/>
            <a:chExt cx="633485" cy="420265"/>
          </a:xfrm>
        </p:grpSpPr>
        <p:sp>
          <p:nvSpPr>
            <p:cNvPr name="Freeform 21" id="21"/>
            <p:cNvSpPr/>
            <p:nvPr/>
          </p:nvSpPr>
          <p:spPr>
            <a:xfrm flipH="false" flipV="false" rot="0">
              <a:off x="0" y="0"/>
              <a:ext cx="633485" cy="420265"/>
            </a:xfrm>
            <a:custGeom>
              <a:avLst/>
              <a:gdLst/>
              <a:ahLst/>
              <a:cxnLst/>
              <a:rect r="r" b="b" t="t" l="l"/>
              <a:pathLst>
                <a:path h="420265" w="633485">
                  <a:moveTo>
                    <a:pt x="0" y="0"/>
                  </a:moveTo>
                  <a:lnTo>
                    <a:pt x="633485" y="0"/>
                  </a:lnTo>
                  <a:lnTo>
                    <a:pt x="633485" y="420265"/>
                  </a:lnTo>
                  <a:lnTo>
                    <a:pt x="0" y="420265"/>
                  </a:lnTo>
                  <a:close/>
                </a:path>
              </a:pathLst>
            </a:custGeom>
            <a:blipFill>
              <a:blip r:embed="rId6"/>
              <a:stretch>
                <a:fillRect l="0" t="-78970" r="0" b="-89001"/>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a:off x="1028700" y="9248775"/>
            <a:ext cx="16230600" cy="0"/>
          </a:xfrm>
          <a:prstGeom prst="line">
            <a:avLst/>
          </a:prstGeom>
          <a:ln cap="flat" w="19050">
            <a:solidFill>
              <a:srgbClr val="FFFFFF"/>
            </a:solidFill>
            <a:prstDash val="solid"/>
            <a:headEnd type="none" len="sm" w="sm"/>
            <a:tailEnd type="none" len="sm" w="sm"/>
          </a:ln>
        </p:spPr>
      </p:sp>
      <p:sp>
        <p:nvSpPr>
          <p:cNvPr name="TextBox 4" id="4"/>
          <p:cNvSpPr txBox="true"/>
          <p:nvPr/>
        </p:nvSpPr>
        <p:spPr>
          <a:xfrm rot="0">
            <a:off x="1314450" y="2226597"/>
            <a:ext cx="6820158"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VALIDITY</a:t>
            </a:r>
          </a:p>
        </p:txBody>
      </p:sp>
      <p:sp>
        <p:nvSpPr>
          <p:cNvPr name="TextBox 5" id="5"/>
          <p:cNvSpPr txBox="true"/>
          <p:nvPr/>
        </p:nvSpPr>
        <p:spPr>
          <a:xfrm rot="0">
            <a:off x="1028700" y="4163303"/>
            <a:ext cx="8748192" cy="3187827"/>
          </a:xfrm>
          <a:prstGeom prst="rect">
            <a:avLst/>
          </a:prstGeom>
        </p:spPr>
        <p:txBody>
          <a:bodyPr anchor="t" rtlCol="false" tIns="0" lIns="0" bIns="0" rIns="0">
            <a:spAutoFit/>
          </a:bodyPr>
          <a:lstStyle/>
          <a:p>
            <a:pPr algn="l">
              <a:lnSpc>
                <a:spcPts val="3653"/>
              </a:lnSpc>
              <a:spcBef>
                <a:spcPct val="0"/>
              </a:spcBef>
            </a:pPr>
            <a:r>
              <a:rPr lang="en-US" sz="2899" spc="-162">
                <a:solidFill>
                  <a:srgbClr val="FFFFFF"/>
                </a:solidFill>
                <a:latin typeface="Garet"/>
                <a:ea typeface="Garet"/>
                <a:cs typeface="Garet"/>
                <a:sym typeface="Garet"/>
              </a:rPr>
              <a:t>Akuras</a:t>
            </a:r>
            <a:r>
              <a:rPr lang="en-US" sz="2899" spc="-162">
                <a:solidFill>
                  <a:srgbClr val="FFFFFF"/>
                </a:solidFill>
                <a:latin typeface="Garet"/>
                <a:ea typeface="Garet"/>
                <a:cs typeface="Garet"/>
                <a:sym typeface="Garet"/>
              </a:rPr>
              <a:t>i analisis dijaga melalui validasi m</a:t>
            </a:r>
            <a:r>
              <a:rPr lang="en-US" sz="2899" spc="-162">
                <a:solidFill>
                  <a:srgbClr val="FFFFFF"/>
                </a:solidFill>
                <a:latin typeface="Garet"/>
                <a:ea typeface="Garet"/>
                <a:cs typeface="Garet"/>
                <a:sym typeface="Garet"/>
              </a:rPr>
              <a:t>anua</a:t>
            </a:r>
            <a:r>
              <a:rPr lang="en-US" sz="2899" spc="-162">
                <a:solidFill>
                  <a:srgbClr val="FFFFFF"/>
                </a:solidFill>
                <a:latin typeface="Garet"/>
                <a:ea typeface="Garet"/>
                <a:cs typeface="Garet"/>
                <a:sym typeface="Garet"/>
              </a:rPr>
              <a:t>l sampel, verifikasi b</a:t>
            </a:r>
            <a:r>
              <a:rPr lang="en-US" sz="2899" spc="-162">
                <a:solidFill>
                  <a:srgbClr val="FFFFFF"/>
                </a:solidFill>
                <a:latin typeface="Garet"/>
                <a:ea typeface="Garet"/>
                <a:cs typeface="Garet"/>
                <a:sym typeface="Garet"/>
              </a:rPr>
              <a:t>rand via</a:t>
            </a:r>
            <a:r>
              <a:rPr lang="en-US" sz="2899" spc="-162">
                <a:solidFill>
                  <a:srgbClr val="FFFFFF"/>
                </a:solidFill>
                <a:latin typeface="Garet"/>
                <a:ea typeface="Garet"/>
                <a:cs typeface="Garet"/>
                <a:sym typeface="Garet"/>
              </a:rPr>
              <a:t> fuzzy</a:t>
            </a:r>
            <a:r>
              <a:rPr lang="en-US" sz="2899" spc="-162">
                <a:solidFill>
                  <a:srgbClr val="FFFFFF"/>
                </a:solidFill>
                <a:latin typeface="Garet"/>
                <a:ea typeface="Garet"/>
                <a:cs typeface="Garet"/>
                <a:sym typeface="Garet"/>
              </a:rPr>
              <a:t> matching (r</a:t>
            </a:r>
            <a:r>
              <a:rPr lang="en-US" sz="2899" spc="-162">
                <a:solidFill>
                  <a:srgbClr val="FFFFFF"/>
                </a:solidFill>
                <a:latin typeface="Garet"/>
                <a:ea typeface="Garet"/>
                <a:cs typeface="Garet"/>
                <a:sym typeface="Garet"/>
              </a:rPr>
              <a:t>apidfuzz, skor &lt;70 diekstrak u</a:t>
            </a:r>
            <a:r>
              <a:rPr lang="en-US" sz="2899" spc="-162">
                <a:solidFill>
                  <a:srgbClr val="FFFFFF"/>
                </a:solidFill>
                <a:latin typeface="Garet"/>
                <a:ea typeface="Garet"/>
                <a:cs typeface="Garet"/>
                <a:sym typeface="Garet"/>
              </a:rPr>
              <a:t>l</a:t>
            </a:r>
            <a:r>
              <a:rPr lang="en-US" sz="2899" spc="-162">
                <a:solidFill>
                  <a:srgbClr val="FFFFFF"/>
                </a:solidFill>
                <a:latin typeface="Garet"/>
                <a:ea typeface="Garet"/>
                <a:cs typeface="Garet"/>
                <a:sym typeface="Garet"/>
              </a:rPr>
              <a:t>ang), dan filter harga &lt;Rp 100.000. Deteksi anomali menggunakan metode IQR per brand agar threshold bersifat objektif per brand, divalidasi silang dengan Z-score (|z| &gt; 3). Total anomali: 2.379 listing (6,9%).</a:t>
            </a:r>
          </a:p>
        </p:txBody>
      </p:sp>
      <p:grpSp>
        <p:nvGrpSpPr>
          <p:cNvPr name="Group 6" id="6"/>
          <p:cNvGrpSpPr/>
          <p:nvPr/>
        </p:nvGrpSpPr>
        <p:grpSpPr>
          <a:xfrm rot="0">
            <a:off x="1028700" y="337116"/>
            <a:ext cx="16386847" cy="1227065"/>
            <a:chOff x="0" y="0"/>
            <a:chExt cx="21849129" cy="1636087"/>
          </a:xfrm>
        </p:grpSpPr>
        <p:sp>
          <p:nvSpPr>
            <p:cNvPr name="Freeform 7" id="7"/>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8" id="8"/>
            <p:cNvGrpSpPr/>
            <p:nvPr/>
          </p:nvGrpSpPr>
          <p:grpSpPr>
            <a:xfrm rot="0">
              <a:off x="11378892" y="443664"/>
              <a:ext cx="3080976" cy="969444"/>
              <a:chOff x="0" y="0"/>
              <a:chExt cx="1291574" cy="406400"/>
            </a:xfrm>
          </p:grpSpPr>
          <p:sp>
            <p:nvSpPr>
              <p:cNvPr name="Freeform 9" id="9"/>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0" id="10"/>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2" id="12"/>
            <p:cNvGrpSpPr/>
            <p:nvPr/>
          </p:nvGrpSpPr>
          <p:grpSpPr>
            <a:xfrm rot="0">
              <a:off x="16468734" y="443664"/>
              <a:ext cx="5380395" cy="969444"/>
              <a:chOff x="0" y="0"/>
              <a:chExt cx="2255512" cy="406400"/>
            </a:xfrm>
          </p:grpSpPr>
          <p:sp>
            <p:nvSpPr>
              <p:cNvPr name="Freeform 13" id="13"/>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4" id="14"/>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6" id="16"/>
            <p:cNvGrpSpPr/>
            <p:nvPr/>
          </p:nvGrpSpPr>
          <p:grpSpPr>
            <a:xfrm rot="0">
              <a:off x="14828167" y="283406"/>
              <a:ext cx="1277412" cy="12774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8" id="18"/>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9" id="19"/>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0" id="20"/>
          <p:cNvGrpSpPr/>
          <p:nvPr/>
        </p:nvGrpSpPr>
        <p:grpSpPr>
          <a:xfrm rot="0">
            <a:off x="11188534" y="3793939"/>
            <a:ext cx="5881448" cy="3557192"/>
            <a:chOff x="0" y="0"/>
            <a:chExt cx="727969" cy="440287"/>
          </a:xfrm>
        </p:grpSpPr>
        <p:sp>
          <p:nvSpPr>
            <p:cNvPr name="Freeform 21" id="21"/>
            <p:cNvSpPr/>
            <p:nvPr/>
          </p:nvSpPr>
          <p:spPr>
            <a:xfrm flipH="false" flipV="false" rot="0">
              <a:off x="0" y="0"/>
              <a:ext cx="727969" cy="440287"/>
            </a:xfrm>
            <a:custGeom>
              <a:avLst/>
              <a:gdLst/>
              <a:ahLst/>
              <a:cxnLst/>
              <a:rect r="r" b="b" t="t" l="l"/>
              <a:pathLst>
                <a:path h="440287" w="727969">
                  <a:moveTo>
                    <a:pt x="0" y="0"/>
                  </a:moveTo>
                  <a:lnTo>
                    <a:pt x="727969" y="0"/>
                  </a:lnTo>
                  <a:lnTo>
                    <a:pt x="727969" y="440287"/>
                  </a:lnTo>
                  <a:lnTo>
                    <a:pt x="0" y="440287"/>
                  </a:lnTo>
                  <a:close/>
                </a:path>
              </a:pathLst>
            </a:custGeom>
            <a:blipFill>
              <a:blip r:embed="rId6"/>
              <a:stretch>
                <a:fillRect l="-2921" t="0" r="-2921"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337116"/>
            <a:ext cx="16386847" cy="1227065"/>
            <a:chOff x="0" y="0"/>
            <a:chExt cx="21849129" cy="1636087"/>
          </a:xfrm>
        </p:grpSpPr>
        <p:sp>
          <p:nvSpPr>
            <p:cNvPr name="Freeform 4" id="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5" id="5"/>
            <p:cNvGrpSpPr/>
            <p:nvPr/>
          </p:nvGrpSpPr>
          <p:grpSpPr>
            <a:xfrm rot="0">
              <a:off x="11378892" y="443664"/>
              <a:ext cx="3080976" cy="969444"/>
              <a:chOff x="0" y="0"/>
              <a:chExt cx="1291574" cy="406400"/>
            </a:xfrm>
          </p:grpSpPr>
          <p:sp>
            <p:nvSpPr>
              <p:cNvPr name="Freeform 6" id="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7" id="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9" id="9"/>
            <p:cNvGrpSpPr/>
            <p:nvPr/>
          </p:nvGrpSpPr>
          <p:grpSpPr>
            <a:xfrm rot="0">
              <a:off x="16468734" y="443664"/>
              <a:ext cx="5380395" cy="969444"/>
              <a:chOff x="0" y="0"/>
              <a:chExt cx="2255512" cy="406400"/>
            </a:xfrm>
          </p:grpSpPr>
          <p:sp>
            <p:nvSpPr>
              <p:cNvPr name="Freeform 10" id="1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3" id="13"/>
            <p:cNvGrpSpPr/>
            <p:nvPr/>
          </p:nvGrpSpPr>
          <p:grpSpPr>
            <a:xfrm rot="0">
              <a:off x="14828167" y="283406"/>
              <a:ext cx="1277412" cy="12774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5" id="1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6" id="1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7" id="17"/>
          <p:cNvSpPr/>
          <p:nvPr/>
        </p:nvSpPr>
        <p:spPr>
          <a:xfrm flipH="false" flipV="false" rot="0">
            <a:off x="3177943" y="3777189"/>
            <a:ext cx="11301259" cy="5481111"/>
          </a:xfrm>
          <a:custGeom>
            <a:avLst/>
            <a:gdLst/>
            <a:ahLst/>
            <a:cxnLst/>
            <a:rect r="r" b="b" t="t" l="l"/>
            <a:pathLst>
              <a:path h="5481111" w="11301259">
                <a:moveTo>
                  <a:pt x="0" y="0"/>
                </a:moveTo>
                <a:lnTo>
                  <a:pt x="11301259" y="0"/>
                </a:lnTo>
                <a:lnTo>
                  <a:pt x="11301259" y="5481111"/>
                </a:lnTo>
                <a:lnTo>
                  <a:pt x="0" y="5481111"/>
                </a:lnTo>
                <a:lnTo>
                  <a:pt x="0" y="0"/>
                </a:lnTo>
                <a:close/>
              </a:path>
            </a:pathLst>
          </a:custGeom>
          <a:blipFill>
            <a:blip r:embed="rId6"/>
            <a:stretch>
              <a:fillRect l="0" t="0" r="0" b="0"/>
            </a:stretch>
          </a:blipFill>
        </p:spPr>
      </p:sp>
      <p:sp>
        <p:nvSpPr>
          <p:cNvPr name="TextBox 18" id="18"/>
          <p:cNvSpPr txBox="true"/>
          <p:nvPr/>
        </p:nvSpPr>
        <p:spPr>
          <a:xfrm rot="0">
            <a:off x="1028700" y="2226597"/>
            <a:ext cx="7799872"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VISUALIZATION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337116"/>
            <a:ext cx="16386847" cy="1227065"/>
            <a:chOff x="0" y="0"/>
            <a:chExt cx="21849129" cy="1636087"/>
          </a:xfrm>
        </p:grpSpPr>
        <p:sp>
          <p:nvSpPr>
            <p:cNvPr name="Freeform 4" id="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5" id="5"/>
            <p:cNvGrpSpPr/>
            <p:nvPr/>
          </p:nvGrpSpPr>
          <p:grpSpPr>
            <a:xfrm rot="0">
              <a:off x="11378892" y="443664"/>
              <a:ext cx="3080976" cy="969444"/>
              <a:chOff x="0" y="0"/>
              <a:chExt cx="1291574" cy="406400"/>
            </a:xfrm>
          </p:grpSpPr>
          <p:sp>
            <p:nvSpPr>
              <p:cNvPr name="Freeform 6" id="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7" id="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9" id="9"/>
            <p:cNvGrpSpPr/>
            <p:nvPr/>
          </p:nvGrpSpPr>
          <p:grpSpPr>
            <a:xfrm rot="0">
              <a:off x="16468734" y="443664"/>
              <a:ext cx="5380395" cy="969444"/>
              <a:chOff x="0" y="0"/>
              <a:chExt cx="2255512" cy="406400"/>
            </a:xfrm>
          </p:grpSpPr>
          <p:sp>
            <p:nvSpPr>
              <p:cNvPr name="Freeform 10" id="1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3" id="13"/>
            <p:cNvGrpSpPr/>
            <p:nvPr/>
          </p:nvGrpSpPr>
          <p:grpSpPr>
            <a:xfrm rot="0">
              <a:off x="14828167" y="283406"/>
              <a:ext cx="1277412" cy="12774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5" id="1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6" id="1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7" id="17"/>
          <p:cNvSpPr/>
          <p:nvPr/>
        </p:nvSpPr>
        <p:spPr>
          <a:xfrm flipH="false" flipV="false" rot="0">
            <a:off x="1471129" y="4062294"/>
            <a:ext cx="14884816" cy="5060837"/>
          </a:xfrm>
          <a:custGeom>
            <a:avLst/>
            <a:gdLst/>
            <a:ahLst/>
            <a:cxnLst/>
            <a:rect r="r" b="b" t="t" l="l"/>
            <a:pathLst>
              <a:path h="5060837" w="14884816">
                <a:moveTo>
                  <a:pt x="0" y="0"/>
                </a:moveTo>
                <a:lnTo>
                  <a:pt x="14884816" y="0"/>
                </a:lnTo>
                <a:lnTo>
                  <a:pt x="14884816" y="5060837"/>
                </a:lnTo>
                <a:lnTo>
                  <a:pt x="0" y="5060837"/>
                </a:lnTo>
                <a:lnTo>
                  <a:pt x="0" y="0"/>
                </a:lnTo>
                <a:close/>
              </a:path>
            </a:pathLst>
          </a:custGeom>
          <a:blipFill>
            <a:blip r:embed="rId6"/>
            <a:stretch>
              <a:fillRect l="0" t="0" r="0" b="0"/>
            </a:stretch>
          </a:blipFill>
        </p:spPr>
      </p:sp>
      <p:sp>
        <p:nvSpPr>
          <p:cNvPr name="TextBox 18" id="18"/>
          <p:cNvSpPr txBox="true"/>
          <p:nvPr/>
        </p:nvSpPr>
        <p:spPr>
          <a:xfrm rot="0">
            <a:off x="1028700" y="2226597"/>
            <a:ext cx="7799872" cy="1327106"/>
          </a:xfrm>
          <a:prstGeom prst="rect">
            <a:avLst/>
          </a:prstGeom>
        </p:spPr>
        <p:txBody>
          <a:bodyPr anchor="t" rtlCol="false" tIns="0" lIns="0" bIns="0" rIns="0">
            <a:spAutoFit/>
          </a:bodyPr>
          <a:lstStyle/>
          <a:p>
            <a:pPr algn="l">
              <a:lnSpc>
                <a:spcPts val="10507"/>
              </a:lnSpc>
              <a:spcBef>
                <a:spcPct val="0"/>
              </a:spcBef>
            </a:pPr>
            <a:r>
              <a:rPr lang="en-US" b="true" sz="8339" spc="-466">
                <a:solidFill>
                  <a:srgbClr val="FFFFFF"/>
                </a:solidFill>
                <a:latin typeface="Open Sauce Bold"/>
                <a:ea typeface="Open Sauce Bold"/>
                <a:cs typeface="Open Sauce Bold"/>
                <a:sym typeface="Open Sauce Bold"/>
              </a:rPr>
              <a:t>VISUALIZATION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3598516" y="3784622"/>
            <a:ext cx="11090967" cy="2660606"/>
          </a:xfrm>
          <a:prstGeom prst="rect">
            <a:avLst/>
          </a:prstGeom>
        </p:spPr>
        <p:txBody>
          <a:bodyPr anchor="t" rtlCol="false" tIns="0" lIns="0" bIns="0" rIns="0">
            <a:spAutoFit/>
          </a:bodyPr>
          <a:lstStyle/>
          <a:p>
            <a:pPr algn="ctr">
              <a:lnSpc>
                <a:spcPts val="10507"/>
              </a:lnSpc>
              <a:spcBef>
                <a:spcPct val="0"/>
              </a:spcBef>
            </a:pPr>
            <a:r>
              <a:rPr lang="en-US" b="true" sz="8339" spc="-466">
                <a:solidFill>
                  <a:srgbClr val="FFFFFF"/>
                </a:solidFill>
                <a:latin typeface="Open Sauce Bold"/>
                <a:ea typeface="Open Sauce Bold"/>
                <a:cs typeface="Open Sauce Bold"/>
                <a:sym typeface="Open Sauce Bold"/>
              </a:rPr>
              <a:t>KOMPARASI PERFORMA KATEGORI</a:t>
            </a:r>
          </a:p>
        </p:txBody>
      </p:sp>
      <p:grpSp>
        <p:nvGrpSpPr>
          <p:cNvPr name="Group 4" id="4"/>
          <p:cNvGrpSpPr/>
          <p:nvPr/>
        </p:nvGrpSpPr>
        <p:grpSpPr>
          <a:xfrm rot="0">
            <a:off x="1028700" y="337116"/>
            <a:ext cx="16386847" cy="1227065"/>
            <a:chOff x="0" y="0"/>
            <a:chExt cx="21849129" cy="1636087"/>
          </a:xfrm>
        </p:grpSpPr>
        <p:sp>
          <p:nvSpPr>
            <p:cNvPr name="Freeform 5" id="5"/>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6" id="6"/>
            <p:cNvGrpSpPr/>
            <p:nvPr/>
          </p:nvGrpSpPr>
          <p:grpSpPr>
            <a:xfrm rot="0">
              <a:off x="11378892" y="443664"/>
              <a:ext cx="3080976" cy="969444"/>
              <a:chOff x="0" y="0"/>
              <a:chExt cx="1291574" cy="406400"/>
            </a:xfrm>
          </p:grpSpPr>
          <p:sp>
            <p:nvSpPr>
              <p:cNvPr name="Freeform 7" id="7"/>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8" id="8"/>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0" id="10"/>
            <p:cNvGrpSpPr/>
            <p:nvPr/>
          </p:nvGrpSpPr>
          <p:grpSpPr>
            <a:xfrm rot="0">
              <a:off x="16468734" y="443664"/>
              <a:ext cx="5380395" cy="969444"/>
              <a:chOff x="0" y="0"/>
              <a:chExt cx="2255512" cy="406400"/>
            </a:xfrm>
          </p:grpSpPr>
          <p:sp>
            <p:nvSpPr>
              <p:cNvPr name="Freeform 11" id="11"/>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2" id="12"/>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4" id="14"/>
            <p:cNvGrpSpPr/>
            <p:nvPr/>
          </p:nvGrpSpPr>
          <p:grpSpPr>
            <a:xfrm rot="0">
              <a:off x="14828167" y="283406"/>
              <a:ext cx="1277412" cy="127741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6" id="16"/>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7" id="17"/>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337116"/>
            <a:ext cx="16386847" cy="1227065"/>
            <a:chOff x="0" y="0"/>
            <a:chExt cx="21849129" cy="1636087"/>
          </a:xfrm>
        </p:grpSpPr>
        <p:sp>
          <p:nvSpPr>
            <p:cNvPr name="Freeform 4" id="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5" id="5"/>
            <p:cNvGrpSpPr/>
            <p:nvPr/>
          </p:nvGrpSpPr>
          <p:grpSpPr>
            <a:xfrm rot="0">
              <a:off x="11378892" y="443664"/>
              <a:ext cx="3080976" cy="969444"/>
              <a:chOff x="0" y="0"/>
              <a:chExt cx="1291574" cy="406400"/>
            </a:xfrm>
          </p:grpSpPr>
          <p:sp>
            <p:nvSpPr>
              <p:cNvPr name="Freeform 6" id="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7" id="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9" id="9"/>
            <p:cNvGrpSpPr/>
            <p:nvPr/>
          </p:nvGrpSpPr>
          <p:grpSpPr>
            <a:xfrm rot="0">
              <a:off x="16468734" y="443664"/>
              <a:ext cx="5380395" cy="969444"/>
              <a:chOff x="0" y="0"/>
              <a:chExt cx="2255512" cy="406400"/>
            </a:xfrm>
          </p:grpSpPr>
          <p:sp>
            <p:nvSpPr>
              <p:cNvPr name="Freeform 10" id="1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3" id="13"/>
            <p:cNvGrpSpPr/>
            <p:nvPr/>
          </p:nvGrpSpPr>
          <p:grpSpPr>
            <a:xfrm rot="0">
              <a:off x="14828167" y="283406"/>
              <a:ext cx="1277412" cy="12774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5" id="1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6" id="1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17" id="17"/>
          <p:cNvSpPr txBox="true"/>
          <p:nvPr/>
        </p:nvSpPr>
        <p:spPr>
          <a:xfrm rot="0">
            <a:off x="2278610" y="2283106"/>
            <a:ext cx="13887027" cy="726842"/>
          </a:xfrm>
          <a:prstGeom prst="rect">
            <a:avLst/>
          </a:prstGeom>
        </p:spPr>
        <p:txBody>
          <a:bodyPr anchor="t" rtlCol="false" tIns="0" lIns="0" bIns="0" rIns="0">
            <a:spAutoFit/>
          </a:bodyPr>
          <a:lstStyle/>
          <a:p>
            <a:pPr algn="ctr">
              <a:lnSpc>
                <a:spcPts val="5813"/>
              </a:lnSpc>
              <a:spcBef>
                <a:spcPct val="0"/>
              </a:spcBef>
            </a:pPr>
            <a:r>
              <a:rPr lang="en-US" b="true" sz="4613" spc="-258">
                <a:solidFill>
                  <a:srgbClr val="FFFFFF"/>
                </a:solidFill>
                <a:latin typeface="Open Sauce Bold"/>
                <a:ea typeface="Open Sauce Bold"/>
                <a:cs typeface="Open Sauce Bold"/>
                <a:sym typeface="Open Sauce Bold"/>
              </a:rPr>
              <a:t>ANALISIS MAKRO: HIGH VOLUME VS HIGH VALUE</a:t>
            </a:r>
          </a:p>
        </p:txBody>
      </p:sp>
      <p:pic>
        <p:nvPicPr>
          <p:cNvPr name="Picture 18" id="18"/>
          <p:cNvPicPr>
            <a:picLocks noChangeAspect="true"/>
          </p:cNvPicPr>
          <p:nvPr/>
        </p:nvPicPr>
        <p:blipFill>
          <a:blip r:embed="rId6"/>
          <a:stretch>
            <a:fillRect/>
          </a:stretch>
        </p:blipFill>
        <p:spPr>
          <a:xfrm rot="0">
            <a:off x="295442" y="3351662"/>
            <a:ext cx="4814842" cy="4499162"/>
          </a:xfrm>
          <a:prstGeom prst="rect">
            <a:avLst/>
          </a:prstGeom>
        </p:spPr>
      </p:pic>
      <p:pic>
        <p:nvPicPr>
          <p:cNvPr name="Picture 19" id="19"/>
          <p:cNvPicPr>
            <a:picLocks noChangeAspect="true"/>
          </p:cNvPicPr>
          <p:nvPr/>
        </p:nvPicPr>
        <p:blipFill>
          <a:blip r:embed="rId7"/>
          <a:stretch>
            <a:fillRect/>
          </a:stretch>
        </p:blipFill>
        <p:spPr>
          <a:xfrm rot="0">
            <a:off x="13025945" y="5301886"/>
            <a:ext cx="5155247" cy="4817249"/>
          </a:xfrm>
          <a:prstGeom prst="rect">
            <a:avLst/>
          </a:prstGeom>
        </p:spPr>
      </p:pic>
      <p:grpSp>
        <p:nvGrpSpPr>
          <p:cNvPr name="Group 20" id="20"/>
          <p:cNvGrpSpPr/>
          <p:nvPr/>
        </p:nvGrpSpPr>
        <p:grpSpPr>
          <a:xfrm rot="0">
            <a:off x="4373006" y="3752899"/>
            <a:ext cx="7508657" cy="1520772"/>
            <a:chOff x="0" y="0"/>
            <a:chExt cx="2885155" cy="584347"/>
          </a:xfrm>
        </p:grpSpPr>
        <p:sp>
          <p:nvSpPr>
            <p:cNvPr name="Freeform 21" id="21"/>
            <p:cNvSpPr/>
            <p:nvPr/>
          </p:nvSpPr>
          <p:spPr>
            <a:xfrm flipH="false" flipV="false" rot="0">
              <a:off x="0" y="0"/>
              <a:ext cx="2885155" cy="584347"/>
            </a:xfrm>
            <a:custGeom>
              <a:avLst/>
              <a:gdLst/>
              <a:ahLst/>
              <a:cxnLst/>
              <a:rect r="r" b="b" t="t" l="l"/>
              <a:pathLst>
                <a:path h="584347" w="2885155">
                  <a:moveTo>
                    <a:pt x="52584" y="0"/>
                  </a:moveTo>
                  <a:lnTo>
                    <a:pt x="2832571" y="0"/>
                  </a:lnTo>
                  <a:cubicBezTo>
                    <a:pt x="2846517" y="0"/>
                    <a:pt x="2859892" y="5540"/>
                    <a:pt x="2869754" y="15402"/>
                  </a:cubicBezTo>
                  <a:cubicBezTo>
                    <a:pt x="2879615" y="25263"/>
                    <a:pt x="2885155" y="38638"/>
                    <a:pt x="2885155" y="52584"/>
                  </a:cubicBezTo>
                  <a:lnTo>
                    <a:pt x="2885155" y="531763"/>
                  </a:lnTo>
                  <a:cubicBezTo>
                    <a:pt x="2885155" y="545709"/>
                    <a:pt x="2879615" y="559084"/>
                    <a:pt x="2869754" y="568946"/>
                  </a:cubicBezTo>
                  <a:cubicBezTo>
                    <a:pt x="2859892" y="578807"/>
                    <a:pt x="2846517" y="584347"/>
                    <a:pt x="2832571" y="584347"/>
                  </a:cubicBezTo>
                  <a:lnTo>
                    <a:pt x="52584" y="584347"/>
                  </a:lnTo>
                  <a:cubicBezTo>
                    <a:pt x="23543" y="584347"/>
                    <a:pt x="0" y="560804"/>
                    <a:pt x="0" y="531763"/>
                  </a:cubicBezTo>
                  <a:lnTo>
                    <a:pt x="0" y="52584"/>
                  </a:lnTo>
                  <a:cubicBezTo>
                    <a:pt x="0" y="23543"/>
                    <a:pt x="23543" y="0"/>
                    <a:pt x="52584"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2" id="22"/>
            <p:cNvSpPr txBox="true"/>
            <p:nvPr/>
          </p:nvSpPr>
          <p:spPr>
            <a:xfrm>
              <a:off x="0" y="28575"/>
              <a:ext cx="2885155" cy="555772"/>
            </a:xfrm>
            <a:prstGeom prst="rect">
              <a:avLst/>
            </a:prstGeom>
          </p:spPr>
          <p:txBody>
            <a:bodyPr anchor="ctr" rtlCol="false" tIns="46740" lIns="46740" bIns="46740" rIns="46740"/>
            <a:lstStyle/>
            <a:p>
              <a:pPr algn="l" marL="388620" indent="-194310" lvl="1">
                <a:lnSpc>
                  <a:spcPts val="1890"/>
                </a:lnSpc>
                <a:buFont typeface="Arial"/>
                <a:buChar char="•"/>
              </a:pPr>
              <a:r>
                <a:rPr lang="en-US" sz="1800" spc="53">
                  <a:solidFill>
                    <a:srgbClr val="FFFFFF"/>
                  </a:solidFill>
                  <a:latin typeface="Aileron"/>
                  <a:ea typeface="Aileron"/>
                  <a:cs typeface="Aileron"/>
                  <a:sym typeface="Aileron"/>
                </a:rPr>
                <a:t>Total Listing (Varian): 20.354 Produk</a:t>
              </a:r>
            </a:p>
            <a:p>
              <a:pPr algn="l" marL="388620" indent="-194310" lvl="1">
                <a:lnSpc>
                  <a:spcPts val="1890"/>
                </a:lnSpc>
                <a:buFont typeface="Arial"/>
                <a:buChar char="•"/>
              </a:pPr>
              <a:r>
                <a:rPr lang="en-US" sz="1800" spc="53">
                  <a:solidFill>
                    <a:srgbClr val="FFFFFF"/>
                  </a:solidFill>
                  <a:latin typeface="Aileron"/>
                  <a:ea typeface="Aileron"/>
                  <a:cs typeface="Aileron"/>
                  <a:sym typeface="Aileron"/>
                </a:rPr>
                <a:t>Rata-Rata Harga: Rp3,72 Juta</a:t>
              </a:r>
            </a:p>
            <a:p>
              <a:pPr algn="l" marL="388620" indent="-194310" lvl="1">
                <a:lnSpc>
                  <a:spcPts val="1890"/>
                </a:lnSpc>
                <a:buFont typeface="Arial"/>
                <a:buChar char="•"/>
              </a:pPr>
              <a:r>
                <a:rPr lang="en-US" sz="1800" spc="53">
                  <a:solidFill>
                    <a:srgbClr val="FFFFFF"/>
                  </a:solidFill>
                  <a:latin typeface="Aileron"/>
                  <a:ea typeface="Aileron"/>
                  <a:cs typeface="Aileron"/>
                  <a:sym typeface="Aileron"/>
                </a:rPr>
                <a:t>Pasar HP sangat likuid dengan kuantitas penjualan terbesar, namun nilai rata-rata per produknya cenderung lebih rendah.</a:t>
              </a:r>
            </a:p>
          </p:txBody>
        </p:sp>
      </p:grpSp>
      <p:grpSp>
        <p:nvGrpSpPr>
          <p:cNvPr name="Group 23" id="23"/>
          <p:cNvGrpSpPr/>
          <p:nvPr/>
        </p:nvGrpSpPr>
        <p:grpSpPr>
          <a:xfrm rot="0">
            <a:off x="5536690" y="7097143"/>
            <a:ext cx="7697680" cy="1520772"/>
            <a:chOff x="0" y="0"/>
            <a:chExt cx="2957786" cy="584347"/>
          </a:xfrm>
        </p:grpSpPr>
        <p:sp>
          <p:nvSpPr>
            <p:cNvPr name="Freeform 24" id="24"/>
            <p:cNvSpPr/>
            <p:nvPr/>
          </p:nvSpPr>
          <p:spPr>
            <a:xfrm flipH="false" flipV="false" rot="0">
              <a:off x="0" y="0"/>
              <a:ext cx="2957786" cy="584347"/>
            </a:xfrm>
            <a:custGeom>
              <a:avLst/>
              <a:gdLst/>
              <a:ahLst/>
              <a:cxnLst/>
              <a:rect r="r" b="b" t="t" l="l"/>
              <a:pathLst>
                <a:path h="584347" w="2957786">
                  <a:moveTo>
                    <a:pt x="51293" y="0"/>
                  </a:moveTo>
                  <a:lnTo>
                    <a:pt x="2906493" y="0"/>
                  </a:lnTo>
                  <a:cubicBezTo>
                    <a:pt x="2934821" y="0"/>
                    <a:pt x="2957786" y="22965"/>
                    <a:pt x="2957786" y="51293"/>
                  </a:cubicBezTo>
                  <a:lnTo>
                    <a:pt x="2957786" y="533054"/>
                  </a:lnTo>
                  <a:cubicBezTo>
                    <a:pt x="2957786" y="546658"/>
                    <a:pt x="2952382" y="559704"/>
                    <a:pt x="2942763" y="569324"/>
                  </a:cubicBezTo>
                  <a:cubicBezTo>
                    <a:pt x="2933143" y="578943"/>
                    <a:pt x="2920097" y="584347"/>
                    <a:pt x="2906493" y="584347"/>
                  </a:cubicBezTo>
                  <a:lnTo>
                    <a:pt x="51293" y="584347"/>
                  </a:lnTo>
                  <a:cubicBezTo>
                    <a:pt x="22965" y="584347"/>
                    <a:pt x="0" y="561382"/>
                    <a:pt x="0" y="533054"/>
                  </a:cubicBezTo>
                  <a:lnTo>
                    <a:pt x="0" y="51293"/>
                  </a:lnTo>
                  <a:cubicBezTo>
                    <a:pt x="0" y="22965"/>
                    <a:pt x="22965" y="0"/>
                    <a:pt x="5129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5" id="25"/>
            <p:cNvSpPr txBox="true"/>
            <p:nvPr/>
          </p:nvSpPr>
          <p:spPr>
            <a:xfrm>
              <a:off x="0" y="28575"/>
              <a:ext cx="2957786" cy="555772"/>
            </a:xfrm>
            <a:prstGeom prst="rect">
              <a:avLst/>
            </a:prstGeom>
          </p:spPr>
          <p:txBody>
            <a:bodyPr anchor="ctr" rtlCol="false" tIns="46740" lIns="46740" bIns="46740" rIns="46740"/>
            <a:lstStyle/>
            <a:p>
              <a:pPr algn="l" marL="388620" indent="-194310" lvl="1">
                <a:lnSpc>
                  <a:spcPts val="1890"/>
                </a:lnSpc>
                <a:buFont typeface="Arial"/>
                <a:buChar char="•"/>
              </a:pPr>
              <a:r>
                <a:rPr lang="en-US" sz="1800" spc="53">
                  <a:solidFill>
                    <a:srgbClr val="FFFFFF"/>
                  </a:solidFill>
                  <a:latin typeface="Aileron"/>
                  <a:ea typeface="Aileron"/>
                  <a:cs typeface="Aileron"/>
                  <a:sym typeface="Aileron"/>
                </a:rPr>
                <a:t>Total Terjual: 1,17 Juta Unit</a:t>
              </a:r>
            </a:p>
            <a:p>
              <a:pPr algn="l" marL="388620" indent="-194310" lvl="1">
                <a:lnSpc>
                  <a:spcPts val="1890"/>
                </a:lnSpc>
                <a:buFont typeface="Arial"/>
                <a:buChar char="•"/>
              </a:pPr>
              <a:r>
                <a:rPr lang="en-US" sz="1800" spc="53">
                  <a:solidFill>
                    <a:srgbClr val="FFFFFF"/>
                  </a:solidFill>
                  <a:latin typeface="Aileron"/>
                  <a:ea typeface="Aileron"/>
                  <a:cs typeface="Aileron"/>
                  <a:sym typeface="Aileron"/>
                </a:rPr>
                <a:t>Total Listing (Varian): </a:t>
              </a:r>
              <a:r>
                <a:rPr lang="en-US" sz="1800" spc="53">
                  <a:solidFill>
                    <a:srgbClr val="FFFFFF"/>
                  </a:solidFill>
                  <a:latin typeface="Aileron"/>
                  <a:ea typeface="Aileron"/>
                  <a:cs typeface="Aileron"/>
                  <a:sym typeface="Aileron"/>
                </a:rPr>
                <a:t>15.096 Produk</a:t>
              </a:r>
            </a:p>
            <a:p>
              <a:pPr algn="l" marL="388620" indent="-194310" lvl="1">
                <a:lnSpc>
                  <a:spcPts val="1890"/>
                </a:lnSpc>
                <a:buFont typeface="Arial"/>
                <a:buChar char="•"/>
              </a:pPr>
              <a:r>
                <a:rPr lang="en-US" sz="1800" spc="53">
                  <a:solidFill>
                    <a:srgbClr val="FFFFFF"/>
                  </a:solidFill>
                  <a:latin typeface="Aileron"/>
                  <a:ea typeface="Aileron"/>
                  <a:cs typeface="Aileron"/>
                  <a:sym typeface="Aileron"/>
                </a:rPr>
                <a:t>Rata-Rata Harga: Rp8,49 Juta</a:t>
              </a:r>
            </a:p>
            <a:p>
              <a:pPr algn="l" marL="388620" indent="-194310" lvl="1">
                <a:lnSpc>
                  <a:spcPts val="1890"/>
                </a:lnSpc>
                <a:buFont typeface="Arial"/>
                <a:buChar char="•"/>
              </a:pPr>
              <a:r>
                <a:rPr lang="en-US" sz="1800" spc="53">
                  <a:solidFill>
                    <a:srgbClr val="FFFFFF"/>
                  </a:solidFill>
                  <a:latin typeface="Aileron"/>
                  <a:ea typeface="Aileron"/>
                  <a:cs typeface="Aileron"/>
                  <a:sym typeface="Aileron"/>
                </a:rPr>
                <a:t>Laptop memimpin total omset karena didorong oleh tingginya nilai rata-rata per produk yang mencapai Rp8,49 Juta.</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337116"/>
            <a:ext cx="16386847" cy="1227065"/>
            <a:chOff x="0" y="0"/>
            <a:chExt cx="21849129" cy="1636087"/>
          </a:xfrm>
        </p:grpSpPr>
        <p:sp>
          <p:nvSpPr>
            <p:cNvPr name="Freeform 4" id="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5" id="5"/>
            <p:cNvGrpSpPr/>
            <p:nvPr/>
          </p:nvGrpSpPr>
          <p:grpSpPr>
            <a:xfrm rot="0">
              <a:off x="11378892" y="443664"/>
              <a:ext cx="3080976" cy="969444"/>
              <a:chOff x="0" y="0"/>
              <a:chExt cx="1291574" cy="406400"/>
            </a:xfrm>
          </p:grpSpPr>
          <p:sp>
            <p:nvSpPr>
              <p:cNvPr name="Freeform 6" id="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7" id="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9" id="9"/>
            <p:cNvGrpSpPr/>
            <p:nvPr/>
          </p:nvGrpSpPr>
          <p:grpSpPr>
            <a:xfrm rot="0">
              <a:off x="16468734" y="443664"/>
              <a:ext cx="5380395" cy="969444"/>
              <a:chOff x="0" y="0"/>
              <a:chExt cx="2255512" cy="406400"/>
            </a:xfrm>
          </p:grpSpPr>
          <p:sp>
            <p:nvSpPr>
              <p:cNvPr name="Freeform 10" id="1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1" id="1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3" id="13"/>
            <p:cNvGrpSpPr/>
            <p:nvPr/>
          </p:nvGrpSpPr>
          <p:grpSpPr>
            <a:xfrm rot="0">
              <a:off x="14828167" y="283406"/>
              <a:ext cx="1277412" cy="127741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5" id="1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6" id="1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AutoShape 17" id="17"/>
          <p:cNvSpPr/>
          <p:nvPr/>
        </p:nvSpPr>
        <p:spPr>
          <a:xfrm>
            <a:off x="9144000" y="4038961"/>
            <a:ext cx="0" cy="4927173"/>
          </a:xfrm>
          <a:prstGeom prst="line">
            <a:avLst/>
          </a:prstGeom>
          <a:ln cap="flat" w="76200">
            <a:solidFill>
              <a:srgbClr val="FFFFFF"/>
            </a:solidFill>
            <a:prstDash val="solid"/>
            <a:headEnd type="none" len="sm" w="sm"/>
            <a:tailEnd type="none" len="sm" w="sm"/>
          </a:ln>
        </p:spPr>
      </p:sp>
      <p:grpSp>
        <p:nvGrpSpPr>
          <p:cNvPr name="Group 18" id="18"/>
          <p:cNvGrpSpPr/>
          <p:nvPr/>
        </p:nvGrpSpPr>
        <p:grpSpPr>
          <a:xfrm rot="0">
            <a:off x="9008091" y="4564091"/>
            <a:ext cx="320280" cy="32028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57150"/>
              <a:ext cx="660400" cy="679450"/>
            </a:xfrm>
            <a:prstGeom prst="rect">
              <a:avLst/>
            </a:prstGeom>
          </p:spPr>
          <p:txBody>
            <a:bodyPr anchor="ctr" rtlCol="false" tIns="50800" lIns="50800" bIns="50800" rIns="50800"/>
            <a:lstStyle/>
            <a:p>
              <a:pPr algn="ctr">
                <a:lnSpc>
                  <a:spcPts val="3024"/>
                </a:lnSpc>
              </a:pPr>
            </a:p>
          </p:txBody>
        </p:sp>
      </p:grpSp>
      <p:grpSp>
        <p:nvGrpSpPr>
          <p:cNvPr name="Group 21" id="21"/>
          <p:cNvGrpSpPr/>
          <p:nvPr/>
        </p:nvGrpSpPr>
        <p:grpSpPr>
          <a:xfrm rot="0">
            <a:off x="3160202" y="5594457"/>
            <a:ext cx="1280504" cy="3394411"/>
            <a:chOff x="0" y="0"/>
            <a:chExt cx="492026" cy="1304281"/>
          </a:xfrm>
        </p:grpSpPr>
        <p:sp>
          <p:nvSpPr>
            <p:cNvPr name="Freeform 22" id="22"/>
            <p:cNvSpPr/>
            <p:nvPr/>
          </p:nvSpPr>
          <p:spPr>
            <a:xfrm flipH="false" flipV="false" rot="0">
              <a:off x="0" y="0"/>
              <a:ext cx="492026" cy="1304281"/>
            </a:xfrm>
            <a:custGeom>
              <a:avLst/>
              <a:gdLst/>
              <a:ahLst/>
              <a:cxnLst/>
              <a:rect r="r" b="b" t="t" l="l"/>
              <a:pathLst>
                <a:path h="1304281" w="492026">
                  <a:moveTo>
                    <a:pt x="246013" y="0"/>
                  </a:moveTo>
                  <a:lnTo>
                    <a:pt x="246013" y="0"/>
                  </a:lnTo>
                  <a:cubicBezTo>
                    <a:pt x="311260" y="0"/>
                    <a:pt x="373834" y="25919"/>
                    <a:pt x="419970" y="72055"/>
                  </a:cubicBezTo>
                  <a:cubicBezTo>
                    <a:pt x="466107" y="118192"/>
                    <a:pt x="492026" y="180766"/>
                    <a:pt x="492026" y="246013"/>
                  </a:cubicBezTo>
                  <a:lnTo>
                    <a:pt x="492026" y="1058269"/>
                  </a:lnTo>
                  <a:cubicBezTo>
                    <a:pt x="492026" y="1123515"/>
                    <a:pt x="466107" y="1186090"/>
                    <a:pt x="419970" y="1232226"/>
                  </a:cubicBezTo>
                  <a:cubicBezTo>
                    <a:pt x="373834" y="1278362"/>
                    <a:pt x="311260" y="1304281"/>
                    <a:pt x="246013" y="1304281"/>
                  </a:cubicBezTo>
                  <a:lnTo>
                    <a:pt x="246013" y="1304281"/>
                  </a:lnTo>
                  <a:cubicBezTo>
                    <a:pt x="180766" y="1304281"/>
                    <a:pt x="118192" y="1278362"/>
                    <a:pt x="72055" y="1232226"/>
                  </a:cubicBezTo>
                  <a:cubicBezTo>
                    <a:pt x="25919" y="1186090"/>
                    <a:pt x="0" y="1123515"/>
                    <a:pt x="0" y="1058269"/>
                  </a:cubicBezTo>
                  <a:lnTo>
                    <a:pt x="0" y="246013"/>
                  </a:lnTo>
                  <a:cubicBezTo>
                    <a:pt x="0" y="180766"/>
                    <a:pt x="25919" y="118192"/>
                    <a:pt x="72055" y="72055"/>
                  </a:cubicBezTo>
                  <a:cubicBezTo>
                    <a:pt x="118192" y="25919"/>
                    <a:pt x="180766" y="0"/>
                    <a:pt x="24601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3" id="23"/>
            <p:cNvSpPr txBox="true"/>
            <p:nvPr/>
          </p:nvSpPr>
          <p:spPr>
            <a:xfrm>
              <a:off x="0" y="85725"/>
              <a:ext cx="492026" cy="1218556"/>
            </a:xfrm>
            <a:prstGeom prst="rect">
              <a:avLst/>
            </a:prstGeom>
          </p:spPr>
          <p:txBody>
            <a:bodyPr anchor="ctr" rtlCol="false" tIns="46740" lIns="46740" bIns="46740" rIns="46740"/>
            <a:lstStyle/>
            <a:p>
              <a:pPr algn="ctr">
                <a:lnSpc>
                  <a:spcPts val="2218"/>
                </a:lnSpc>
              </a:pPr>
              <a:r>
                <a:rPr lang="en-US" b="true" sz="2609" spc="78">
                  <a:solidFill>
                    <a:srgbClr val="FFFFFF"/>
                  </a:solidFill>
                  <a:latin typeface="Aileron Ultra-Bold"/>
                  <a:ea typeface="Aileron Ultra-Bold"/>
                  <a:cs typeface="Aileron Ultra-Bold"/>
                  <a:sym typeface="Aileron Ultra-Bold"/>
                </a:rPr>
                <a:t>1,38 Jt </a:t>
              </a:r>
            </a:p>
          </p:txBody>
        </p:sp>
      </p:grpSp>
      <p:grpSp>
        <p:nvGrpSpPr>
          <p:cNvPr name="Group 24" id="24"/>
          <p:cNvGrpSpPr/>
          <p:nvPr/>
        </p:nvGrpSpPr>
        <p:grpSpPr>
          <a:xfrm rot="0">
            <a:off x="3311967" y="5304244"/>
            <a:ext cx="976975" cy="976975"/>
            <a:chOff x="0" y="0"/>
            <a:chExt cx="13716000" cy="13716000"/>
          </a:xfrm>
        </p:grpSpPr>
        <p:sp>
          <p:nvSpPr>
            <p:cNvPr name="Freeform 25" id="25"/>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6"/>
              <a:stretch>
                <a:fillRect l="0" t="-15256" r="0" b="-5696"/>
              </a:stretch>
            </a:blipFill>
          </p:spPr>
        </p:sp>
      </p:grpSp>
      <p:grpSp>
        <p:nvGrpSpPr>
          <p:cNvPr name="Group 26" id="26"/>
          <p:cNvGrpSpPr/>
          <p:nvPr/>
        </p:nvGrpSpPr>
        <p:grpSpPr>
          <a:xfrm rot="0">
            <a:off x="6407244" y="6669399"/>
            <a:ext cx="1280504" cy="2319469"/>
            <a:chOff x="0" y="0"/>
            <a:chExt cx="492026" cy="891242"/>
          </a:xfrm>
        </p:grpSpPr>
        <p:sp>
          <p:nvSpPr>
            <p:cNvPr name="Freeform 27" id="27"/>
            <p:cNvSpPr/>
            <p:nvPr/>
          </p:nvSpPr>
          <p:spPr>
            <a:xfrm flipH="false" flipV="false" rot="0">
              <a:off x="0" y="0"/>
              <a:ext cx="492026" cy="891242"/>
            </a:xfrm>
            <a:custGeom>
              <a:avLst/>
              <a:gdLst/>
              <a:ahLst/>
              <a:cxnLst/>
              <a:rect r="r" b="b" t="t" l="l"/>
              <a:pathLst>
                <a:path h="891242" w="492026">
                  <a:moveTo>
                    <a:pt x="246013" y="0"/>
                  </a:moveTo>
                  <a:lnTo>
                    <a:pt x="246013" y="0"/>
                  </a:lnTo>
                  <a:cubicBezTo>
                    <a:pt x="311260" y="0"/>
                    <a:pt x="373834" y="25919"/>
                    <a:pt x="419970" y="72055"/>
                  </a:cubicBezTo>
                  <a:cubicBezTo>
                    <a:pt x="466107" y="118192"/>
                    <a:pt x="492026" y="180766"/>
                    <a:pt x="492026" y="246013"/>
                  </a:cubicBezTo>
                  <a:lnTo>
                    <a:pt x="492026" y="645229"/>
                  </a:lnTo>
                  <a:cubicBezTo>
                    <a:pt x="492026" y="710476"/>
                    <a:pt x="466107" y="773050"/>
                    <a:pt x="419970" y="819186"/>
                  </a:cubicBezTo>
                  <a:cubicBezTo>
                    <a:pt x="373834" y="865323"/>
                    <a:pt x="311260" y="891242"/>
                    <a:pt x="246013" y="891242"/>
                  </a:cubicBezTo>
                  <a:lnTo>
                    <a:pt x="246013" y="891242"/>
                  </a:lnTo>
                  <a:cubicBezTo>
                    <a:pt x="180766" y="891242"/>
                    <a:pt x="118192" y="865323"/>
                    <a:pt x="72055" y="819186"/>
                  </a:cubicBezTo>
                  <a:cubicBezTo>
                    <a:pt x="25919" y="773050"/>
                    <a:pt x="0" y="710476"/>
                    <a:pt x="0" y="645229"/>
                  </a:cubicBezTo>
                  <a:lnTo>
                    <a:pt x="0" y="246013"/>
                  </a:lnTo>
                  <a:cubicBezTo>
                    <a:pt x="0" y="180766"/>
                    <a:pt x="25919" y="118192"/>
                    <a:pt x="72055" y="72055"/>
                  </a:cubicBezTo>
                  <a:cubicBezTo>
                    <a:pt x="118192" y="25919"/>
                    <a:pt x="180766" y="0"/>
                    <a:pt x="24601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28" id="28"/>
            <p:cNvSpPr txBox="true"/>
            <p:nvPr/>
          </p:nvSpPr>
          <p:spPr>
            <a:xfrm>
              <a:off x="0" y="85725"/>
              <a:ext cx="492026" cy="805517"/>
            </a:xfrm>
            <a:prstGeom prst="rect">
              <a:avLst/>
            </a:prstGeom>
          </p:spPr>
          <p:txBody>
            <a:bodyPr anchor="ctr" rtlCol="false" tIns="46740" lIns="46740" bIns="46740" rIns="46740"/>
            <a:lstStyle/>
            <a:p>
              <a:pPr algn="ctr">
                <a:lnSpc>
                  <a:spcPts val="2218"/>
                </a:lnSpc>
              </a:pPr>
              <a:r>
                <a:rPr lang="en-US" b="true" sz="2609" spc="78">
                  <a:solidFill>
                    <a:srgbClr val="FFFFFF"/>
                  </a:solidFill>
                  <a:latin typeface="Aileron Ultra-Bold"/>
                  <a:ea typeface="Aileron Ultra-Bold"/>
                  <a:cs typeface="Aileron Ultra-Bold"/>
                  <a:sym typeface="Aileron Ultra-Bold"/>
                </a:rPr>
                <a:t>0,23 Jt</a:t>
              </a:r>
            </a:p>
          </p:txBody>
        </p:sp>
      </p:grpSp>
      <p:grpSp>
        <p:nvGrpSpPr>
          <p:cNvPr name="Group 29" id="29"/>
          <p:cNvGrpSpPr/>
          <p:nvPr/>
        </p:nvGrpSpPr>
        <p:grpSpPr>
          <a:xfrm rot="0">
            <a:off x="6588098" y="6313827"/>
            <a:ext cx="985955" cy="985955"/>
            <a:chOff x="0" y="0"/>
            <a:chExt cx="13716000" cy="13716000"/>
          </a:xfrm>
        </p:grpSpPr>
        <p:sp>
          <p:nvSpPr>
            <p:cNvPr name="Freeform 30" id="30"/>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7"/>
              <a:stretch>
                <a:fillRect l="0" t="0" r="0" b="0"/>
              </a:stretch>
            </a:blipFill>
          </p:spPr>
        </p:sp>
      </p:grpSp>
      <p:sp>
        <p:nvSpPr>
          <p:cNvPr name="Freeform 31" id="31"/>
          <p:cNvSpPr/>
          <p:nvPr/>
        </p:nvSpPr>
        <p:spPr>
          <a:xfrm flipH="false" flipV="false" rot="0">
            <a:off x="5106929" y="3881030"/>
            <a:ext cx="400081" cy="384578"/>
          </a:xfrm>
          <a:custGeom>
            <a:avLst/>
            <a:gdLst/>
            <a:ahLst/>
            <a:cxnLst/>
            <a:rect r="r" b="b" t="t" l="l"/>
            <a:pathLst>
              <a:path h="384578" w="400081">
                <a:moveTo>
                  <a:pt x="0" y="0"/>
                </a:moveTo>
                <a:lnTo>
                  <a:pt x="400081" y="0"/>
                </a:lnTo>
                <a:lnTo>
                  <a:pt x="400081" y="384578"/>
                </a:lnTo>
                <a:lnTo>
                  <a:pt x="0" y="384578"/>
                </a:lnTo>
                <a:lnTo>
                  <a:pt x="0" y="0"/>
                </a:lnTo>
                <a:close/>
              </a:path>
            </a:pathLst>
          </a:custGeom>
          <a:blipFill>
            <a:blip r:embed="rId8"/>
            <a:stretch>
              <a:fillRect l="0" t="0" r="0" b="0"/>
            </a:stretch>
          </a:blipFill>
        </p:spPr>
      </p:sp>
      <p:sp>
        <p:nvSpPr>
          <p:cNvPr name="Freeform 32" id="32"/>
          <p:cNvSpPr/>
          <p:nvPr/>
        </p:nvSpPr>
        <p:spPr>
          <a:xfrm flipH="false" flipV="false" rot="0">
            <a:off x="3400373" y="4727377"/>
            <a:ext cx="400081" cy="384578"/>
          </a:xfrm>
          <a:custGeom>
            <a:avLst/>
            <a:gdLst/>
            <a:ahLst/>
            <a:cxnLst/>
            <a:rect r="r" b="b" t="t" l="l"/>
            <a:pathLst>
              <a:path h="384578" w="400081">
                <a:moveTo>
                  <a:pt x="0" y="0"/>
                </a:moveTo>
                <a:lnTo>
                  <a:pt x="400081" y="0"/>
                </a:lnTo>
                <a:lnTo>
                  <a:pt x="400081" y="384578"/>
                </a:lnTo>
                <a:lnTo>
                  <a:pt x="0" y="384578"/>
                </a:lnTo>
                <a:lnTo>
                  <a:pt x="0" y="0"/>
                </a:lnTo>
                <a:close/>
              </a:path>
            </a:pathLst>
          </a:custGeom>
          <a:blipFill>
            <a:blip r:embed="rId8"/>
            <a:stretch>
              <a:fillRect l="0" t="0" r="0" b="0"/>
            </a:stretch>
          </a:blipFill>
        </p:spPr>
      </p:sp>
      <p:sp>
        <p:nvSpPr>
          <p:cNvPr name="Freeform 33" id="33"/>
          <p:cNvSpPr/>
          <p:nvPr/>
        </p:nvSpPr>
        <p:spPr>
          <a:xfrm flipH="false" flipV="false" rot="0">
            <a:off x="6727965" y="5813142"/>
            <a:ext cx="400081" cy="384578"/>
          </a:xfrm>
          <a:custGeom>
            <a:avLst/>
            <a:gdLst/>
            <a:ahLst/>
            <a:cxnLst/>
            <a:rect r="r" b="b" t="t" l="l"/>
            <a:pathLst>
              <a:path h="384578" w="400081">
                <a:moveTo>
                  <a:pt x="0" y="0"/>
                </a:moveTo>
                <a:lnTo>
                  <a:pt x="400081" y="0"/>
                </a:lnTo>
                <a:lnTo>
                  <a:pt x="400081" y="384578"/>
                </a:lnTo>
                <a:lnTo>
                  <a:pt x="0" y="384578"/>
                </a:lnTo>
                <a:lnTo>
                  <a:pt x="0" y="0"/>
                </a:lnTo>
                <a:close/>
              </a:path>
            </a:pathLst>
          </a:custGeom>
          <a:blipFill>
            <a:blip r:embed="rId8"/>
            <a:stretch>
              <a:fillRect l="0" t="0" r="0" b="0"/>
            </a:stretch>
          </a:blipFill>
        </p:spPr>
      </p:sp>
      <p:sp>
        <p:nvSpPr>
          <p:cNvPr name="TextBox 34" id="34"/>
          <p:cNvSpPr txBox="true"/>
          <p:nvPr/>
        </p:nvSpPr>
        <p:spPr>
          <a:xfrm rot="0">
            <a:off x="3848238" y="4830396"/>
            <a:ext cx="1047509" cy="281559"/>
          </a:xfrm>
          <a:prstGeom prst="rect">
            <a:avLst/>
          </a:prstGeom>
        </p:spPr>
        <p:txBody>
          <a:bodyPr anchor="t" rtlCol="false" tIns="0" lIns="0" bIns="0" rIns="0">
            <a:spAutoFit/>
          </a:bodyPr>
          <a:lstStyle/>
          <a:p>
            <a:pPr algn="l">
              <a:lnSpc>
                <a:spcPts val="2268"/>
              </a:lnSpc>
              <a:spcBef>
                <a:spcPct val="0"/>
              </a:spcBef>
            </a:pPr>
            <a:r>
              <a:rPr lang="en-US" b="true" sz="1800" spc="-100">
                <a:solidFill>
                  <a:srgbClr val="FFFFFF"/>
                </a:solidFill>
                <a:latin typeface="Garet Bold"/>
                <a:ea typeface="Garet Bold"/>
                <a:cs typeface="Garet Bold"/>
                <a:sym typeface="Garet Bold"/>
              </a:rPr>
              <a:t>4.89</a:t>
            </a:r>
          </a:p>
        </p:txBody>
      </p:sp>
      <p:grpSp>
        <p:nvGrpSpPr>
          <p:cNvPr name="Group 35" id="35"/>
          <p:cNvGrpSpPr/>
          <p:nvPr/>
        </p:nvGrpSpPr>
        <p:grpSpPr>
          <a:xfrm rot="0">
            <a:off x="4783840" y="4693072"/>
            <a:ext cx="1280504" cy="4295796"/>
            <a:chOff x="0" y="0"/>
            <a:chExt cx="492026" cy="1650633"/>
          </a:xfrm>
        </p:grpSpPr>
        <p:sp>
          <p:nvSpPr>
            <p:cNvPr name="Freeform 36" id="36"/>
            <p:cNvSpPr/>
            <p:nvPr/>
          </p:nvSpPr>
          <p:spPr>
            <a:xfrm flipH="false" flipV="false" rot="0">
              <a:off x="0" y="0"/>
              <a:ext cx="492026" cy="1650633"/>
            </a:xfrm>
            <a:custGeom>
              <a:avLst/>
              <a:gdLst/>
              <a:ahLst/>
              <a:cxnLst/>
              <a:rect r="r" b="b" t="t" l="l"/>
              <a:pathLst>
                <a:path h="1650633" w="492026">
                  <a:moveTo>
                    <a:pt x="246013" y="0"/>
                  </a:moveTo>
                  <a:lnTo>
                    <a:pt x="246013" y="0"/>
                  </a:lnTo>
                  <a:cubicBezTo>
                    <a:pt x="311260" y="0"/>
                    <a:pt x="373834" y="25919"/>
                    <a:pt x="419970" y="72055"/>
                  </a:cubicBezTo>
                  <a:cubicBezTo>
                    <a:pt x="466107" y="118192"/>
                    <a:pt x="492026" y="180766"/>
                    <a:pt x="492026" y="246013"/>
                  </a:cubicBezTo>
                  <a:lnTo>
                    <a:pt x="492026" y="1404620"/>
                  </a:lnTo>
                  <a:cubicBezTo>
                    <a:pt x="492026" y="1469867"/>
                    <a:pt x="466107" y="1532441"/>
                    <a:pt x="419970" y="1578578"/>
                  </a:cubicBezTo>
                  <a:cubicBezTo>
                    <a:pt x="373834" y="1624714"/>
                    <a:pt x="311260" y="1650633"/>
                    <a:pt x="246013" y="1650633"/>
                  </a:cubicBezTo>
                  <a:lnTo>
                    <a:pt x="246013" y="1650633"/>
                  </a:lnTo>
                  <a:cubicBezTo>
                    <a:pt x="180766" y="1650633"/>
                    <a:pt x="118192" y="1624714"/>
                    <a:pt x="72055" y="1578578"/>
                  </a:cubicBezTo>
                  <a:cubicBezTo>
                    <a:pt x="25919" y="1532441"/>
                    <a:pt x="0" y="1469867"/>
                    <a:pt x="0" y="1404620"/>
                  </a:cubicBezTo>
                  <a:lnTo>
                    <a:pt x="0" y="246013"/>
                  </a:lnTo>
                  <a:cubicBezTo>
                    <a:pt x="0" y="180766"/>
                    <a:pt x="25919" y="118192"/>
                    <a:pt x="72055" y="72055"/>
                  </a:cubicBezTo>
                  <a:cubicBezTo>
                    <a:pt x="118192" y="25919"/>
                    <a:pt x="180766" y="0"/>
                    <a:pt x="246013"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37" id="37"/>
            <p:cNvSpPr txBox="true"/>
            <p:nvPr/>
          </p:nvSpPr>
          <p:spPr>
            <a:xfrm>
              <a:off x="0" y="85725"/>
              <a:ext cx="492026" cy="1564908"/>
            </a:xfrm>
            <a:prstGeom prst="rect">
              <a:avLst/>
            </a:prstGeom>
          </p:spPr>
          <p:txBody>
            <a:bodyPr anchor="ctr" rtlCol="false" tIns="46740" lIns="46740" bIns="46740" rIns="46740"/>
            <a:lstStyle/>
            <a:p>
              <a:pPr algn="ctr">
                <a:lnSpc>
                  <a:spcPts val="2218"/>
                </a:lnSpc>
              </a:pPr>
              <a:r>
                <a:rPr lang="en-US" b="true" sz="2609" spc="78">
                  <a:solidFill>
                    <a:srgbClr val="FFFFFF"/>
                  </a:solidFill>
                  <a:latin typeface="Aileron Ultra-Bold"/>
                  <a:ea typeface="Aileron Ultra-Bold"/>
                  <a:cs typeface="Aileron Ultra-Bold"/>
                  <a:sym typeface="Aileron Ultra-Bold"/>
                </a:rPr>
                <a:t>2,03 Jt</a:t>
              </a:r>
            </a:p>
          </p:txBody>
        </p:sp>
      </p:grpSp>
      <p:grpSp>
        <p:nvGrpSpPr>
          <p:cNvPr name="Group 38" id="38"/>
          <p:cNvGrpSpPr/>
          <p:nvPr/>
        </p:nvGrpSpPr>
        <p:grpSpPr>
          <a:xfrm rot="0">
            <a:off x="4943529" y="4439103"/>
            <a:ext cx="961126" cy="961126"/>
            <a:chOff x="0" y="0"/>
            <a:chExt cx="13716000" cy="13716000"/>
          </a:xfrm>
        </p:grpSpPr>
        <p:sp>
          <p:nvSpPr>
            <p:cNvPr name="Freeform 39" id="39"/>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9"/>
              <a:stretch>
                <a:fillRect l="-27" t="-27" r="0" b="0"/>
              </a:stretch>
            </a:blipFill>
          </p:spPr>
        </p:sp>
      </p:grpSp>
      <p:sp>
        <p:nvSpPr>
          <p:cNvPr name="TextBox 40" id="40"/>
          <p:cNvSpPr txBox="true"/>
          <p:nvPr/>
        </p:nvSpPr>
        <p:spPr>
          <a:xfrm rot="0">
            <a:off x="5540590" y="3984049"/>
            <a:ext cx="1047509" cy="281559"/>
          </a:xfrm>
          <a:prstGeom prst="rect">
            <a:avLst/>
          </a:prstGeom>
        </p:spPr>
        <p:txBody>
          <a:bodyPr anchor="t" rtlCol="false" tIns="0" lIns="0" bIns="0" rIns="0">
            <a:spAutoFit/>
          </a:bodyPr>
          <a:lstStyle/>
          <a:p>
            <a:pPr algn="l">
              <a:lnSpc>
                <a:spcPts val="2268"/>
              </a:lnSpc>
              <a:spcBef>
                <a:spcPct val="0"/>
              </a:spcBef>
            </a:pPr>
            <a:r>
              <a:rPr lang="en-US" b="true" sz="1800" spc="-100">
                <a:solidFill>
                  <a:srgbClr val="FFFFFF"/>
                </a:solidFill>
                <a:latin typeface="Garet Bold"/>
                <a:ea typeface="Garet Bold"/>
                <a:cs typeface="Garet Bold"/>
                <a:sym typeface="Garet Bold"/>
              </a:rPr>
              <a:t>4.89</a:t>
            </a:r>
          </a:p>
        </p:txBody>
      </p:sp>
      <p:sp>
        <p:nvSpPr>
          <p:cNvPr name="TextBox 41" id="41"/>
          <p:cNvSpPr txBox="true"/>
          <p:nvPr/>
        </p:nvSpPr>
        <p:spPr>
          <a:xfrm rot="0">
            <a:off x="7216070" y="5916161"/>
            <a:ext cx="1047509" cy="281559"/>
          </a:xfrm>
          <a:prstGeom prst="rect">
            <a:avLst/>
          </a:prstGeom>
        </p:spPr>
        <p:txBody>
          <a:bodyPr anchor="t" rtlCol="false" tIns="0" lIns="0" bIns="0" rIns="0">
            <a:spAutoFit/>
          </a:bodyPr>
          <a:lstStyle/>
          <a:p>
            <a:pPr algn="l">
              <a:lnSpc>
                <a:spcPts val="2268"/>
              </a:lnSpc>
              <a:spcBef>
                <a:spcPct val="0"/>
              </a:spcBef>
            </a:pPr>
            <a:r>
              <a:rPr lang="en-US" b="true" sz="1800" spc="-100">
                <a:solidFill>
                  <a:srgbClr val="FFFFFF"/>
                </a:solidFill>
                <a:latin typeface="Garet Bold"/>
                <a:ea typeface="Garet Bold"/>
                <a:cs typeface="Garet Bold"/>
                <a:sym typeface="Garet Bold"/>
              </a:rPr>
              <a:t>4.87</a:t>
            </a:r>
          </a:p>
        </p:txBody>
      </p:sp>
      <p:sp>
        <p:nvSpPr>
          <p:cNvPr name="TextBox 42" id="42"/>
          <p:cNvSpPr txBox="true"/>
          <p:nvPr/>
        </p:nvSpPr>
        <p:spPr>
          <a:xfrm rot="0">
            <a:off x="2278610" y="2264679"/>
            <a:ext cx="13887027" cy="789708"/>
          </a:xfrm>
          <a:prstGeom prst="rect">
            <a:avLst/>
          </a:prstGeom>
        </p:spPr>
        <p:txBody>
          <a:bodyPr anchor="t" rtlCol="false" tIns="0" lIns="0" bIns="0" rIns="0">
            <a:spAutoFit/>
          </a:bodyPr>
          <a:lstStyle/>
          <a:p>
            <a:pPr algn="ctr">
              <a:lnSpc>
                <a:spcPts val="6443"/>
              </a:lnSpc>
              <a:spcBef>
                <a:spcPct val="0"/>
              </a:spcBef>
            </a:pPr>
            <a:r>
              <a:rPr lang="en-US" b="true" sz="5113" spc="-286">
                <a:solidFill>
                  <a:srgbClr val="FFFFFF"/>
                </a:solidFill>
                <a:latin typeface="Open Sauce Bold"/>
                <a:ea typeface="Open Sauce Bold"/>
                <a:cs typeface="Open Sauce Bold"/>
                <a:sym typeface="Open Sauce Bold"/>
              </a:rPr>
              <a:t>PERFORMA PLATFORM E-COMMERCE</a:t>
            </a:r>
          </a:p>
        </p:txBody>
      </p:sp>
      <p:sp>
        <p:nvSpPr>
          <p:cNvPr name="TextBox 43" id="43"/>
          <p:cNvSpPr txBox="true"/>
          <p:nvPr/>
        </p:nvSpPr>
        <p:spPr>
          <a:xfrm rot="0">
            <a:off x="9476491" y="4545041"/>
            <a:ext cx="8471115" cy="762762"/>
          </a:xfrm>
          <a:prstGeom prst="rect">
            <a:avLst/>
          </a:prstGeom>
        </p:spPr>
        <p:txBody>
          <a:bodyPr anchor="t" rtlCol="false" tIns="0" lIns="0" bIns="0" rIns="0">
            <a:spAutoFit/>
          </a:bodyPr>
          <a:lstStyle/>
          <a:p>
            <a:pPr algn="l">
              <a:lnSpc>
                <a:spcPts val="3024"/>
              </a:lnSpc>
              <a:spcBef>
                <a:spcPct val="0"/>
              </a:spcBef>
            </a:pPr>
            <a:r>
              <a:rPr lang="en-US" b="true" sz="2400" spc="-134">
                <a:solidFill>
                  <a:srgbClr val="FFFFFF"/>
                </a:solidFill>
                <a:latin typeface="Open Sauce Bold"/>
                <a:ea typeface="Open Sauce Bold"/>
                <a:cs typeface="Open Sauce Bold"/>
                <a:sym typeface="Open Sauce Bold"/>
              </a:rPr>
              <a:t>Duopoli Pasar: </a:t>
            </a:r>
            <a:r>
              <a:rPr lang="en-US" sz="2400" spc="-134">
                <a:solidFill>
                  <a:srgbClr val="FFFFFF"/>
                </a:solidFill>
                <a:latin typeface="Open Sauce"/>
                <a:ea typeface="Open Sauce"/>
                <a:cs typeface="Open Sauce"/>
                <a:sym typeface="Open Sauce"/>
              </a:rPr>
              <a:t>Shopee dan Tokopedia mendominasi volume transaksi secara mutlak.</a:t>
            </a:r>
          </a:p>
        </p:txBody>
      </p:sp>
      <p:grpSp>
        <p:nvGrpSpPr>
          <p:cNvPr name="Group 44" id="44"/>
          <p:cNvGrpSpPr/>
          <p:nvPr/>
        </p:nvGrpSpPr>
        <p:grpSpPr>
          <a:xfrm rot="0">
            <a:off x="8983860" y="6063093"/>
            <a:ext cx="320280" cy="320280"/>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6" id="46"/>
            <p:cNvSpPr txBox="true"/>
            <p:nvPr/>
          </p:nvSpPr>
          <p:spPr>
            <a:xfrm>
              <a:off x="76200" y="57150"/>
              <a:ext cx="660400" cy="679450"/>
            </a:xfrm>
            <a:prstGeom prst="rect">
              <a:avLst/>
            </a:prstGeom>
          </p:spPr>
          <p:txBody>
            <a:bodyPr anchor="ctr" rtlCol="false" tIns="50800" lIns="50800" bIns="50800" rIns="50800"/>
            <a:lstStyle/>
            <a:p>
              <a:pPr algn="ctr">
                <a:lnSpc>
                  <a:spcPts val="3024"/>
                </a:lnSpc>
              </a:pPr>
            </a:p>
          </p:txBody>
        </p:sp>
      </p:grpSp>
      <p:sp>
        <p:nvSpPr>
          <p:cNvPr name="TextBox 47" id="47"/>
          <p:cNvSpPr txBox="true"/>
          <p:nvPr/>
        </p:nvSpPr>
        <p:spPr>
          <a:xfrm rot="0">
            <a:off x="9476491" y="6044043"/>
            <a:ext cx="8081555" cy="762762"/>
          </a:xfrm>
          <a:prstGeom prst="rect">
            <a:avLst/>
          </a:prstGeom>
        </p:spPr>
        <p:txBody>
          <a:bodyPr anchor="t" rtlCol="false" tIns="0" lIns="0" bIns="0" rIns="0">
            <a:spAutoFit/>
          </a:bodyPr>
          <a:lstStyle/>
          <a:p>
            <a:pPr algn="l">
              <a:lnSpc>
                <a:spcPts val="3024"/>
              </a:lnSpc>
              <a:spcBef>
                <a:spcPct val="0"/>
              </a:spcBef>
            </a:pPr>
            <a:r>
              <a:rPr lang="en-US" b="true" sz="2400" spc="-134">
                <a:solidFill>
                  <a:srgbClr val="FFFFFF"/>
                </a:solidFill>
                <a:latin typeface="Open Sauce Bold"/>
                <a:ea typeface="Open Sauce Bold"/>
                <a:cs typeface="Open Sauce Bold"/>
                <a:sym typeface="Open Sauce Bold"/>
              </a:rPr>
              <a:t>Kesenjangan Penetrasi: </a:t>
            </a:r>
            <a:r>
              <a:rPr lang="en-US" sz="2400" spc="-134">
                <a:solidFill>
                  <a:srgbClr val="FFFFFF"/>
                </a:solidFill>
                <a:latin typeface="Open Sauce"/>
                <a:ea typeface="Open Sauce"/>
                <a:cs typeface="Open Sauce"/>
                <a:sym typeface="Open Sauce"/>
              </a:rPr>
              <a:t>Blibli tertinggal jauh dalam distribusi kuantitas produk.</a:t>
            </a:r>
          </a:p>
        </p:txBody>
      </p:sp>
      <p:grpSp>
        <p:nvGrpSpPr>
          <p:cNvPr name="Group 48" id="48"/>
          <p:cNvGrpSpPr/>
          <p:nvPr/>
        </p:nvGrpSpPr>
        <p:grpSpPr>
          <a:xfrm rot="0">
            <a:off x="9008091" y="7564473"/>
            <a:ext cx="320280" cy="320280"/>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0" id="50"/>
            <p:cNvSpPr txBox="true"/>
            <p:nvPr/>
          </p:nvSpPr>
          <p:spPr>
            <a:xfrm>
              <a:off x="76200" y="57150"/>
              <a:ext cx="660400" cy="679450"/>
            </a:xfrm>
            <a:prstGeom prst="rect">
              <a:avLst/>
            </a:prstGeom>
          </p:spPr>
          <p:txBody>
            <a:bodyPr anchor="ctr" rtlCol="false" tIns="50800" lIns="50800" bIns="50800" rIns="50800"/>
            <a:lstStyle/>
            <a:p>
              <a:pPr algn="ctr">
                <a:lnSpc>
                  <a:spcPts val="3024"/>
                </a:lnSpc>
              </a:pPr>
            </a:p>
          </p:txBody>
        </p:sp>
      </p:grpSp>
      <p:sp>
        <p:nvSpPr>
          <p:cNvPr name="TextBox 51" id="51"/>
          <p:cNvSpPr txBox="true"/>
          <p:nvPr/>
        </p:nvSpPr>
        <p:spPr>
          <a:xfrm rot="0">
            <a:off x="9476491" y="7545423"/>
            <a:ext cx="8536998" cy="762762"/>
          </a:xfrm>
          <a:prstGeom prst="rect">
            <a:avLst/>
          </a:prstGeom>
        </p:spPr>
        <p:txBody>
          <a:bodyPr anchor="t" rtlCol="false" tIns="0" lIns="0" bIns="0" rIns="0">
            <a:spAutoFit/>
          </a:bodyPr>
          <a:lstStyle/>
          <a:p>
            <a:pPr algn="l">
              <a:lnSpc>
                <a:spcPts val="3024"/>
              </a:lnSpc>
              <a:spcBef>
                <a:spcPct val="0"/>
              </a:spcBef>
            </a:pPr>
            <a:r>
              <a:rPr lang="en-US" b="true" sz="2400" spc="-134">
                <a:solidFill>
                  <a:srgbClr val="FFFFFF"/>
                </a:solidFill>
                <a:latin typeface="Open Sauce Bold"/>
                <a:ea typeface="Open Sauce Bold"/>
                <a:cs typeface="Open Sauce Bold"/>
                <a:sym typeface="Open Sauce Bold"/>
              </a:rPr>
              <a:t>Layanan Setara:</a:t>
            </a:r>
            <a:r>
              <a:rPr lang="en-US" sz="2400" spc="-134">
                <a:solidFill>
                  <a:srgbClr val="FFFFFF"/>
                </a:solidFill>
                <a:latin typeface="Open Sauce"/>
                <a:ea typeface="Open Sauce"/>
                <a:cs typeface="Open Sauce"/>
                <a:sym typeface="Open Sauce"/>
              </a:rPr>
              <a:t> Kualitas pengalaman konsumen merata di seluruh platform.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flipV="true">
            <a:off x="5274556" y="7314806"/>
            <a:ext cx="7493803" cy="0"/>
          </a:xfrm>
          <a:prstGeom prst="line">
            <a:avLst/>
          </a:prstGeom>
          <a:ln cap="flat" w="19050">
            <a:solidFill>
              <a:srgbClr val="FFFFFF"/>
            </a:solidFill>
            <a:prstDash val="solid"/>
            <a:headEnd type="none" len="sm" w="sm"/>
            <a:tailEnd type="none" len="sm" w="sm"/>
          </a:ln>
        </p:spPr>
      </p:sp>
      <p:grpSp>
        <p:nvGrpSpPr>
          <p:cNvPr name="Group 4" id="4"/>
          <p:cNvGrpSpPr/>
          <p:nvPr/>
        </p:nvGrpSpPr>
        <p:grpSpPr>
          <a:xfrm rot="0">
            <a:off x="1028700" y="337116"/>
            <a:ext cx="16386847" cy="1227065"/>
            <a:chOff x="0" y="0"/>
            <a:chExt cx="21849129" cy="1636087"/>
          </a:xfrm>
        </p:grpSpPr>
        <p:sp>
          <p:nvSpPr>
            <p:cNvPr name="Freeform 5" id="5"/>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6" id="6"/>
            <p:cNvGrpSpPr/>
            <p:nvPr/>
          </p:nvGrpSpPr>
          <p:grpSpPr>
            <a:xfrm rot="0">
              <a:off x="11378892" y="443664"/>
              <a:ext cx="3080976" cy="969444"/>
              <a:chOff x="0" y="0"/>
              <a:chExt cx="1291574" cy="406400"/>
            </a:xfrm>
          </p:grpSpPr>
          <p:sp>
            <p:nvSpPr>
              <p:cNvPr name="Freeform 7" id="7"/>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8" id="8"/>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0" id="10"/>
            <p:cNvGrpSpPr/>
            <p:nvPr/>
          </p:nvGrpSpPr>
          <p:grpSpPr>
            <a:xfrm rot="0">
              <a:off x="16468734" y="443664"/>
              <a:ext cx="5380395" cy="969444"/>
              <a:chOff x="0" y="0"/>
              <a:chExt cx="2255512" cy="406400"/>
            </a:xfrm>
          </p:grpSpPr>
          <p:sp>
            <p:nvSpPr>
              <p:cNvPr name="Freeform 11" id="11"/>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2" id="12"/>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4" id="14"/>
            <p:cNvGrpSpPr/>
            <p:nvPr/>
          </p:nvGrpSpPr>
          <p:grpSpPr>
            <a:xfrm rot="0">
              <a:off x="14828167" y="283406"/>
              <a:ext cx="1277412" cy="127741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6" id="16"/>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7" id="17"/>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8" id="18"/>
          <p:cNvSpPr/>
          <p:nvPr/>
        </p:nvSpPr>
        <p:spPr>
          <a:xfrm flipH="false" flipV="false" rot="0">
            <a:off x="2935588" y="1874788"/>
            <a:ext cx="12573071" cy="7072352"/>
          </a:xfrm>
          <a:custGeom>
            <a:avLst/>
            <a:gdLst/>
            <a:ahLst/>
            <a:cxnLst/>
            <a:rect r="r" b="b" t="t" l="l"/>
            <a:pathLst>
              <a:path h="7072352" w="12573071">
                <a:moveTo>
                  <a:pt x="0" y="0"/>
                </a:moveTo>
                <a:lnTo>
                  <a:pt x="12573071" y="0"/>
                </a:lnTo>
                <a:lnTo>
                  <a:pt x="12573071" y="7072352"/>
                </a:lnTo>
                <a:lnTo>
                  <a:pt x="0" y="7072352"/>
                </a:lnTo>
                <a:lnTo>
                  <a:pt x="0" y="0"/>
                </a:lnTo>
                <a:close/>
              </a:path>
            </a:pathLst>
          </a:custGeom>
          <a:blipFill>
            <a:blip r:embed="rId6">
              <a:alphaModFix amt="32999"/>
            </a:blip>
            <a:stretch>
              <a:fillRect l="0" t="0" r="0" b="0"/>
            </a:stretch>
          </a:blipFill>
        </p:spPr>
      </p:sp>
      <p:sp>
        <p:nvSpPr>
          <p:cNvPr name="TextBox 19" id="19"/>
          <p:cNvSpPr txBox="true"/>
          <p:nvPr/>
        </p:nvSpPr>
        <p:spPr>
          <a:xfrm rot="0">
            <a:off x="3461831" y="3348692"/>
            <a:ext cx="11709200" cy="2651081"/>
          </a:xfrm>
          <a:prstGeom prst="rect">
            <a:avLst/>
          </a:prstGeom>
        </p:spPr>
        <p:txBody>
          <a:bodyPr anchor="t" rtlCol="false" tIns="0" lIns="0" bIns="0" rIns="0">
            <a:spAutoFit/>
          </a:bodyPr>
          <a:lstStyle/>
          <a:p>
            <a:pPr algn="ctr">
              <a:lnSpc>
                <a:spcPts val="10507"/>
              </a:lnSpc>
              <a:spcBef>
                <a:spcPct val="0"/>
              </a:spcBef>
            </a:pPr>
            <a:r>
              <a:rPr lang="en-US" sz="8339" spc="1017">
                <a:solidFill>
                  <a:srgbClr val="FDFABA"/>
                </a:solidFill>
                <a:latin typeface="League Spartan"/>
                <a:ea typeface="League Spartan"/>
                <a:cs typeface="League Spartan"/>
                <a:sym typeface="League Spartan"/>
              </a:rPr>
              <a:t>LAPTOP MARKET ANALYSIS</a:t>
            </a:r>
          </a:p>
        </p:txBody>
      </p:sp>
      <p:sp>
        <p:nvSpPr>
          <p:cNvPr name="TextBox 20" id="20"/>
          <p:cNvSpPr txBox="true"/>
          <p:nvPr/>
        </p:nvSpPr>
        <p:spPr>
          <a:xfrm rot="0">
            <a:off x="5864502" y="6312293"/>
            <a:ext cx="6903857" cy="444627"/>
          </a:xfrm>
          <a:prstGeom prst="rect">
            <a:avLst/>
          </a:prstGeom>
        </p:spPr>
        <p:txBody>
          <a:bodyPr anchor="t" rtlCol="false" tIns="0" lIns="0" bIns="0" rIns="0">
            <a:spAutoFit/>
          </a:bodyPr>
          <a:lstStyle/>
          <a:p>
            <a:pPr algn="l">
              <a:lnSpc>
                <a:spcPts val="3653"/>
              </a:lnSpc>
              <a:spcBef>
                <a:spcPct val="0"/>
              </a:spcBef>
            </a:pPr>
            <a:r>
              <a:rPr lang="en-US" sz="2899" spc="-162">
                <a:solidFill>
                  <a:srgbClr val="FFFFFF"/>
                </a:solidFill>
                <a:latin typeface="Garet"/>
                <a:ea typeface="Garet"/>
                <a:cs typeface="Garet"/>
                <a:sym typeface="Garet"/>
              </a:rPr>
              <a:t>jumlah data kategori laptop:  </a:t>
            </a:r>
            <a:r>
              <a:rPr lang="en-US" b="true" sz="2899" spc="-162">
                <a:solidFill>
                  <a:srgbClr val="F4D820"/>
                </a:solidFill>
                <a:latin typeface="Garet Bold"/>
                <a:ea typeface="Garet Bold"/>
                <a:cs typeface="Garet Bold"/>
                <a:sym typeface="Garet Bold"/>
              </a:rPr>
              <a:t>15.096</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1306488" y="2373418"/>
            <a:ext cx="6235396" cy="7070049"/>
            <a:chOff x="0" y="0"/>
            <a:chExt cx="8313862" cy="9426732"/>
          </a:xfrm>
        </p:grpSpPr>
        <p:grpSp>
          <p:nvGrpSpPr>
            <p:cNvPr name="Group 4" id="4"/>
            <p:cNvGrpSpPr/>
            <p:nvPr/>
          </p:nvGrpSpPr>
          <p:grpSpPr>
            <a:xfrm rot="0">
              <a:off x="0" y="0"/>
              <a:ext cx="8257017" cy="2607897"/>
              <a:chOff x="0" y="0"/>
              <a:chExt cx="2379531" cy="751551"/>
            </a:xfrm>
          </p:grpSpPr>
          <p:sp>
            <p:nvSpPr>
              <p:cNvPr name="Freeform 5" id="5"/>
              <p:cNvSpPr/>
              <p:nvPr/>
            </p:nvSpPr>
            <p:spPr>
              <a:xfrm flipH="false" flipV="false" rot="0">
                <a:off x="0" y="0"/>
                <a:ext cx="2379531" cy="751551"/>
              </a:xfrm>
              <a:custGeom>
                <a:avLst/>
                <a:gdLst/>
                <a:ahLst/>
                <a:cxnLst/>
                <a:rect r="r" b="b" t="t" l="l"/>
                <a:pathLst>
                  <a:path h="751551" w="2379531">
                    <a:moveTo>
                      <a:pt x="63758" y="0"/>
                    </a:moveTo>
                    <a:lnTo>
                      <a:pt x="2315773" y="0"/>
                    </a:lnTo>
                    <a:cubicBezTo>
                      <a:pt x="2332683" y="0"/>
                      <a:pt x="2348900" y="6717"/>
                      <a:pt x="2360857" y="18674"/>
                    </a:cubicBezTo>
                    <a:cubicBezTo>
                      <a:pt x="2372813" y="30631"/>
                      <a:pt x="2379531" y="46848"/>
                      <a:pt x="2379531" y="63758"/>
                    </a:cubicBezTo>
                    <a:lnTo>
                      <a:pt x="2379531" y="687793"/>
                    </a:lnTo>
                    <a:cubicBezTo>
                      <a:pt x="2379531" y="704703"/>
                      <a:pt x="2372813" y="720920"/>
                      <a:pt x="2360857" y="732877"/>
                    </a:cubicBezTo>
                    <a:cubicBezTo>
                      <a:pt x="2348900" y="744834"/>
                      <a:pt x="2332683" y="751551"/>
                      <a:pt x="2315773" y="751551"/>
                    </a:cubicBezTo>
                    <a:lnTo>
                      <a:pt x="63758" y="751551"/>
                    </a:lnTo>
                    <a:cubicBezTo>
                      <a:pt x="46848" y="751551"/>
                      <a:pt x="30631" y="744834"/>
                      <a:pt x="18674" y="732877"/>
                    </a:cubicBezTo>
                    <a:cubicBezTo>
                      <a:pt x="6717" y="720920"/>
                      <a:pt x="0" y="704703"/>
                      <a:pt x="0" y="687793"/>
                    </a:cubicBezTo>
                    <a:lnTo>
                      <a:pt x="0" y="63758"/>
                    </a:lnTo>
                    <a:cubicBezTo>
                      <a:pt x="0" y="46848"/>
                      <a:pt x="6717" y="30631"/>
                      <a:pt x="18674" y="18674"/>
                    </a:cubicBezTo>
                    <a:cubicBezTo>
                      <a:pt x="30631" y="6717"/>
                      <a:pt x="46848" y="0"/>
                      <a:pt x="63758"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6" id="6"/>
              <p:cNvSpPr txBox="true"/>
              <p:nvPr/>
            </p:nvSpPr>
            <p:spPr>
              <a:xfrm>
                <a:off x="0" y="85725"/>
                <a:ext cx="2379531" cy="665826"/>
              </a:xfrm>
              <a:prstGeom prst="rect">
                <a:avLst/>
              </a:prstGeom>
            </p:spPr>
            <p:txBody>
              <a:bodyPr anchor="ctr" rtlCol="false" tIns="46740" lIns="46740" bIns="46740" rIns="46740"/>
              <a:lstStyle/>
              <a:p>
                <a:pPr algn="ctr">
                  <a:lnSpc>
                    <a:spcPts val="2218"/>
                  </a:lnSpc>
                </a:pPr>
              </a:p>
            </p:txBody>
          </p:sp>
        </p:grpSp>
        <p:sp>
          <p:nvSpPr>
            <p:cNvPr name="TextBox 7" id="7"/>
            <p:cNvSpPr txBox="true"/>
            <p:nvPr/>
          </p:nvSpPr>
          <p:spPr>
            <a:xfrm rot="0">
              <a:off x="359435" y="85224"/>
              <a:ext cx="7657152" cy="2730719"/>
            </a:xfrm>
            <a:prstGeom prst="rect">
              <a:avLst/>
            </a:prstGeom>
          </p:spPr>
          <p:txBody>
            <a:bodyPr anchor="t" rtlCol="false" tIns="0" lIns="0" bIns="0" rIns="0">
              <a:spAutoFit/>
            </a:bodyPr>
            <a:lstStyle/>
            <a:p>
              <a:pPr algn="just">
                <a:lnSpc>
                  <a:spcPts val="2748"/>
                </a:lnSpc>
              </a:pPr>
              <a:r>
                <a:rPr lang="en-US" b="true" sz="2181" spc="-122">
                  <a:solidFill>
                    <a:srgbClr val="FFFFFF"/>
                  </a:solidFill>
                  <a:latin typeface="Garet Bold"/>
                  <a:ea typeface="Garet Bold"/>
                  <a:cs typeface="Garet Bold"/>
                  <a:sym typeface="Garet Bold"/>
                </a:rPr>
                <a:t>Dominasi vs. Stok: </a:t>
              </a:r>
            </a:p>
            <a:p>
              <a:pPr algn="just">
                <a:lnSpc>
                  <a:spcPts val="2748"/>
                </a:lnSpc>
              </a:pPr>
              <a:r>
                <a:rPr lang="en-US" sz="2181" spc="-122">
                  <a:solidFill>
                    <a:srgbClr val="FFFFFF"/>
                  </a:solidFill>
                  <a:latin typeface="Garet"/>
                  <a:ea typeface="Garet"/>
                  <a:cs typeface="Garet"/>
                  <a:sym typeface="Garet"/>
                </a:rPr>
                <a:t>HP adalah brand dengan listing terbanyak (13.59%), namun Lenovo adalah raja pasar yang sebenarnya dengan menguasai 30.84% total unit terjual.</a:t>
              </a:r>
            </a:p>
            <a:p>
              <a:pPr algn="just">
                <a:lnSpc>
                  <a:spcPts val="2748"/>
                </a:lnSpc>
                <a:spcBef>
                  <a:spcPct val="0"/>
                </a:spcBef>
              </a:pPr>
            </a:p>
          </p:txBody>
        </p:sp>
        <p:grpSp>
          <p:nvGrpSpPr>
            <p:cNvPr name="Group 8" id="8"/>
            <p:cNvGrpSpPr/>
            <p:nvPr/>
          </p:nvGrpSpPr>
          <p:grpSpPr>
            <a:xfrm rot="0">
              <a:off x="153049" y="3552543"/>
              <a:ext cx="8103968" cy="2721195"/>
              <a:chOff x="0" y="0"/>
              <a:chExt cx="2335425" cy="784202"/>
            </a:xfrm>
          </p:grpSpPr>
          <p:sp>
            <p:nvSpPr>
              <p:cNvPr name="Freeform 9" id="9"/>
              <p:cNvSpPr/>
              <p:nvPr/>
            </p:nvSpPr>
            <p:spPr>
              <a:xfrm flipH="false" flipV="false" rot="0">
                <a:off x="0" y="0"/>
                <a:ext cx="2335425" cy="784202"/>
              </a:xfrm>
              <a:custGeom>
                <a:avLst/>
                <a:gdLst/>
                <a:ahLst/>
                <a:cxnLst/>
                <a:rect r="r" b="b" t="t" l="l"/>
                <a:pathLst>
                  <a:path h="784202" w="2335425">
                    <a:moveTo>
                      <a:pt x="64962" y="0"/>
                    </a:moveTo>
                    <a:lnTo>
                      <a:pt x="2270463" y="0"/>
                    </a:lnTo>
                    <a:cubicBezTo>
                      <a:pt x="2306341" y="0"/>
                      <a:pt x="2335425" y="29085"/>
                      <a:pt x="2335425" y="64962"/>
                    </a:cubicBezTo>
                    <a:lnTo>
                      <a:pt x="2335425" y="719240"/>
                    </a:lnTo>
                    <a:cubicBezTo>
                      <a:pt x="2335425" y="736469"/>
                      <a:pt x="2328581" y="752992"/>
                      <a:pt x="2316398" y="765175"/>
                    </a:cubicBezTo>
                    <a:cubicBezTo>
                      <a:pt x="2304215" y="777357"/>
                      <a:pt x="2287692" y="784202"/>
                      <a:pt x="2270463" y="784202"/>
                    </a:cubicBezTo>
                    <a:lnTo>
                      <a:pt x="64962" y="784202"/>
                    </a:lnTo>
                    <a:cubicBezTo>
                      <a:pt x="47733" y="784202"/>
                      <a:pt x="31210" y="777357"/>
                      <a:pt x="19027" y="765175"/>
                    </a:cubicBezTo>
                    <a:cubicBezTo>
                      <a:pt x="6844" y="752992"/>
                      <a:pt x="0" y="736469"/>
                      <a:pt x="0" y="719240"/>
                    </a:cubicBezTo>
                    <a:lnTo>
                      <a:pt x="0" y="64962"/>
                    </a:lnTo>
                    <a:cubicBezTo>
                      <a:pt x="0" y="29085"/>
                      <a:pt x="29085" y="0"/>
                      <a:pt x="6496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0" id="10"/>
              <p:cNvSpPr txBox="true"/>
              <p:nvPr/>
            </p:nvSpPr>
            <p:spPr>
              <a:xfrm>
                <a:off x="0" y="85725"/>
                <a:ext cx="2335425" cy="698477"/>
              </a:xfrm>
              <a:prstGeom prst="rect">
                <a:avLst/>
              </a:prstGeom>
            </p:spPr>
            <p:txBody>
              <a:bodyPr anchor="ctr" rtlCol="false" tIns="46740" lIns="46740" bIns="46740" rIns="46740"/>
              <a:lstStyle/>
              <a:p>
                <a:pPr algn="ctr">
                  <a:lnSpc>
                    <a:spcPts val="2218"/>
                  </a:lnSpc>
                </a:pPr>
              </a:p>
            </p:txBody>
          </p:sp>
        </p:grpSp>
        <p:sp>
          <p:nvSpPr>
            <p:cNvPr name="TextBox 11" id="11"/>
            <p:cNvSpPr txBox="true"/>
            <p:nvPr/>
          </p:nvSpPr>
          <p:spPr>
            <a:xfrm rot="0">
              <a:off x="519494" y="3665841"/>
              <a:ext cx="7371078" cy="2494599"/>
            </a:xfrm>
            <a:prstGeom prst="rect">
              <a:avLst/>
            </a:prstGeom>
          </p:spPr>
          <p:txBody>
            <a:bodyPr anchor="t" rtlCol="false" tIns="0" lIns="0" bIns="0" rIns="0">
              <a:spAutoFit/>
            </a:bodyPr>
            <a:lstStyle/>
            <a:p>
              <a:pPr algn="just">
                <a:lnSpc>
                  <a:spcPts val="2480"/>
                </a:lnSpc>
              </a:pPr>
              <a:r>
                <a:rPr lang="en-US" b="true" sz="1968" spc="-110">
                  <a:solidFill>
                    <a:srgbClr val="FFFFFF"/>
                  </a:solidFill>
                  <a:latin typeface="Garet Bold"/>
                  <a:ea typeface="Garet Bold"/>
                  <a:cs typeface="Garet Bold"/>
                  <a:sym typeface="Garet Bold"/>
                </a:rPr>
                <a:t>Efisiensi Penjualan: </a:t>
              </a:r>
            </a:p>
            <a:p>
              <a:pPr algn="just">
                <a:lnSpc>
                  <a:spcPts val="2480"/>
                </a:lnSpc>
                <a:spcBef>
                  <a:spcPct val="0"/>
                </a:spcBef>
              </a:pPr>
              <a:r>
                <a:rPr lang="en-US" sz="1968" spc="-110">
                  <a:solidFill>
                    <a:srgbClr val="FFFFFF"/>
                  </a:solidFill>
                  <a:latin typeface="Garet"/>
                  <a:ea typeface="Garet"/>
                  <a:cs typeface="Garet"/>
                  <a:sym typeface="Garet"/>
                </a:rPr>
                <a:t>Lenovo dan Axioo menunjukkan efisiensi tinggi—jumlah unit terjual mereka jauh lebih besar daripada proporsi listing-nya, yang menandakan produk mereka sangat diminati atau memiliki perputaran stok yang cepat.</a:t>
              </a:r>
            </a:p>
          </p:txBody>
        </p:sp>
        <p:grpSp>
          <p:nvGrpSpPr>
            <p:cNvPr name="Group 12" id="12"/>
            <p:cNvGrpSpPr/>
            <p:nvPr/>
          </p:nvGrpSpPr>
          <p:grpSpPr>
            <a:xfrm rot="0">
              <a:off x="153049" y="7124637"/>
              <a:ext cx="8160813" cy="2302095"/>
              <a:chOff x="0" y="0"/>
              <a:chExt cx="2351807" cy="663424"/>
            </a:xfrm>
          </p:grpSpPr>
          <p:sp>
            <p:nvSpPr>
              <p:cNvPr name="Freeform 13" id="13"/>
              <p:cNvSpPr/>
              <p:nvPr/>
            </p:nvSpPr>
            <p:spPr>
              <a:xfrm flipH="false" flipV="false" rot="0">
                <a:off x="0" y="0"/>
                <a:ext cx="2351807" cy="663424"/>
              </a:xfrm>
              <a:custGeom>
                <a:avLst/>
                <a:gdLst/>
                <a:ahLst/>
                <a:cxnLst/>
                <a:rect r="r" b="b" t="t" l="l"/>
                <a:pathLst>
                  <a:path h="663424" w="2351807">
                    <a:moveTo>
                      <a:pt x="64510" y="0"/>
                    </a:moveTo>
                    <a:lnTo>
                      <a:pt x="2287297" y="0"/>
                    </a:lnTo>
                    <a:cubicBezTo>
                      <a:pt x="2304406" y="0"/>
                      <a:pt x="2320815" y="6797"/>
                      <a:pt x="2332912" y="18894"/>
                    </a:cubicBezTo>
                    <a:cubicBezTo>
                      <a:pt x="2345010" y="30992"/>
                      <a:pt x="2351807" y="47401"/>
                      <a:pt x="2351807" y="64510"/>
                    </a:cubicBezTo>
                    <a:lnTo>
                      <a:pt x="2351807" y="598915"/>
                    </a:lnTo>
                    <a:cubicBezTo>
                      <a:pt x="2351807" y="634542"/>
                      <a:pt x="2322925" y="663424"/>
                      <a:pt x="2287297" y="663424"/>
                    </a:cubicBezTo>
                    <a:lnTo>
                      <a:pt x="64510" y="663424"/>
                    </a:lnTo>
                    <a:cubicBezTo>
                      <a:pt x="28882" y="663424"/>
                      <a:pt x="0" y="634542"/>
                      <a:pt x="0" y="598915"/>
                    </a:cubicBezTo>
                    <a:lnTo>
                      <a:pt x="0" y="64510"/>
                    </a:lnTo>
                    <a:cubicBezTo>
                      <a:pt x="0" y="28882"/>
                      <a:pt x="28882" y="0"/>
                      <a:pt x="64510"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4" id="14"/>
              <p:cNvSpPr txBox="true"/>
              <p:nvPr/>
            </p:nvSpPr>
            <p:spPr>
              <a:xfrm>
                <a:off x="0" y="85725"/>
                <a:ext cx="2351807" cy="577699"/>
              </a:xfrm>
              <a:prstGeom prst="rect">
                <a:avLst/>
              </a:prstGeom>
            </p:spPr>
            <p:txBody>
              <a:bodyPr anchor="ctr" rtlCol="false" tIns="46740" lIns="46740" bIns="46740" rIns="46740"/>
              <a:lstStyle/>
              <a:p>
                <a:pPr algn="ctr">
                  <a:lnSpc>
                    <a:spcPts val="2218"/>
                  </a:lnSpc>
                </a:pPr>
              </a:p>
            </p:txBody>
          </p:sp>
        </p:grpSp>
        <p:sp>
          <p:nvSpPr>
            <p:cNvPr name="TextBox 15" id="15"/>
            <p:cNvSpPr txBox="true"/>
            <p:nvPr/>
          </p:nvSpPr>
          <p:spPr>
            <a:xfrm rot="0">
              <a:off x="516023" y="7294584"/>
              <a:ext cx="7588628" cy="2075499"/>
            </a:xfrm>
            <a:prstGeom prst="rect">
              <a:avLst/>
            </a:prstGeom>
          </p:spPr>
          <p:txBody>
            <a:bodyPr anchor="t" rtlCol="false" tIns="0" lIns="0" bIns="0" rIns="0">
              <a:spAutoFit/>
            </a:bodyPr>
            <a:lstStyle/>
            <a:p>
              <a:pPr algn="just">
                <a:lnSpc>
                  <a:spcPts val="2480"/>
                </a:lnSpc>
              </a:pPr>
              <a:r>
                <a:rPr lang="en-US" b="true" sz="1968" spc="-110">
                  <a:solidFill>
                    <a:srgbClr val="FFFFFF"/>
                  </a:solidFill>
                  <a:latin typeface="Garet Bold"/>
                  <a:ea typeface="Garet Bold"/>
                  <a:cs typeface="Garet Bold"/>
                  <a:sym typeface="Garet Bold"/>
                </a:rPr>
                <a:t>Brand Premium: </a:t>
              </a:r>
            </a:p>
            <a:p>
              <a:pPr algn="just">
                <a:lnSpc>
                  <a:spcPts val="2480"/>
                </a:lnSpc>
                <a:spcBef>
                  <a:spcPct val="0"/>
                </a:spcBef>
              </a:pPr>
              <a:r>
                <a:rPr lang="en-US" sz="1968" spc="-110">
                  <a:solidFill>
                    <a:srgbClr val="FFFFFF"/>
                  </a:solidFill>
                  <a:latin typeface="Garet"/>
                  <a:ea typeface="Garet"/>
                  <a:cs typeface="Garet"/>
                  <a:sym typeface="Garet"/>
                </a:rPr>
                <a:t>Apple dan MSI memiliki rata-rata harga tertinggi (&gt;13jt), namun memiliki market share penjualan yang rendah, menunjukkan mereka menyasar segmen niche (premium).</a:t>
              </a:r>
            </a:p>
          </p:txBody>
        </p:sp>
      </p:grpSp>
      <p:pic>
        <p:nvPicPr>
          <p:cNvPr name="Picture 16" id="16"/>
          <p:cNvPicPr>
            <a:picLocks noChangeAspect="true"/>
          </p:cNvPicPr>
          <p:nvPr/>
        </p:nvPicPr>
        <p:blipFill>
          <a:blip r:embed="rId3"/>
          <a:stretch>
            <a:fillRect/>
          </a:stretch>
        </p:blipFill>
        <p:spPr>
          <a:xfrm rot="0">
            <a:off x="-818681" y="308361"/>
            <a:ext cx="12935680" cy="10829830"/>
          </a:xfrm>
          <a:prstGeom prst="rect">
            <a:avLst/>
          </a:prstGeom>
        </p:spPr>
      </p:pic>
      <p:grpSp>
        <p:nvGrpSpPr>
          <p:cNvPr name="Group 17" id="17"/>
          <p:cNvGrpSpPr/>
          <p:nvPr/>
        </p:nvGrpSpPr>
        <p:grpSpPr>
          <a:xfrm rot="0">
            <a:off x="1028700" y="337116"/>
            <a:ext cx="16386847" cy="1227065"/>
            <a:chOff x="0" y="0"/>
            <a:chExt cx="21849129" cy="1636087"/>
          </a:xfrm>
        </p:grpSpPr>
        <p:sp>
          <p:nvSpPr>
            <p:cNvPr name="Freeform 18" id="18"/>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9" id="19"/>
            <p:cNvGrpSpPr/>
            <p:nvPr/>
          </p:nvGrpSpPr>
          <p:grpSpPr>
            <a:xfrm rot="0">
              <a:off x="11378892" y="443664"/>
              <a:ext cx="3080976" cy="969444"/>
              <a:chOff x="0" y="0"/>
              <a:chExt cx="1291574" cy="406400"/>
            </a:xfrm>
          </p:grpSpPr>
          <p:sp>
            <p:nvSpPr>
              <p:cNvPr name="Freeform 20" id="20"/>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1" id="21"/>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23" id="23"/>
            <p:cNvGrpSpPr/>
            <p:nvPr/>
          </p:nvGrpSpPr>
          <p:grpSpPr>
            <a:xfrm rot="0">
              <a:off x="16468734" y="443664"/>
              <a:ext cx="5380395" cy="969444"/>
              <a:chOff x="0" y="0"/>
              <a:chExt cx="2255512" cy="406400"/>
            </a:xfrm>
          </p:grpSpPr>
          <p:sp>
            <p:nvSpPr>
              <p:cNvPr name="Freeform 24" id="24"/>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5" id="25"/>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7" id="27"/>
            <p:cNvGrpSpPr/>
            <p:nvPr/>
          </p:nvGrpSpPr>
          <p:grpSpPr>
            <a:xfrm rot="0">
              <a:off x="14828167" y="283406"/>
              <a:ext cx="1277412" cy="1277412"/>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9" id="29"/>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30" id="30"/>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aphicFrame>
        <p:nvGraphicFramePr>
          <p:cNvPr name="Object 3" id="3"/>
          <p:cNvGraphicFramePr/>
          <p:nvPr/>
        </p:nvGraphicFramePr>
        <p:xfrm>
          <a:off x="847744" y="3429039"/>
          <a:ext cx="16708702" cy="6273788"/>
        </p:xfrm>
        <a:graphic>
          <a:graphicData uri="http://schemas.openxmlformats.org/presentationml/2006/ole">
            <p:oleObj imgW="20040600" imgH="961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4966323" y="1526081"/>
            <a:ext cx="9517037" cy="1655691"/>
          </a:xfrm>
          <a:prstGeom prst="rect">
            <a:avLst/>
          </a:prstGeom>
        </p:spPr>
        <p:txBody>
          <a:bodyPr anchor="t" rtlCol="false" tIns="0" lIns="0" bIns="0" rIns="0">
            <a:spAutoFit/>
          </a:bodyPr>
          <a:lstStyle/>
          <a:p>
            <a:pPr algn="ctr">
              <a:lnSpc>
                <a:spcPts val="8540"/>
              </a:lnSpc>
            </a:pPr>
            <a:r>
              <a:rPr lang="en-US" b="true" sz="6777" spc="-379">
                <a:solidFill>
                  <a:srgbClr val="DF5858"/>
                </a:solidFill>
                <a:latin typeface="Open Sauce Bold"/>
                <a:ea typeface="Open Sauce Bold"/>
                <a:cs typeface="Open Sauce Bold"/>
                <a:sym typeface="Open Sauce Bold"/>
              </a:rPr>
              <a:t>ANOMALI HARGA </a:t>
            </a:r>
          </a:p>
          <a:p>
            <a:pPr algn="ctr">
              <a:lnSpc>
                <a:spcPts val="4608"/>
              </a:lnSpc>
              <a:spcBef>
                <a:spcPct val="0"/>
              </a:spcBef>
            </a:pPr>
            <a:r>
              <a:rPr lang="en-US" b="true" sz="3657" spc="-204">
                <a:solidFill>
                  <a:srgbClr val="FFFFFF"/>
                </a:solidFill>
                <a:latin typeface="Open Sauce Bold"/>
                <a:ea typeface="Open Sauce Bold"/>
                <a:cs typeface="Open Sauce Bold"/>
                <a:sym typeface="Open Sauce Bold"/>
              </a:rPr>
              <a:t> TOP 5 PRODUK OVERPRICED</a:t>
            </a:r>
          </a:p>
        </p:txBody>
      </p:sp>
      <p:grpSp>
        <p:nvGrpSpPr>
          <p:cNvPr name="Group 5" id="5"/>
          <p:cNvGrpSpPr/>
          <p:nvPr/>
        </p:nvGrpSpPr>
        <p:grpSpPr>
          <a:xfrm rot="0">
            <a:off x="10625735" y="3958560"/>
            <a:ext cx="6192763" cy="4705303"/>
            <a:chOff x="0" y="0"/>
            <a:chExt cx="8257017" cy="6273737"/>
          </a:xfrm>
        </p:grpSpPr>
        <p:grpSp>
          <p:nvGrpSpPr>
            <p:cNvPr name="Group 6" id="6"/>
            <p:cNvGrpSpPr/>
            <p:nvPr/>
          </p:nvGrpSpPr>
          <p:grpSpPr>
            <a:xfrm rot="0">
              <a:off x="0" y="0"/>
              <a:ext cx="8257017" cy="2607897"/>
              <a:chOff x="0" y="0"/>
              <a:chExt cx="2379531" cy="751551"/>
            </a:xfrm>
          </p:grpSpPr>
          <p:sp>
            <p:nvSpPr>
              <p:cNvPr name="Freeform 7" id="7"/>
              <p:cNvSpPr/>
              <p:nvPr/>
            </p:nvSpPr>
            <p:spPr>
              <a:xfrm flipH="false" flipV="false" rot="0">
                <a:off x="0" y="0"/>
                <a:ext cx="2379531" cy="751551"/>
              </a:xfrm>
              <a:custGeom>
                <a:avLst/>
                <a:gdLst/>
                <a:ahLst/>
                <a:cxnLst/>
                <a:rect r="r" b="b" t="t" l="l"/>
                <a:pathLst>
                  <a:path h="751551" w="2379531">
                    <a:moveTo>
                      <a:pt x="63758" y="0"/>
                    </a:moveTo>
                    <a:lnTo>
                      <a:pt x="2315773" y="0"/>
                    </a:lnTo>
                    <a:cubicBezTo>
                      <a:pt x="2332683" y="0"/>
                      <a:pt x="2348900" y="6717"/>
                      <a:pt x="2360857" y="18674"/>
                    </a:cubicBezTo>
                    <a:cubicBezTo>
                      <a:pt x="2372813" y="30631"/>
                      <a:pt x="2379531" y="46848"/>
                      <a:pt x="2379531" y="63758"/>
                    </a:cubicBezTo>
                    <a:lnTo>
                      <a:pt x="2379531" y="687793"/>
                    </a:lnTo>
                    <a:cubicBezTo>
                      <a:pt x="2379531" y="704703"/>
                      <a:pt x="2372813" y="720920"/>
                      <a:pt x="2360857" y="732877"/>
                    </a:cubicBezTo>
                    <a:cubicBezTo>
                      <a:pt x="2348900" y="744834"/>
                      <a:pt x="2332683" y="751551"/>
                      <a:pt x="2315773" y="751551"/>
                    </a:cubicBezTo>
                    <a:lnTo>
                      <a:pt x="63758" y="751551"/>
                    </a:lnTo>
                    <a:cubicBezTo>
                      <a:pt x="46848" y="751551"/>
                      <a:pt x="30631" y="744834"/>
                      <a:pt x="18674" y="732877"/>
                    </a:cubicBezTo>
                    <a:cubicBezTo>
                      <a:pt x="6717" y="720920"/>
                      <a:pt x="0" y="704703"/>
                      <a:pt x="0" y="687793"/>
                    </a:cubicBezTo>
                    <a:lnTo>
                      <a:pt x="0" y="63758"/>
                    </a:lnTo>
                    <a:cubicBezTo>
                      <a:pt x="0" y="46848"/>
                      <a:pt x="6717" y="30631"/>
                      <a:pt x="18674" y="18674"/>
                    </a:cubicBezTo>
                    <a:cubicBezTo>
                      <a:pt x="30631" y="6717"/>
                      <a:pt x="46848" y="0"/>
                      <a:pt x="63758"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8" id="8"/>
              <p:cNvSpPr txBox="true"/>
              <p:nvPr/>
            </p:nvSpPr>
            <p:spPr>
              <a:xfrm>
                <a:off x="0" y="85725"/>
                <a:ext cx="2379531" cy="665826"/>
              </a:xfrm>
              <a:prstGeom prst="rect">
                <a:avLst/>
              </a:prstGeom>
            </p:spPr>
            <p:txBody>
              <a:bodyPr anchor="ctr" rtlCol="false" tIns="46740" lIns="46740" bIns="46740" rIns="46740"/>
              <a:lstStyle/>
              <a:p>
                <a:pPr algn="ctr">
                  <a:lnSpc>
                    <a:spcPts val="2218"/>
                  </a:lnSpc>
                </a:pPr>
              </a:p>
            </p:txBody>
          </p:sp>
        </p:grpSp>
        <p:sp>
          <p:nvSpPr>
            <p:cNvPr name="TextBox 9" id="9"/>
            <p:cNvSpPr txBox="true"/>
            <p:nvPr/>
          </p:nvSpPr>
          <p:spPr>
            <a:xfrm rot="0">
              <a:off x="359435" y="85224"/>
              <a:ext cx="7657152" cy="2730559"/>
            </a:xfrm>
            <a:prstGeom prst="rect">
              <a:avLst/>
            </a:prstGeom>
          </p:spPr>
          <p:txBody>
            <a:bodyPr anchor="t" rtlCol="false" tIns="0" lIns="0" bIns="0" rIns="0">
              <a:spAutoFit/>
            </a:bodyPr>
            <a:lstStyle/>
            <a:p>
              <a:pPr algn="just">
                <a:lnSpc>
                  <a:spcPts val="2748"/>
                </a:lnSpc>
              </a:pPr>
              <a:r>
                <a:rPr lang="en-US" b="true" sz="2181" spc="-122">
                  <a:solidFill>
                    <a:srgbClr val="FFFFFF"/>
                  </a:solidFill>
                  <a:latin typeface="Garet Bold"/>
                  <a:ea typeface="Garet Bold"/>
                  <a:cs typeface="Garet Bold"/>
                  <a:sym typeface="Garet Bold"/>
                </a:rPr>
                <a:t>Identifikasi Anomali:</a:t>
              </a:r>
            </a:p>
            <a:p>
              <a:pPr algn="just">
                <a:lnSpc>
                  <a:spcPts val="2748"/>
                </a:lnSpc>
              </a:pPr>
              <a:r>
                <a:rPr lang="en-US" sz="2181" spc="-122">
                  <a:solidFill>
                    <a:srgbClr val="FFFFFF"/>
                  </a:solidFill>
                  <a:latin typeface="Garet"/>
                  <a:ea typeface="Garet"/>
                  <a:cs typeface="Garet"/>
                  <a:sym typeface="Garet"/>
                </a:rPr>
                <a:t>Produk-produk dalam daftar ini terdeteksi sebagai outlier statistik karena harganya jauh melampaui Batas Atas IQR (Interquartile Range) dari distribusi harga brand tersebut.</a:t>
              </a:r>
            </a:p>
            <a:p>
              <a:pPr algn="just">
                <a:lnSpc>
                  <a:spcPts val="2748"/>
                </a:lnSpc>
                <a:spcBef>
                  <a:spcPct val="0"/>
                </a:spcBef>
              </a:pPr>
            </a:p>
          </p:txBody>
        </p:sp>
        <p:grpSp>
          <p:nvGrpSpPr>
            <p:cNvPr name="Group 10" id="10"/>
            <p:cNvGrpSpPr/>
            <p:nvPr/>
          </p:nvGrpSpPr>
          <p:grpSpPr>
            <a:xfrm rot="0">
              <a:off x="153049" y="3552543"/>
              <a:ext cx="8103968" cy="2721195"/>
              <a:chOff x="0" y="0"/>
              <a:chExt cx="2335425" cy="784202"/>
            </a:xfrm>
          </p:grpSpPr>
          <p:sp>
            <p:nvSpPr>
              <p:cNvPr name="Freeform 11" id="11"/>
              <p:cNvSpPr/>
              <p:nvPr/>
            </p:nvSpPr>
            <p:spPr>
              <a:xfrm flipH="false" flipV="false" rot="0">
                <a:off x="0" y="0"/>
                <a:ext cx="2335425" cy="784202"/>
              </a:xfrm>
              <a:custGeom>
                <a:avLst/>
                <a:gdLst/>
                <a:ahLst/>
                <a:cxnLst/>
                <a:rect r="r" b="b" t="t" l="l"/>
                <a:pathLst>
                  <a:path h="784202" w="2335425">
                    <a:moveTo>
                      <a:pt x="64962" y="0"/>
                    </a:moveTo>
                    <a:lnTo>
                      <a:pt x="2270463" y="0"/>
                    </a:lnTo>
                    <a:cubicBezTo>
                      <a:pt x="2306341" y="0"/>
                      <a:pt x="2335425" y="29085"/>
                      <a:pt x="2335425" y="64962"/>
                    </a:cubicBezTo>
                    <a:lnTo>
                      <a:pt x="2335425" y="719240"/>
                    </a:lnTo>
                    <a:cubicBezTo>
                      <a:pt x="2335425" y="736469"/>
                      <a:pt x="2328581" y="752992"/>
                      <a:pt x="2316398" y="765175"/>
                    </a:cubicBezTo>
                    <a:cubicBezTo>
                      <a:pt x="2304215" y="777357"/>
                      <a:pt x="2287692" y="784202"/>
                      <a:pt x="2270463" y="784202"/>
                    </a:cubicBezTo>
                    <a:lnTo>
                      <a:pt x="64962" y="784202"/>
                    </a:lnTo>
                    <a:cubicBezTo>
                      <a:pt x="47733" y="784202"/>
                      <a:pt x="31210" y="777357"/>
                      <a:pt x="19027" y="765175"/>
                    </a:cubicBezTo>
                    <a:cubicBezTo>
                      <a:pt x="6844" y="752992"/>
                      <a:pt x="0" y="736469"/>
                      <a:pt x="0" y="719240"/>
                    </a:cubicBezTo>
                    <a:lnTo>
                      <a:pt x="0" y="64962"/>
                    </a:lnTo>
                    <a:cubicBezTo>
                      <a:pt x="0" y="29085"/>
                      <a:pt x="29085" y="0"/>
                      <a:pt x="6496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2" id="12"/>
              <p:cNvSpPr txBox="true"/>
              <p:nvPr/>
            </p:nvSpPr>
            <p:spPr>
              <a:xfrm>
                <a:off x="0" y="85725"/>
                <a:ext cx="2335425" cy="698477"/>
              </a:xfrm>
              <a:prstGeom prst="rect">
                <a:avLst/>
              </a:prstGeom>
            </p:spPr>
            <p:txBody>
              <a:bodyPr anchor="ctr" rtlCol="false" tIns="46740" lIns="46740" bIns="46740" rIns="46740"/>
              <a:lstStyle/>
              <a:p>
                <a:pPr algn="ctr">
                  <a:lnSpc>
                    <a:spcPts val="2218"/>
                  </a:lnSpc>
                </a:pPr>
              </a:p>
            </p:txBody>
          </p:sp>
        </p:grpSp>
        <p:sp>
          <p:nvSpPr>
            <p:cNvPr name="TextBox 13" id="13"/>
            <p:cNvSpPr txBox="true"/>
            <p:nvPr/>
          </p:nvSpPr>
          <p:spPr>
            <a:xfrm rot="0">
              <a:off x="442969" y="3845502"/>
              <a:ext cx="7371078" cy="2075499"/>
            </a:xfrm>
            <a:prstGeom prst="rect">
              <a:avLst/>
            </a:prstGeom>
          </p:spPr>
          <p:txBody>
            <a:bodyPr anchor="t" rtlCol="false" tIns="0" lIns="0" bIns="0" rIns="0">
              <a:spAutoFit/>
            </a:bodyPr>
            <a:lstStyle/>
            <a:p>
              <a:pPr algn="just">
                <a:lnSpc>
                  <a:spcPts val="2480"/>
                </a:lnSpc>
              </a:pPr>
              <a:r>
                <a:rPr lang="en-US" b="true" sz="1968" spc="-110">
                  <a:solidFill>
                    <a:srgbClr val="FFFFFF"/>
                  </a:solidFill>
                  <a:latin typeface="Garet Bold"/>
                  <a:ea typeface="Garet Bold"/>
                  <a:cs typeface="Garet Bold"/>
                  <a:sym typeface="Garet Bold"/>
                </a:rPr>
                <a:t>Karakteristik Produk:</a:t>
              </a:r>
            </a:p>
            <a:p>
              <a:pPr algn="just">
                <a:lnSpc>
                  <a:spcPts val="2480"/>
                </a:lnSpc>
                <a:spcBef>
                  <a:spcPct val="0"/>
                </a:spcBef>
              </a:pPr>
              <a:r>
                <a:rPr lang="en-US" b="true" sz="1968" spc="-110">
                  <a:solidFill>
                    <a:srgbClr val="FFFFFF"/>
                  </a:solidFill>
                  <a:latin typeface="Garet Bold"/>
                  <a:ea typeface="Garet Bold"/>
                  <a:cs typeface="Garet Bold"/>
                  <a:sym typeface="Garet Bold"/>
                </a:rPr>
                <a:t>H</a:t>
              </a:r>
              <a:r>
                <a:rPr lang="en-US" sz="1968" spc="-110">
                  <a:solidFill>
                    <a:srgbClr val="FFFFFF"/>
                  </a:solidFill>
                  <a:latin typeface="Garet"/>
                  <a:ea typeface="Garet"/>
                  <a:cs typeface="Garet"/>
                  <a:sym typeface="Garet"/>
                </a:rPr>
                <a:t>arga yang terlihat "tidak wajar" secara statistik ini sebenarnya mencerminkan segmen ultra-flagship (produk spesifikasi sangat tinggi dengan harga premium).</a:t>
              </a:r>
            </a:p>
          </p:txBody>
        </p:sp>
      </p:grpSp>
      <p:sp>
        <p:nvSpPr>
          <p:cNvPr name="AutoShape 14" id="14"/>
          <p:cNvSpPr/>
          <p:nvPr/>
        </p:nvSpPr>
        <p:spPr>
          <a:xfrm>
            <a:off x="1028700" y="9734550"/>
            <a:ext cx="16230600" cy="0"/>
          </a:xfrm>
          <a:prstGeom prst="line">
            <a:avLst/>
          </a:prstGeom>
          <a:ln cap="flat" w="19050">
            <a:solidFill>
              <a:srgbClr val="FFFFFF"/>
            </a:solidFill>
            <a:prstDash val="solid"/>
            <a:headEnd type="none" len="sm" w="sm"/>
            <a:tailEnd type="none" len="sm" w="sm"/>
          </a:ln>
        </p:spPr>
      </p:sp>
      <p:grpSp>
        <p:nvGrpSpPr>
          <p:cNvPr name="Group 15" id="15"/>
          <p:cNvGrpSpPr/>
          <p:nvPr/>
        </p:nvGrpSpPr>
        <p:grpSpPr>
          <a:xfrm rot="0">
            <a:off x="1028700" y="337116"/>
            <a:ext cx="16386847" cy="1227065"/>
            <a:chOff x="0" y="0"/>
            <a:chExt cx="21849129" cy="1636087"/>
          </a:xfrm>
        </p:grpSpPr>
        <p:sp>
          <p:nvSpPr>
            <p:cNvPr name="Freeform 16" id="16"/>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5"/>
              <a:stretch>
                <a:fillRect l="-2838" t="-22494" r="-26999" b="-4205"/>
              </a:stretch>
            </a:blipFill>
          </p:spPr>
        </p:sp>
        <p:grpSp>
          <p:nvGrpSpPr>
            <p:cNvPr name="Group 17" id="17"/>
            <p:cNvGrpSpPr/>
            <p:nvPr/>
          </p:nvGrpSpPr>
          <p:grpSpPr>
            <a:xfrm rot="0">
              <a:off x="11378892" y="443664"/>
              <a:ext cx="3080976" cy="969444"/>
              <a:chOff x="0" y="0"/>
              <a:chExt cx="1291574" cy="406400"/>
            </a:xfrm>
          </p:grpSpPr>
          <p:sp>
            <p:nvSpPr>
              <p:cNvPr name="Freeform 18" id="18"/>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9" id="19"/>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21" id="21"/>
            <p:cNvGrpSpPr/>
            <p:nvPr/>
          </p:nvGrpSpPr>
          <p:grpSpPr>
            <a:xfrm rot="0">
              <a:off x="16468734" y="443664"/>
              <a:ext cx="5380395" cy="969444"/>
              <a:chOff x="0" y="0"/>
              <a:chExt cx="2255512" cy="406400"/>
            </a:xfrm>
          </p:grpSpPr>
          <p:sp>
            <p:nvSpPr>
              <p:cNvPr name="Freeform 22" id="22"/>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3" id="23"/>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5" id="25"/>
            <p:cNvGrpSpPr/>
            <p:nvPr/>
          </p:nvGrpSpPr>
          <p:grpSpPr>
            <a:xfrm rot="0">
              <a:off x="14828167" y="283406"/>
              <a:ext cx="1277412" cy="127741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7" id="27"/>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8" id="28"/>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a:off x="1028700" y="9734550"/>
            <a:ext cx="16230600" cy="0"/>
          </a:xfrm>
          <a:prstGeom prst="line">
            <a:avLst/>
          </a:prstGeom>
          <a:ln cap="flat" w="19050">
            <a:solidFill>
              <a:srgbClr val="FFFFFF"/>
            </a:solidFill>
            <a:prstDash val="solid"/>
            <a:headEnd type="none" len="sm" w="sm"/>
            <a:tailEnd type="none" len="sm" w="sm"/>
          </a:ln>
        </p:spPr>
      </p:sp>
      <p:pic>
        <p:nvPicPr>
          <p:cNvPr name="Picture 4" id="4"/>
          <p:cNvPicPr>
            <a:picLocks noChangeAspect="true"/>
          </p:cNvPicPr>
          <p:nvPr/>
        </p:nvPicPr>
        <p:blipFill>
          <a:blip r:embed="rId3"/>
          <a:stretch>
            <a:fillRect/>
          </a:stretch>
        </p:blipFill>
        <p:spPr>
          <a:xfrm rot="0">
            <a:off x="-179870" y="585665"/>
            <a:ext cx="11742196" cy="9995230"/>
          </a:xfrm>
          <a:prstGeom prst="rect">
            <a:avLst/>
          </a:prstGeom>
        </p:spPr>
      </p:pic>
      <p:grpSp>
        <p:nvGrpSpPr>
          <p:cNvPr name="Group 5" id="5"/>
          <p:cNvGrpSpPr/>
          <p:nvPr/>
        </p:nvGrpSpPr>
        <p:grpSpPr>
          <a:xfrm rot="0">
            <a:off x="9548741" y="1844376"/>
            <a:ext cx="9557788" cy="7600455"/>
            <a:chOff x="0" y="0"/>
            <a:chExt cx="12743717" cy="10133940"/>
          </a:xfrm>
        </p:grpSpPr>
        <p:grpSp>
          <p:nvGrpSpPr>
            <p:cNvPr name="Group 6" id="6"/>
            <p:cNvGrpSpPr/>
            <p:nvPr/>
          </p:nvGrpSpPr>
          <p:grpSpPr>
            <a:xfrm rot="0">
              <a:off x="2482768" y="1160780"/>
              <a:ext cx="7736802" cy="1656472"/>
              <a:chOff x="0" y="0"/>
              <a:chExt cx="2523709" cy="540333"/>
            </a:xfrm>
          </p:grpSpPr>
          <p:sp>
            <p:nvSpPr>
              <p:cNvPr name="Freeform 7" id="7"/>
              <p:cNvSpPr/>
              <p:nvPr/>
            </p:nvSpPr>
            <p:spPr>
              <a:xfrm flipH="false" flipV="false" rot="0">
                <a:off x="0" y="0"/>
                <a:ext cx="2523709" cy="540333"/>
              </a:xfrm>
              <a:custGeom>
                <a:avLst/>
                <a:gdLst/>
                <a:ahLst/>
                <a:cxnLst/>
                <a:rect r="r" b="b" t="t" l="l"/>
                <a:pathLst>
                  <a:path h="540333" w="2523709">
                    <a:moveTo>
                      <a:pt x="68045" y="0"/>
                    </a:moveTo>
                    <a:lnTo>
                      <a:pt x="2455664" y="0"/>
                    </a:lnTo>
                    <a:cubicBezTo>
                      <a:pt x="2493244" y="0"/>
                      <a:pt x="2523709" y="30465"/>
                      <a:pt x="2523709" y="68045"/>
                    </a:cubicBezTo>
                    <a:lnTo>
                      <a:pt x="2523709" y="472288"/>
                    </a:lnTo>
                    <a:cubicBezTo>
                      <a:pt x="2523709" y="490335"/>
                      <a:pt x="2516540" y="507642"/>
                      <a:pt x="2503779" y="520403"/>
                    </a:cubicBezTo>
                    <a:cubicBezTo>
                      <a:pt x="2491018" y="533164"/>
                      <a:pt x="2473710" y="540333"/>
                      <a:pt x="2455664" y="540333"/>
                    </a:cubicBezTo>
                    <a:lnTo>
                      <a:pt x="68045" y="540333"/>
                    </a:lnTo>
                    <a:cubicBezTo>
                      <a:pt x="49998" y="540333"/>
                      <a:pt x="32691" y="533164"/>
                      <a:pt x="19930" y="520403"/>
                    </a:cubicBezTo>
                    <a:cubicBezTo>
                      <a:pt x="7169" y="507642"/>
                      <a:pt x="0" y="490335"/>
                      <a:pt x="0" y="472288"/>
                    </a:cubicBezTo>
                    <a:lnTo>
                      <a:pt x="0" y="68045"/>
                    </a:lnTo>
                    <a:cubicBezTo>
                      <a:pt x="0" y="49998"/>
                      <a:pt x="7169" y="32691"/>
                      <a:pt x="19930" y="19930"/>
                    </a:cubicBezTo>
                    <a:cubicBezTo>
                      <a:pt x="32691" y="7169"/>
                      <a:pt x="49998" y="0"/>
                      <a:pt x="6804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66675" cap="rnd">
                <a:solidFill>
                  <a:srgbClr val="E4A8C3"/>
                </a:solidFill>
                <a:prstDash val="solid"/>
                <a:round/>
              </a:ln>
            </p:spPr>
          </p:sp>
          <p:sp>
            <p:nvSpPr>
              <p:cNvPr name="TextBox 8" id="8"/>
              <p:cNvSpPr txBox="true"/>
              <p:nvPr/>
            </p:nvSpPr>
            <p:spPr>
              <a:xfrm>
                <a:off x="0" y="85725"/>
                <a:ext cx="2523709" cy="454608"/>
              </a:xfrm>
              <a:prstGeom prst="rect">
                <a:avLst/>
              </a:prstGeom>
            </p:spPr>
            <p:txBody>
              <a:bodyPr anchor="ctr" rtlCol="false" tIns="42441" lIns="42441" bIns="42441" rIns="42441"/>
              <a:lstStyle/>
              <a:p>
                <a:pPr algn="ctr">
                  <a:lnSpc>
                    <a:spcPts val="2303"/>
                  </a:lnSpc>
                </a:pPr>
              </a:p>
            </p:txBody>
          </p:sp>
        </p:grpSp>
        <p:sp>
          <p:nvSpPr>
            <p:cNvPr name="TextBox 9" id="9"/>
            <p:cNvSpPr txBox="true"/>
            <p:nvPr/>
          </p:nvSpPr>
          <p:spPr>
            <a:xfrm rot="0">
              <a:off x="2800792" y="1391013"/>
              <a:ext cx="7087797" cy="1293851"/>
            </a:xfrm>
            <a:prstGeom prst="rect">
              <a:avLst/>
            </a:prstGeom>
          </p:spPr>
          <p:txBody>
            <a:bodyPr anchor="t" rtlCol="false" tIns="0" lIns="0" bIns="0" rIns="0">
              <a:spAutoFit/>
            </a:bodyPr>
            <a:lstStyle/>
            <a:p>
              <a:pPr algn="just">
                <a:lnSpc>
                  <a:spcPts val="2554"/>
                </a:lnSpc>
              </a:pPr>
              <a:r>
                <a:rPr lang="en-US" b="true" sz="2027" spc="-113">
                  <a:solidFill>
                    <a:srgbClr val="E4A8C3"/>
                  </a:solidFill>
                  <a:latin typeface="Garet Bold"/>
                  <a:ea typeface="Garet Bold"/>
                  <a:cs typeface="Garet Bold"/>
                  <a:sym typeface="Garet Bold"/>
                </a:rPr>
                <a:t>High Depreciation (≥60%): </a:t>
              </a:r>
            </a:p>
            <a:p>
              <a:pPr algn="just">
                <a:lnSpc>
                  <a:spcPts val="2554"/>
                </a:lnSpc>
                <a:spcBef>
                  <a:spcPct val="0"/>
                </a:spcBef>
              </a:pPr>
              <a:r>
                <a:rPr lang="en-US" sz="2027" spc="-113">
                  <a:solidFill>
                    <a:srgbClr val="FFFFFF"/>
                  </a:solidFill>
                  <a:latin typeface="Garet"/>
                  <a:ea typeface="Garet"/>
                  <a:cs typeface="Garet"/>
                  <a:sym typeface="Garet"/>
                </a:rPr>
                <a:t>mengalami penurunan nilai yang drastis di pasar barang bekas.</a:t>
              </a:r>
            </a:p>
          </p:txBody>
        </p:sp>
        <p:sp>
          <p:nvSpPr>
            <p:cNvPr name="TextBox 10" id="10"/>
            <p:cNvSpPr txBox="true"/>
            <p:nvPr/>
          </p:nvSpPr>
          <p:spPr>
            <a:xfrm rot="0">
              <a:off x="3052526" y="3345281"/>
              <a:ext cx="6693000" cy="1949295"/>
            </a:xfrm>
            <a:prstGeom prst="rect">
              <a:avLst/>
            </a:prstGeom>
          </p:spPr>
          <p:txBody>
            <a:bodyPr anchor="t" rtlCol="false" tIns="0" lIns="0" bIns="0" rIns="0">
              <a:spAutoFit/>
            </a:bodyPr>
            <a:lstStyle/>
            <a:p>
              <a:pPr algn="just">
                <a:lnSpc>
                  <a:spcPts val="2381"/>
                </a:lnSpc>
              </a:pPr>
              <a:r>
                <a:rPr lang="en-US" b="true" sz="1890" spc="-105">
                  <a:solidFill>
                    <a:srgbClr val="FDFABA"/>
                  </a:solidFill>
                  <a:latin typeface="Garet Bold"/>
                  <a:ea typeface="Garet Bold"/>
                  <a:cs typeface="Garet Bold"/>
                  <a:sym typeface="Garet Bold"/>
                </a:rPr>
                <a:t>Moderat Depreciation</a:t>
              </a:r>
            </a:p>
            <a:p>
              <a:pPr algn="just">
                <a:lnSpc>
                  <a:spcPts val="2381"/>
                </a:lnSpc>
              </a:pPr>
              <a:r>
                <a:rPr lang="en-US" sz="1890" spc="-105">
                  <a:solidFill>
                    <a:srgbClr val="FFFFFF"/>
                  </a:solidFill>
                  <a:latin typeface="Garet"/>
                  <a:ea typeface="Garet"/>
                  <a:cs typeface="Garet"/>
                  <a:sym typeface="Garet"/>
                </a:rPr>
                <a:t>memiliki resale value yang stabi namun tidak istemewa. Memiliki  supply barang bekas yang cukup banyak di pasaran.</a:t>
              </a:r>
            </a:p>
            <a:p>
              <a:pPr algn="just">
                <a:lnSpc>
                  <a:spcPts val="2381"/>
                </a:lnSpc>
                <a:spcBef>
                  <a:spcPct val="0"/>
                </a:spcBef>
              </a:pPr>
            </a:p>
          </p:txBody>
        </p:sp>
        <p:grpSp>
          <p:nvGrpSpPr>
            <p:cNvPr name="Group 11" id="11"/>
            <p:cNvGrpSpPr/>
            <p:nvPr/>
          </p:nvGrpSpPr>
          <p:grpSpPr>
            <a:xfrm rot="0">
              <a:off x="2578481" y="3104433"/>
              <a:ext cx="7641089" cy="1884571"/>
              <a:chOff x="0" y="0"/>
              <a:chExt cx="2492487" cy="614738"/>
            </a:xfrm>
          </p:grpSpPr>
          <p:sp>
            <p:nvSpPr>
              <p:cNvPr name="Freeform 12" id="12"/>
              <p:cNvSpPr/>
              <p:nvPr/>
            </p:nvSpPr>
            <p:spPr>
              <a:xfrm flipH="false" flipV="false" rot="0">
                <a:off x="0" y="0"/>
                <a:ext cx="2492487" cy="614738"/>
              </a:xfrm>
              <a:custGeom>
                <a:avLst/>
                <a:gdLst/>
                <a:ahLst/>
                <a:cxnLst/>
                <a:rect r="r" b="b" t="t" l="l"/>
                <a:pathLst>
                  <a:path h="614738" w="2492487">
                    <a:moveTo>
                      <a:pt x="68897" y="0"/>
                    </a:moveTo>
                    <a:lnTo>
                      <a:pt x="2423590" y="0"/>
                    </a:lnTo>
                    <a:cubicBezTo>
                      <a:pt x="2441863" y="0"/>
                      <a:pt x="2459387" y="7259"/>
                      <a:pt x="2472308" y="20180"/>
                    </a:cubicBezTo>
                    <a:cubicBezTo>
                      <a:pt x="2485229" y="33100"/>
                      <a:pt x="2492487" y="50625"/>
                      <a:pt x="2492487" y="68897"/>
                    </a:cubicBezTo>
                    <a:lnTo>
                      <a:pt x="2492487" y="545841"/>
                    </a:lnTo>
                    <a:cubicBezTo>
                      <a:pt x="2492487" y="583892"/>
                      <a:pt x="2461641" y="614738"/>
                      <a:pt x="2423590" y="614738"/>
                    </a:cubicBezTo>
                    <a:lnTo>
                      <a:pt x="68897" y="614738"/>
                    </a:lnTo>
                    <a:cubicBezTo>
                      <a:pt x="50625" y="614738"/>
                      <a:pt x="33100" y="607479"/>
                      <a:pt x="20180" y="594559"/>
                    </a:cubicBezTo>
                    <a:cubicBezTo>
                      <a:pt x="7259" y="581638"/>
                      <a:pt x="0" y="564114"/>
                      <a:pt x="0" y="545841"/>
                    </a:cubicBezTo>
                    <a:lnTo>
                      <a:pt x="0" y="68897"/>
                    </a:lnTo>
                    <a:cubicBezTo>
                      <a:pt x="0" y="30846"/>
                      <a:pt x="30846" y="0"/>
                      <a:pt x="68897"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66675" cap="rnd">
                <a:solidFill>
                  <a:srgbClr val="FDFABA"/>
                </a:solidFill>
                <a:prstDash val="solid"/>
                <a:round/>
              </a:ln>
            </p:spPr>
          </p:sp>
          <p:sp>
            <p:nvSpPr>
              <p:cNvPr name="TextBox 13" id="13"/>
              <p:cNvSpPr txBox="true"/>
              <p:nvPr/>
            </p:nvSpPr>
            <p:spPr>
              <a:xfrm>
                <a:off x="0" y="85725"/>
                <a:ext cx="2492487" cy="529013"/>
              </a:xfrm>
              <a:prstGeom prst="rect">
                <a:avLst/>
              </a:prstGeom>
            </p:spPr>
            <p:txBody>
              <a:bodyPr anchor="ctr" rtlCol="false" tIns="42441" lIns="42441" bIns="42441" rIns="42441"/>
              <a:lstStyle/>
              <a:p>
                <a:pPr algn="ctr">
                  <a:lnSpc>
                    <a:spcPts val="2303"/>
                  </a:lnSpc>
                </a:pPr>
              </a:p>
            </p:txBody>
          </p:sp>
        </p:grpSp>
        <p:grpSp>
          <p:nvGrpSpPr>
            <p:cNvPr name="Group 14" id="14"/>
            <p:cNvGrpSpPr/>
            <p:nvPr/>
          </p:nvGrpSpPr>
          <p:grpSpPr>
            <a:xfrm rot="0">
              <a:off x="2578481" y="5229852"/>
              <a:ext cx="7736802" cy="1655537"/>
              <a:chOff x="0" y="0"/>
              <a:chExt cx="2523709" cy="540028"/>
            </a:xfrm>
          </p:grpSpPr>
          <p:sp>
            <p:nvSpPr>
              <p:cNvPr name="Freeform 15" id="15"/>
              <p:cNvSpPr/>
              <p:nvPr/>
            </p:nvSpPr>
            <p:spPr>
              <a:xfrm flipH="false" flipV="false" rot="0">
                <a:off x="0" y="0"/>
                <a:ext cx="2523709" cy="540028"/>
              </a:xfrm>
              <a:custGeom>
                <a:avLst/>
                <a:gdLst/>
                <a:ahLst/>
                <a:cxnLst/>
                <a:rect r="r" b="b" t="t" l="l"/>
                <a:pathLst>
                  <a:path h="540028" w="2523709">
                    <a:moveTo>
                      <a:pt x="68045" y="0"/>
                    </a:moveTo>
                    <a:lnTo>
                      <a:pt x="2455664" y="0"/>
                    </a:lnTo>
                    <a:cubicBezTo>
                      <a:pt x="2493244" y="0"/>
                      <a:pt x="2523709" y="30465"/>
                      <a:pt x="2523709" y="68045"/>
                    </a:cubicBezTo>
                    <a:lnTo>
                      <a:pt x="2523709" y="471983"/>
                    </a:lnTo>
                    <a:cubicBezTo>
                      <a:pt x="2523709" y="490030"/>
                      <a:pt x="2516540" y="507338"/>
                      <a:pt x="2503779" y="520099"/>
                    </a:cubicBezTo>
                    <a:cubicBezTo>
                      <a:pt x="2491018" y="532859"/>
                      <a:pt x="2473710" y="540028"/>
                      <a:pt x="2455664" y="540028"/>
                    </a:cubicBezTo>
                    <a:lnTo>
                      <a:pt x="68045" y="540028"/>
                    </a:lnTo>
                    <a:cubicBezTo>
                      <a:pt x="49998" y="540028"/>
                      <a:pt x="32691" y="532859"/>
                      <a:pt x="19930" y="520099"/>
                    </a:cubicBezTo>
                    <a:cubicBezTo>
                      <a:pt x="7169" y="507338"/>
                      <a:pt x="0" y="490030"/>
                      <a:pt x="0" y="471983"/>
                    </a:cubicBezTo>
                    <a:lnTo>
                      <a:pt x="0" y="68045"/>
                    </a:lnTo>
                    <a:cubicBezTo>
                      <a:pt x="0" y="49998"/>
                      <a:pt x="7169" y="32691"/>
                      <a:pt x="19930" y="19930"/>
                    </a:cubicBezTo>
                    <a:cubicBezTo>
                      <a:pt x="32691" y="7169"/>
                      <a:pt x="49998" y="0"/>
                      <a:pt x="6804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66675" cap="rnd">
                <a:solidFill>
                  <a:srgbClr val="FFB474"/>
                </a:solidFill>
                <a:prstDash val="solid"/>
                <a:round/>
              </a:ln>
            </p:spPr>
          </p:sp>
          <p:sp>
            <p:nvSpPr>
              <p:cNvPr name="TextBox 16" id="16"/>
              <p:cNvSpPr txBox="true"/>
              <p:nvPr/>
            </p:nvSpPr>
            <p:spPr>
              <a:xfrm>
                <a:off x="0" y="85725"/>
                <a:ext cx="2523709" cy="454303"/>
              </a:xfrm>
              <a:prstGeom prst="rect">
                <a:avLst/>
              </a:prstGeom>
            </p:spPr>
            <p:txBody>
              <a:bodyPr anchor="ctr" rtlCol="false" tIns="42441" lIns="42441" bIns="42441" rIns="42441"/>
              <a:lstStyle/>
              <a:p>
                <a:pPr algn="ctr">
                  <a:lnSpc>
                    <a:spcPts val="2303"/>
                  </a:lnSpc>
                </a:pPr>
              </a:p>
            </p:txBody>
          </p:sp>
        </p:grpSp>
        <p:sp>
          <p:nvSpPr>
            <p:cNvPr name="TextBox 17" id="17"/>
            <p:cNvSpPr txBox="true"/>
            <p:nvPr/>
          </p:nvSpPr>
          <p:spPr>
            <a:xfrm rot="0">
              <a:off x="2896505" y="5460085"/>
              <a:ext cx="7087797" cy="1293823"/>
            </a:xfrm>
            <a:prstGeom prst="rect">
              <a:avLst/>
            </a:prstGeom>
          </p:spPr>
          <p:txBody>
            <a:bodyPr anchor="t" rtlCol="false" tIns="0" lIns="0" bIns="0" rIns="0">
              <a:spAutoFit/>
            </a:bodyPr>
            <a:lstStyle/>
            <a:p>
              <a:pPr algn="just">
                <a:lnSpc>
                  <a:spcPts val="2558"/>
                </a:lnSpc>
              </a:pPr>
              <a:r>
                <a:rPr lang="en-US" b="true" sz="2030" spc="-113">
                  <a:solidFill>
                    <a:srgbClr val="FFB474"/>
                  </a:solidFill>
                  <a:latin typeface="Garet Bold"/>
                  <a:ea typeface="Garet Bold"/>
                  <a:cs typeface="Garet Bold"/>
                  <a:sym typeface="Garet Bold"/>
                </a:rPr>
                <a:t>Low Depreciation:</a:t>
              </a:r>
            </a:p>
            <a:p>
              <a:pPr algn="just">
                <a:lnSpc>
                  <a:spcPts val="2558"/>
                </a:lnSpc>
                <a:spcBef>
                  <a:spcPct val="0"/>
                </a:spcBef>
              </a:pPr>
              <a:r>
                <a:rPr lang="en-US" sz="2030" spc="-113">
                  <a:solidFill>
                    <a:srgbClr val="FFFFFF"/>
                  </a:solidFill>
                  <a:latin typeface="Garet"/>
                  <a:ea typeface="Garet"/>
                  <a:cs typeface="Garet"/>
                  <a:sym typeface="Garet"/>
                </a:rPr>
                <a:t>memiliki depresiasi paling rendah, artinya harga jual kembalinya sangat stabil/awet.</a:t>
              </a:r>
            </a:p>
          </p:txBody>
        </p:sp>
        <p:sp>
          <p:nvSpPr>
            <p:cNvPr name="TextBox 18" id="18"/>
            <p:cNvSpPr txBox="true"/>
            <p:nvPr/>
          </p:nvSpPr>
          <p:spPr>
            <a:xfrm rot="0">
              <a:off x="0" y="-28575"/>
              <a:ext cx="12689382" cy="959605"/>
            </a:xfrm>
            <a:prstGeom prst="rect">
              <a:avLst/>
            </a:prstGeom>
          </p:spPr>
          <p:txBody>
            <a:bodyPr anchor="t" rtlCol="false" tIns="0" lIns="0" bIns="0" rIns="0">
              <a:spAutoFit/>
            </a:bodyPr>
            <a:lstStyle/>
            <a:p>
              <a:pPr algn="ctr">
                <a:lnSpc>
                  <a:spcPts val="5812"/>
                </a:lnSpc>
                <a:spcBef>
                  <a:spcPct val="0"/>
                </a:spcBef>
              </a:pPr>
              <a:r>
                <a:rPr lang="en-US" sz="4613" spc="290">
                  <a:solidFill>
                    <a:srgbClr val="D4B450"/>
                  </a:solidFill>
                  <a:latin typeface="League Spartan"/>
                  <a:ea typeface="League Spartan"/>
                  <a:cs typeface="League Spartan"/>
                  <a:sym typeface="League Spartan"/>
                </a:rPr>
                <a:t>Tingkat Depresiasi </a:t>
              </a:r>
            </a:p>
          </p:txBody>
        </p:sp>
        <p:sp>
          <p:nvSpPr>
            <p:cNvPr name="TextBox 19" id="19"/>
            <p:cNvSpPr txBox="true"/>
            <p:nvPr/>
          </p:nvSpPr>
          <p:spPr>
            <a:xfrm rot="0">
              <a:off x="54335" y="7606114"/>
              <a:ext cx="12689382" cy="959605"/>
            </a:xfrm>
            <a:prstGeom prst="rect">
              <a:avLst/>
            </a:prstGeom>
          </p:spPr>
          <p:txBody>
            <a:bodyPr anchor="t" rtlCol="false" tIns="0" lIns="0" bIns="0" rIns="0">
              <a:spAutoFit/>
            </a:bodyPr>
            <a:lstStyle/>
            <a:p>
              <a:pPr algn="ctr">
                <a:lnSpc>
                  <a:spcPts val="5812"/>
                </a:lnSpc>
                <a:spcBef>
                  <a:spcPct val="0"/>
                </a:spcBef>
              </a:pPr>
              <a:r>
                <a:rPr lang="en-US" sz="4613" spc="290">
                  <a:solidFill>
                    <a:srgbClr val="DF5858"/>
                  </a:solidFill>
                  <a:latin typeface="League Spartan"/>
                  <a:ea typeface="League Spartan"/>
                  <a:cs typeface="League Spartan"/>
                  <a:sym typeface="League Spartan"/>
                </a:rPr>
                <a:t>Anomali</a:t>
              </a:r>
            </a:p>
          </p:txBody>
        </p:sp>
        <p:grpSp>
          <p:nvGrpSpPr>
            <p:cNvPr name="Group 20" id="20"/>
            <p:cNvGrpSpPr/>
            <p:nvPr/>
          </p:nvGrpSpPr>
          <p:grpSpPr>
            <a:xfrm rot="0">
              <a:off x="2649229" y="8541469"/>
              <a:ext cx="7641089" cy="1592471"/>
              <a:chOff x="0" y="0"/>
              <a:chExt cx="2492487" cy="519456"/>
            </a:xfrm>
          </p:grpSpPr>
          <p:sp>
            <p:nvSpPr>
              <p:cNvPr name="Freeform 21" id="21"/>
              <p:cNvSpPr/>
              <p:nvPr/>
            </p:nvSpPr>
            <p:spPr>
              <a:xfrm flipH="false" flipV="false" rot="0">
                <a:off x="0" y="0"/>
                <a:ext cx="2492487" cy="519456"/>
              </a:xfrm>
              <a:custGeom>
                <a:avLst/>
                <a:gdLst/>
                <a:ahLst/>
                <a:cxnLst/>
                <a:rect r="r" b="b" t="t" l="l"/>
                <a:pathLst>
                  <a:path h="519456" w="2492487">
                    <a:moveTo>
                      <a:pt x="40528" y="0"/>
                    </a:moveTo>
                    <a:lnTo>
                      <a:pt x="2451960" y="0"/>
                    </a:lnTo>
                    <a:cubicBezTo>
                      <a:pt x="2462708" y="0"/>
                      <a:pt x="2473017" y="4270"/>
                      <a:pt x="2480617" y="11870"/>
                    </a:cubicBezTo>
                    <a:cubicBezTo>
                      <a:pt x="2488218" y="19471"/>
                      <a:pt x="2492487" y="29779"/>
                      <a:pt x="2492487" y="40528"/>
                    </a:cubicBezTo>
                    <a:lnTo>
                      <a:pt x="2492487" y="478929"/>
                    </a:lnTo>
                    <a:cubicBezTo>
                      <a:pt x="2492487" y="501312"/>
                      <a:pt x="2474342" y="519456"/>
                      <a:pt x="2451960" y="519456"/>
                    </a:cubicBezTo>
                    <a:lnTo>
                      <a:pt x="40528" y="519456"/>
                    </a:lnTo>
                    <a:cubicBezTo>
                      <a:pt x="18145" y="519456"/>
                      <a:pt x="0" y="501312"/>
                      <a:pt x="0" y="478929"/>
                    </a:cubicBezTo>
                    <a:lnTo>
                      <a:pt x="0" y="40528"/>
                    </a:lnTo>
                    <a:cubicBezTo>
                      <a:pt x="0" y="18145"/>
                      <a:pt x="18145" y="0"/>
                      <a:pt x="40528" y="0"/>
                    </a:cubicBezTo>
                    <a:close/>
                  </a:path>
                </a:pathLst>
              </a:custGeom>
              <a:solidFill>
                <a:srgbClr val="FFFEE3"/>
              </a:solidFill>
              <a:ln w="28575" cap="rnd">
                <a:solidFill>
                  <a:srgbClr val="ED2727"/>
                </a:solidFill>
                <a:prstDash val="solid"/>
                <a:round/>
              </a:ln>
            </p:spPr>
          </p:sp>
          <p:sp>
            <p:nvSpPr>
              <p:cNvPr name="TextBox 22" id="22"/>
              <p:cNvSpPr txBox="true"/>
              <p:nvPr/>
            </p:nvSpPr>
            <p:spPr>
              <a:xfrm>
                <a:off x="0" y="85725"/>
                <a:ext cx="2492487" cy="433731"/>
              </a:xfrm>
              <a:prstGeom prst="rect">
                <a:avLst/>
              </a:prstGeom>
            </p:spPr>
            <p:txBody>
              <a:bodyPr anchor="ctr" rtlCol="false" tIns="42441" lIns="42441" bIns="42441" rIns="42441"/>
              <a:lstStyle/>
              <a:p>
                <a:pPr algn="ctr">
                  <a:lnSpc>
                    <a:spcPts val="2303"/>
                  </a:lnSpc>
                </a:pPr>
              </a:p>
            </p:txBody>
          </p:sp>
        </p:grpSp>
        <p:sp>
          <p:nvSpPr>
            <p:cNvPr name="TextBox 23" id="23"/>
            <p:cNvSpPr txBox="true"/>
            <p:nvPr/>
          </p:nvSpPr>
          <p:spPr>
            <a:xfrm rot="0">
              <a:off x="2925875" y="8723031"/>
              <a:ext cx="7087797" cy="1293717"/>
            </a:xfrm>
            <a:prstGeom prst="rect">
              <a:avLst/>
            </a:prstGeom>
          </p:spPr>
          <p:txBody>
            <a:bodyPr anchor="t" rtlCol="false" tIns="0" lIns="0" bIns="0" rIns="0">
              <a:spAutoFit/>
            </a:bodyPr>
            <a:lstStyle/>
            <a:p>
              <a:pPr algn="just">
                <a:lnSpc>
                  <a:spcPts val="2571"/>
                </a:lnSpc>
                <a:spcBef>
                  <a:spcPct val="0"/>
                </a:spcBef>
              </a:pPr>
              <a:r>
                <a:rPr lang="en-US" sz="2040" spc="-114">
                  <a:solidFill>
                    <a:srgbClr val="ED2727"/>
                  </a:solidFill>
                  <a:latin typeface="Garet"/>
                  <a:ea typeface="Garet"/>
                  <a:cs typeface="Garet"/>
                  <a:sym typeface="Garet"/>
                </a:rPr>
                <a:t>Tecno mencatat nilai negatif (-21.09%), yang berarti </a:t>
              </a:r>
              <a:r>
                <a:rPr lang="en-US" b="true" sz="2040" spc="-114">
                  <a:solidFill>
                    <a:srgbClr val="ED2727"/>
                  </a:solidFill>
                  <a:latin typeface="Garet Bold"/>
                  <a:ea typeface="Garet Bold"/>
                  <a:cs typeface="Garet Bold"/>
                  <a:sym typeface="Garet Bold"/>
                </a:rPr>
                <a:t>harga pasar barang bekasnya justru lebih tinggi </a:t>
              </a:r>
              <a:r>
                <a:rPr lang="en-US" sz="2040" spc="-114">
                  <a:solidFill>
                    <a:srgbClr val="ED2727"/>
                  </a:solidFill>
                  <a:latin typeface="Garet"/>
                  <a:ea typeface="Garet"/>
                  <a:cs typeface="Garet"/>
                  <a:sym typeface="Garet"/>
                </a:rPr>
                <a:t>daripada median harga baru.</a:t>
              </a:r>
            </a:p>
          </p:txBody>
        </p:sp>
      </p:grpSp>
      <p:grpSp>
        <p:nvGrpSpPr>
          <p:cNvPr name="Group 24" id="24"/>
          <p:cNvGrpSpPr/>
          <p:nvPr/>
        </p:nvGrpSpPr>
        <p:grpSpPr>
          <a:xfrm rot="0">
            <a:off x="1028700" y="337116"/>
            <a:ext cx="16386847" cy="1227065"/>
            <a:chOff x="0" y="0"/>
            <a:chExt cx="21849129" cy="1636087"/>
          </a:xfrm>
        </p:grpSpPr>
        <p:sp>
          <p:nvSpPr>
            <p:cNvPr name="Freeform 25" id="25"/>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26" id="26"/>
            <p:cNvGrpSpPr/>
            <p:nvPr/>
          </p:nvGrpSpPr>
          <p:grpSpPr>
            <a:xfrm rot="0">
              <a:off x="11378892" y="443664"/>
              <a:ext cx="3080976" cy="969444"/>
              <a:chOff x="0" y="0"/>
              <a:chExt cx="1291574" cy="406400"/>
            </a:xfrm>
          </p:grpSpPr>
          <p:sp>
            <p:nvSpPr>
              <p:cNvPr name="Freeform 27" id="27"/>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8" id="28"/>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9" id="29"/>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30" id="30"/>
            <p:cNvGrpSpPr/>
            <p:nvPr/>
          </p:nvGrpSpPr>
          <p:grpSpPr>
            <a:xfrm rot="0">
              <a:off x="16468734" y="443664"/>
              <a:ext cx="5380395" cy="969444"/>
              <a:chOff x="0" y="0"/>
              <a:chExt cx="2255512" cy="406400"/>
            </a:xfrm>
          </p:grpSpPr>
          <p:sp>
            <p:nvSpPr>
              <p:cNvPr name="Freeform 31" id="31"/>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32" id="32"/>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33" id="33"/>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34" id="34"/>
            <p:cNvGrpSpPr/>
            <p:nvPr/>
          </p:nvGrpSpPr>
          <p:grpSpPr>
            <a:xfrm rot="0">
              <a:off x="14828167" y="283406"/>
              <a:ext cx="1277412" cy="1277412"/>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36" id="36"/>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37" id="37"/>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aphicFrame>
        <p:nvGraphicFramePr>
          <p:cNvPr name="Object 3" id="3"/>
          <p:cNvGraphicFramePr/>
          <p:nvPr/>
        </p:nvGraphicFramePr>
        <p:xfrm>
          <a:off x="887358" y="3507066"/>
          <a:ext cx="16708702" cy="6273788"/>
        </p:xfrm>
        <a:graphic>
          <a:graphicData uri="http://schemas.openxmlformats.org/presentationml/2006/ole">
            <p:oleObj imgW="20040600" imgH="961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3652128" y="1688728"/>
            <a:ext cx="10983743" cy="1655691"/>
          </a:xfrm>
          <a:prstGeom prst="rect">
            <a:avLst/>
          </a:prstGeom>
        </p:spPr>
        <p:txBody>
          <a:bodyPr anchor="t" rtlCol="false" tIns="0" lIns="0" bIns="0" rIns="0">
            <a:spAutoFit/>
          </a:bodyPr>
          <a:lstStyle/>
          <a:p>
            <a:pPr algn="ctr">
              <a:lnSpc>
                <a:spcPts val="8540"/>
              </a:lnSpc>
            </a:pPr>
            <a:r>
              <a:rPr lang="en-US" b="true" sz="6777" spc="-379">
                <a:solidFill>
                  <a:srgbClr val="E4FFC2"/>
                </a:solidFill>
                <a:latin typeface="Open Sauce Bold"/>
                <a:ea typeface="Open Sauce Bold"/>
                <a:cs typeface="Open Sauce Bold"/>
                <a:sym typeface="Open Sauce Bold"/>
              </a:rPr>
              <a:t>LIKUIDITAS PASAR BEKAS</a:t>
            </a:r>
          </a:p>
          <a:p>
            <a:pPr algn="ctr">
              <a:lnSpc>
                <a:spcPts val="4608"/>
              </a:lnSpc>
              <a:spcBef>
                <a:spcPct val="0"/>
              </a:spcBef>
            </a:pPr>
            <a:r>
              <a:rPr lang="en-US" b="true" sz="3657" spc="-204">
                <a:solidFill>
                  <a:srgbClr val="FFFFFF"/>
                </a:solidFill>
                <a:latin typeface="Open Sauce Bold"/>
                <a:ea typeface="Open Sauce Bold"/>
                <a:cs typeface="Open Sauce Bold"/>
                <a:sym typeface="Open Sauce Bold"/>
              </a:rPr>
              <a:t> TOP BRAND</a:t>
            </a:r>
          </a:p>
        </p:txBody>
      </p:sp>
      <p:sp>
        <p:nvSpPr>
          <p:cNvPr name="AutoShape 5" id="5"/>
          <p:cNvSpPr/>
          <p:nvPr/>
        </p:nvSpPr>
        <p:spPr>
          <a:xfrm>
            <a:off x="1028700" y="9734550"/>
            <a:ext cx="16230600" cy="0"/>
          </a:xfrm>
          <a:prstGeom prst="line">
            <a:avLst/>
          </a:prstGeom>
          <a:ln cap="flat" w="19050">
            <a:solidFill>
              <a:srgbClr val="FFFFFF"/>
            </a:solidFill>
            <a:prstDash val="solid"/>
            <a:headEnd type="none" len="sm" w="sm"/>
            <a:tailEnd type="none" len="sm" w="sm"/>
          </a:ln>
        </p:spPr>
      </p:sp>
      <p:grpSp>
        <p:nvGrpSpPr>
          <p:cNvPr name="Group 6" id="6"/>
          <p:cNvGrpSpPr/>
          <p:nvPr/>
        </p:nvGrpSpPr>
        <p:grpSpPr>
          <a:xfrm rot="0">
            <a:off x="11173935" y="2944355"/>
            <a:ext cx="6923874" cy="6150508"/>
            <a:chOff x="0" y="0"/>
            <a:chExt cx="9231831" cy="8200677"/>
          </a:xfrm>
        </p:grpSpPr>
        <p:grpSp>
          <p:nvGrpSpPr>
            <p:cNvPr name="Group 7" id="7"/>
            <p:cNvGrpSpPr/>
            <p:nvPr/>
          </p:nvGrpSpPr>
          <p:grpSpPr>
            <a:xfrm rot="0">
              <a:off x="0" y="878035"/>
              <a:ext cx="8999502" cy="3098403"/>
              <a:chOff x="0" y="0"/>
              <a:chExt cx="2319647" cy="798622"/>
            </a:xfrm>
          </p:grpSpPr>
          <p:sp>
            <p:nvSpPr>
              <p:cNvPr name="Freeform 8" id="8"/>
              <p:cNvSpPr/>
              <p:nvPr/>
            </p:nvSpPr>
            <p:spPr>
              <a:xfrm flipH="false" flipV="false" rot="0">
                <a:off x="0" y="0"/>
                <a:ext cx="2319647" cy="798622"/>
              </a:xfrm>
              <a:custGeom>
                <a:avLst/>
                <a:gdLst/>
                <a:ahLst/>
                <a:cxnLst/>
                <a:rect r="r" b="b" t="t" l="l"/>
                <a:pathLst>
                  <a:path h="798622" w="2319647">
                    <a:moveTo>
                      <a:pt x="65404" y="0"/>
                    </a:moveTo>
                    <a:lnTo>
                      <a:pt x="2254243" y="0"/>
                    </a:lnTo>
                    <a:cubicBezTo>
                      <a:pt x="2271590" y="0"/>
                      <a:pt x="2288225" y="6891"/>
                      <a:pt x="2300491" y="19156"/>
                    </a:cubicBezTo>
                    <a:cubicBezTo>
                      <a:pt x="2312757" y="31422"/>
                      <a:pt x="2319647" y="48058"/>
                      <a:pt x="2319647" y="65404"/>
                    </a:cubicBezTo>
                    <a:lnTo>
                      <a:pt x="2319647" y="733218"/>
                    </a:lnTo>
                    <a:cubicBezTo>
                      <a:pt x="2319647" y="750565"/>
                      <a:pt x="2312757" y="767200"/>
                      <a:pt x="2300491" y="779466"/>
                    </a:cubicBezTo>
                    <a:cubicBezTo>
                      <a:pt x="2288225" y="791731"/>
                      <a:pt x="2271590" y="798622"/>
                      <a:pt x="2254243" y="798622"/>
                    </a:cubicBezTo>
                    <a:lnTo>
                      <a:pt x="65404" y="798622"/>
                    </a:lnTo>
                    <a:cubicBezTo>
                      <a:pt x="48058" y="798622"/>
                      <a:pt x="31422" y="791731"/>
                      <a:pt x="19156" y="779466"/>
                    </a:cubicBezTo>
                    <a:cubicBezTo>
                      <a:pt x="6891" y="767200"/>
                      <a:pt x="0" y="750565"/>
                      <a:pt x="0" y="733218"/>
                    </a:cubicBezTo>
                    <a:lnTo>
                      <a:pt x="0" y="65404"/>
                    </a:lnTo>
                    <a:cubicBezTo>
                      <a:pt x="0" y="48058"/>
                      <a:pt x="6891" y="31422"/>
                      <a:pt x="19156" y="19156"/>
                    </a:cubicBezTo>
                    <a:cubicBezTo>
                      <a:pt x="31422" y="6891"/>
                      <a:pt x="48058" y="0"/>
                      <a:pt x="65404"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9" id="9"/>
              <p:cNvSpPr txBox="true"/>
              <p:nvPr/>
            </p:nvSpPr>
            <p:spPr>
              <a:xfrm>
                <a:off x="0" y="85725"/>
                <a:ext cx="2319647" cy="712897"/>
              </a:xfrm>
              <a:prstGeom prst="rect">
                <a:avLst/>
              </a:prstGeom>
            </p:spPr>
            <p:txBody>
              <a:bodyPr anchor="ctr" rtlCol="false" tIns="46740" lIns="46740" bIns="46740" rIns="46740"/>
              <a:lstStyle/>
              <a:p>
                <a:pPr algn="ctr">
                  <a:lnSpc>
                    <a:spcPts val="2218"/>
                  </a:lnSpc>
                </a:pPr>
              </a:p>
            </p:txBody>
          </p:sp>
        </p:grpSp>
        <p:sp>
          <p:nvSpPr>
            <p:cNvPr name="TextBox 10" id="10"/>
            <p:cNvSpPr txBox="true"/>
            <p:nvPr/>
          </p:nvSpPr>
          <p:spPr>
            <a:xfrm rot="0">
              <a:off x="171117" y="1115526"/>
              <a:ext cx="8611358" cy="2948875"/>
            </a:xfrm>
            <a:prstGeom prst="rect">
              <a:avLst/>
            </a:prstGeom>
          </p:spPr>
          <p:txBody>
            <a:bodyPr anchor="t" rtlCol="false" tIns="0" lIns="0" bIns="0" rIns="0">
              <a:spAutoFit/>
            </a:bodyPr>
            <a:lstStyle/>
            <a:p>
              <a:pPr algn="just" marL="332973" indent="-166486" lvl="1">
                <a:lnSpc>
                  <a:spcPts val="1943"/>
                </a:lnSpc>
                <a:buFont typeface="Arial"/>
                <a:buChar char="•"/>
              </a:pPr>
              <a:r>
                <a:rPr lang="en-US" b="true" sz="1542" spc="-86">
                  <a:solidFill>
                    <a:srgbClr val="FFFFFF"/>
                  </a:solidFill>
                  <a:latin typeface="Garet Bold"/>
                  <a:ea typeface="Garet Bold"/>
                  <a:cs typeface="Garet Bold"/>
                  <a:sym typeface="Garet Bold"/>
                </a:rPr>
                <a:t>Raja Pasar Bekas:</a:t>
              </a:r>
              <a:r>
                <a:rPr lang="en-US" sz="1542" spc="-86">
                  <a:solidFill>
                    <a:srgbClr val="FFFFFF"/>
                  </a:solidFill>
                  <a:latin typeface="Garet"/>
                  <a:ea typeface="Garet"/>
                  <a:cs typeface="Garet"/>
                  <a:sym typeface="Garet"/>
                </a:rPr>
                <a:t> Lenovo mendominasi mutlak dengan tingkat likuiditas tertinggi, di mana 91,80% dari seluruh listing bekasnya sukses terjual dan perputaran unitnya sangat cepat (rata-rata 303,5 unit per listing). </a:t>
              </a:r>
            </a:p>
            <a:p>
              <a:pPr algn="just" marL="332973" indent="-166486" lvl="1">
                <a:lnSpc>
                  <a:spcPts val="1943"/>
                </a:lnSpc>
                <a:buFont typeface="Arial"/>
                <a:buChar char="•"/>
              </a:pPr>
              <a:r>
                <a:rPr lang="en-US" b="true" sz="1542" spc="-86">
                  <a:solidFill>
                    <a:srgbClr val="FFFFFF"/>
                  </a:solidFill>
                  <a:latin typeface="Garet Bold"/>
                  <a:ea typeface="Garet Bold"/>
                  <a:cs typeface="Garet Bold"/>
                  <a:sym typeface="Garet Bold"/>
                </a:rPr>
                <a:t>Segmen Komersial &amp; Lokal Kuat: </a:t>
              </a:r>
              <a:r>
                <a:rPr lang="en-US" sz="1542" spc="-86">
                  <a:solidFill>
                    <a:srgbClr val="FFFFFF"/>
                  </a:solidFill>
                  <a:latin typeface="Garet"/>
                  <a:ea typeface="Garet"/>
                  <a:cs typeface="Garet"/>
                  <a:sym typeface="Garet"/>
                </a:rPr>
                <a:t>Axioo, HP, dan Dell menunjukkan daya serap pasar yang tinggi (&gt;80% terjual). Hal ini mengindikasikan kuatnya permintaan pasar secondhand untuk kebutuhan kerja standar dan operasional.</a:t>
              </a:r>
            </a:p>
            <a:p>
              <a:pPr algn="just">
                <a:lnSpc>
                  <a:spcPts val="1943"/>
                </a:lnSpc>
                <a:spcBef>
                  <a:spcPct val="0"/>
                </a:spcBef>
              </a:pPr>
            </a:p>
          </p:txBody>
        </p:sp>
        <p:grpSp>
          <p:nvGrpSpPr>
            <p:cNvPr name="Group 11" id="11"/>
            <p:cNvGrpSpPr/>
            <p:nvPr/>
          </p:nvGrpSpPr>
          <p:grpSpPr>
            <a:xfrm rot="0">
              <a:off x="171117" y="5032608"/>
              <a:ext cx="9060714" cy="3042456"/>
              <a:chOff x="0" y="0"/>
              <a:chExt cx="2335425" cy="784202"/>
            </a:xfrm>
          </p:grpSpPr>
          <p:sp>
            <p:nvSpPr>
              <p:cNvPr name="Freeform 12" id="12"/>
              <p:cNvSpPr/>
              <p:nvPr/>
            </p:nvSpPr>
            <p:spPr>
              <a:xfrm flipH="false" flipV="false" rot="0">
                <a:off x="0" y="0"/>
                <a:ext cx="2335425" cy="784202"/>
              </a:xfrm>
              <a:custGeom>
                <a:avLst/>
                <a:gdLst/>
                <a:ahLst/>
                <a:cxnLst/>
                <a:rect r="r" b="b" t="t" l="l"/>
                <a:pathLst>
                  <a:path h="784202" w="2335425">
                    <a:moveTo>
                      <a:pt x="64962" y="0"/>
                    </a:moveTo>
                    <a:lnTo>
                      <a:pt x="2270463" y="0"/>
                    </a:lnTo>
                    <a:cubicBezTo>
                      <a:pt x="2306341" y="0"/>
                      <a:pt x="2335425" y="29085"/>
                      <a:pt x="2335425" y="64962"/>
                    </a:cubicBezTo>
                    <a:lnTo>
                      <a:pt x="2335425" y="719240"/>
                    </a:lnTo>
                    <a:cubicBezTo>
                      <a:pt x="2335425" y="736469"/>
                      <a:pt x="2328581" y="752992"/>
                      <a:pt x="2316398" y="765175"/>
                    </a:cubicBezTo>
                    <a:cubicBezTo>
                      <a:pt x="2304215" y="777357"/>
                      <a:pt x="2287692" y="784202"/>
                      <a:pt x="2270463" y="784202"/>
                    </a:cubicBezTo>
                    <a:lnTo>
                      <a:pt x="64962" y="784202"/>
                    </a:lnTo>
                    <a:cubicBezTo>
                      <a:pt x="47733" y="784202"/>
                      <a:pt x="31210" y="777357"/>
                      <a:pt x="19027" y="765175"/>
                    </a:cubicBezTo>
                    <a:cubicBezTo>
                      <a:pt x="6844" y="752992"/>
                      <a:pt x="0" y="736469"/>
                      <a:pt x="0" y="719240"/>
                    </a:cubicBezTo>
                    <a:lnTo>
                      <a:pt x="0" y="64962"/>
                    </a:lnTo>
                    <a:cubicBezTo>
                      <a:pt x="0" y="29085"/>
                      <a:pt x="29085" y="0"/>
                      <a:pt x="6496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3" id="13"/>
              <p:cNvSpPr txBox="true"/>
              <p:nvPr/>
            </p:nvSpPr>
            <p:spPr>
              <a:xfrm>
                <a:off x="0" y="85725"/>
                <a:ext cx="2335425" cy="698477"/>
              </a:xfrm>
              <a:prstGeom prst="rect">
                <a:avLst/>
              </a:prstGeom>
            </p:spPr>
            <p:txBody>
              <a:bodyPr anchor="ctr" rtlCol="false" tIns="46740" lIns="46740" bIns="46740" rIns="46740"/>
              <a:lstStyle/>
              <a:p>
                <a:pPr algn="ctr">
                  <a:lnSpc>
                    <a:spcPts val="2218"/>
                  </a:lnSpc>
                </a:pPr>
              </a:p>
            </p:txBody>
          </p:sp>
        </p:grpSp>
        <p:sp>
          <p:nvSpPr>
            <p:cNvPr name="TextBox 14" id="14"/>
            <p:cNvSpPr txBox="true"/>
            <p:nvPr/>
          </p:nvSpPr>
          <p:spPr>
            <a:xfrm rot="0">
              <a:off x="217027" y="5267473"/>
              <a:ext cx="8565448" cy="2933204"/>
            </a:xfrm>
            <a:prstGeom prst="rect">
              <a:avLst/>
            </a:prstGeom>
          </p:spPr>
          <p:txBody>
            <a:bodyPr anchor="t" rtlCol="false" tIns="0" lIns="0" bIns="0" rIns="0">
              <a:spAutoFit/>
            </a:bodyPr>
            <a:lstStyle/>
            <a:p>
              <a:pPr algn="just" marL="331198" indent="-165599" lvl="1">
                <a:lnSpc>
                  <a:spcPts val="1932"/>
                </a:lnSpc>
                <a:buFont typeface="Arial"/>
                <a:buChar char="•"/>
              </a:pPr>
              <a:r>
                <a:rPr lang="en-US" b="true" sz="1534" spc="-85">
                  <a:solidFill>
                    <a:srgbClr val="FFFFFF"/>
                  </a:solidFill>
                  <a:latin typeface="Garet Bold"/>
                  <a:ea typeface="Garet Bold"/>
                  <a:cs typeface="Garet Bold"/>
                  <a:sym typeface="Garet Bold"/>
                </a:rPr>
                <a:t>Stabilitas Asus:</a:t>
              </a:r>
              <a:r>
                <a:rPr lang="en-US" sz="1534" spc="-85">
                  <a:solidFill>
                    <a:srgbClr val="FFFFFF"/>
                  </a:solidFill>
                  <a:latin typeface="Garet"/>
                  <a:ea typeface="Garet"/>
                  <a:cs typeface="Garet"/>
                  <a:sym typeface="Garet"/>
                </a:rPr>
                <a:t> Asus berada di posisi moderat (72,90%) karena memiliki supply barang bekas yang cukup melimpah dan kompetitif di pasaran. </a:t>
              </a:r>
            </a:p>
            <a:p>
              <a:pPr algn="just" marL="331198" indent="-165599" lvl="1">
                <a:lnSpc>
                  <a:spcPts val="1932"/>
                </a:lnSpc>
                <a:buFont typeface="Arial"/>
                <a:buChar char="•"/>
              </a:pPr>
              <a:r>
                <a:rPr lang="en-US" b="true" sz="1534" spc="-85">
                  <a:solidFill>
                    <a:srgbClr val="FFFFFF"/>
                  </a:solidFill>
                  <a:latin typeface="Garet Bold"/>
                  <a:ea typeface="Garet Bold"/>
                  <a:cs typeface="Garet Bold"/>
                  <a:sym typeface="Garet Bold"/>
                </a:rPr>
                <a:t>Niche Premium MSI:</a:t>
              </a:r>
              <a:r>
                <a:rPr lang="en-US" sz="1534" spc="-85">
                  <a:solidFill>
                    <a:srgbClr val="FFFFFF"/>
                  </a:solidFill>
                  <a:latin typeface="Garet"/>
                  <a:ea typeface="Garet"/>
                  <a:cs typeface="Garet"/>
                  <a:sym typeface="Garet"/>
                </a:rPr>
                <a:t> MSI mencatat likuiditas terendah (30,40%) dengan angka penjualan per listing yang sangat kecil. Ini membuktikan bahwa laptop berspesifikasi gaming/premium memiliki siklus penjualan bekas yang jauh lebih lambat karena segmen pasarnya yang sangat spesifik (niche).</a:t>
              </a:r>
            </a:p>
            <a:p>
              <a:pPr algn="just">
                <a:lnSpc>
                  <a:spcPts val="1932"/>
                </a:lnSpc>
                <a:spcBef>
                  <a:spcPct val="0"/>
                </a:spcBef>
              </a:pPr>
            </a:p>
          </p:txBody>
        </p:sp>
        <p:sp>
          <p:nvSpPr>
            <p:cNvPr name="TextBox 15" id="15"/>
            <p:cNvSpPr txBox="true"/>
            <p:nvPr/>
          </p:nvSpPr>
          <p:spPr>
            <a:xfrm rot="0">
              <a:off x="660801" y="4504869"/>
              <a:ext cx="2456218" cy="303086"/>
            </a:xfrm>
            <a:prstGeom prst="rect">
              <a:avLst/>
            </a:prstGeom>
          </p:spPr>
          <p:txBody>
            <a:bodyPr anchor="t" rtlCol="false" tIns="0" lIns="0" bIns="0" rIns="0">
              <a:spAutoFit/>
            </a:bodyPr>
            <a:lstStyle/>
            <a:p>
              <a:pPr algn="ctr">
                <a:lnSpc>
                  <a:spcPts val="1924"/>
                </a:lnSpc>
                <a:spcBef>
                  <a:spcPct val="0"/>
                </a:spcBef>
              </a:pPr>
              <a:r>
                <a:rPr lang="en-US" b="true" sz="1374" spc="41">
                  <a:solidFill>
                    <a:srgbClr val="FFFFFF"/>
                  </a:solidFill>
                  <a:latin typeface="Aileron Ultra-Bold"/>
                  <a:ea typeface="Aileron Ultra-Bold"/>
                  <a:cs typeface="Aileron Ultra-Bold"/>
                  <a:sym typeface="Aileron Ultra-Bold"/>
                </a:rPr>
                <a:t>Karakteristik Produk</a:t>
              </a:r>
            </a:p>
          </p:txBody>
        </p:sp>
        <p:sp>
          <p:nvSpPr>
            <p:cNvPr name="TextBox 16" id="16"/>
            <p:cNvSpPr txBox="true"/>
            <p:nvPr/>
          </p:nvSpPr>
          <p:spPr>
            <a:xfrm rot="0">
              <a:off x="416913" y="-28575"/>
              <a:ext cx="2167841" cy="294387"/>
            </a:xfrm>
            <a:prstGeom prst="rect">
              <a:avLst/>
            </a:prstGeom>
          </p:spPr>
          <p:txBody>
            <a:bodyPr anchor="t" rtlCol="false" tIns="0" lIns="0" bIns="0" rIns="0">
              <a:spAutoFit/>
            </a:bodyPr>
            <a:lstStyle/>
            <a:p>
              <a:pPr algn="ctr">
                <a:lnSpc>
                  <a:spcPts val="1925"/>
                </a:lnSpc>
                <a:spcBef>
                  <a:spcPct val="0"/>
                </a:spcBef>
              </a:pPr>
              <a:r>
                <a:rPr lang="en-US" b="true" sz="1375" spc="41">
                  <a:solidFill>
                    <a:srgbClr val="FFFFFF"/>
                  </a:solidFill>
                  <a:latin typeface="Aileron Ultra-Bold"/>
                  <a:ea typeface="Aileron Ultra-Bold"/>
                  <a:cs typeface="Aileron Ultra-Bold"/>
                  <a:sym typeface="Aileron Ultra-Bold"/>
                </a:rPr>
                <a:t>Analisis Likuiditas</a:t>
              </a:r>
            </a:p>
          </p:txBody>
        </p:sp>
      </p:grpSp>
      <p:grpSp>
        <p:nvGrpSpPr>
          <p:cNvPr name="Group 17" id="17"/>
          <p:cNvGrpSpPr/>
          <p:nvPr/>
        </p:nvGrpSpPr>
        <p:grpSpPr>
          <a:xfrm rot="0">
            <a:off x="1028700" y="337116"/>
            <a:ext cx="16386847" cy="1227065"/>
            <a:chOff x="0" y="0"/>
            <a:chExt cx="21849129" cy="1636087"/>
          </a:xfrm>
        </p:grpSpPr>
        <p:sp>
          <p:nvSpPr>
            <p:cNvPr name="Freeform 18" id="18"/>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5"/>
              <a:stretch>
                <a:fillRect l="-2838" t="-22494" r="-26999" b="-4205"/>
              </a:stretch>
            </a:blipFill>
          </p:spPr>
        </p:sp>
        <p:grpSp>
          <p:nvGrpSpPr>
            <p:cNvPr name="Group 19" id="19"/>
            <p:cNvGrpSpPr/>
            <p:nvPr/>
          </p:nvGrpSpPr>
          <p:grpSpPr>
            <a:xfrm rot="0">
              <a:off x="11378892" y="443664"/>
              <a:ext cx="3080976" cy="969444"/>
              <a:chOff x="0" y="0"/>
              <a:chExt cx="1291574" cy="406400"/>
            </a:xfrm>
          </p:grpSpPr>
          <p:sp>
            <p:nvSpPr>
              <p:cNvPr name="Freeform 20" id="20"/>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1" id="21"/>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23" id="23"/>
            <p:cNvGrpSpPr/>
            <p:nvPr/>
          </p:nvGrpSpPr>
          <p:grpSpPr>
            <a:xfrm rot="0">
              <a:off x="16468734" y="443664"/>
              <a:ext cx="5380395" cy="969444"/>
              <a:chOff x="0" y="0"/>
              <a:chExt cx="2255512" cy="406400"/>
            </a:xfrm>
          </p:grpSpPr>
          <p:sp>
            <p:nvSpPr>
              <p:cNvPr name="Freeform 24" id="24"/>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5" id="25"/>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7" id="27"/>
            <p:cNvGrpSpPr/>
            <p:nvPr/>
          </p:nvGrpSpPr>
          <p:grpSpPr>
            <a:xfrm rot="0">
              <a:off x="14828167" y="283406"/>
              <a:ext cx="1277412" cy="1277412"/>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9" id="29"/>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30" id="30"/>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aphicFrame>
        <p:nvGraphicFramePr>
          <p:cNvPr name="Object 3" id="3"/>
          <p:cNvGraphicFramePr/>
          <p:nvPr/>
        </p:nvGraphicFramePr>
        <p:xfrm>
          <a:off x="857413" y="3324721"/>
          <a:ext cx="16708702" cy="6273788"/>
        </p:xfrm>
        <a:graphic>
          <a:graphicData uri="http://schemas.openxmlformats.org/presentationml/2006/ole">
            <p:oleObj imgW="20040600" imgH="961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4472544" y="1737315"/>
            <a:ext cx="10983743" cy="1385697"/>
          </a:xfrm>
          <a:prstGeom prst="rect">
            <a:avLst/>
          </a:prstGeom>
        </p:spPr>
        <p:txBody>
          <a:bodyPr anchor="t" rtlCol="false" tIns="0" lIns="0" bIns="0" rIns="0">
            <a:spAutoFit/>
          </a:bodyPr>
          <a:lstStyle/>
          <a:p>
            <a:pPr algn="ctr">
              <a:lnSpc>
                <a:spcPts val="5543"/>
              </a:lnSpc>
            </a:pPr>
            <a:r>
              <a:rPr lang="en-US" b="true" sz="4399" spc="-246">
                <a:solidFill>
                  <a:srgbClr val="FFFFFF"/>
                </a:solidFill>
                <a:latin typeface="Open Sauce Bold"/>
                <a:ea typeface="Open Sauce Bold"/>
                <a:cs typeface="Open Sauce Bold"/>
                <a:sym typeface="Open Sauce Bold"/>
              </a:rPr>
              <a:t>HIDDEN GEMS</a:t>
            </a:r>
          </a:p>
          <a:p>
            <a:pPr algn="ctr">
              <a:lnSpc>
                <a:spcPts val="5543"/>
              </a:lnSpc>
              <a:spcBef>
                <a:spcPct val="0"/>
              </a:spcBef>
            </a:pPr>
            <a:r>
              <a:rPr lang="en-US" b="true" sz="4399" spc="-246">
                <a:solidFill>
                  <a:srgbClr val="FFFFFF"/>
                </a:solidFill>
                <a:latin typeface="Open Sauce Bold"/>
                <a:ea typeface="Open Sauce Bold"/>
                <a:cs typeface="Open Sauce Bold"/>
                <a:sym typeface="Open Sauce Bold"/>
              </a:rPr>
              <a:t>PRODUK VALUE TERBAIK</a:t>
            </a:r>
          </a:p>
        </p:txBody>
      </p:sp>
      <p:grpSp>
        <p:nvGrpSpPr>
          <p:cNvPr name="Group 5" id="5"/>
          <p:cNvGrpSpPr/>
          <p:nvPr/>
        </p:nvGrpSpPr>
        <p:grpSpPr>
          <a:xfrm rot="0">
            <a:off x="11255394" y="3940737"/>
            <a:ext cx="6175192" cy="3519697"/>
            <a:chOff x="0" y="0"/>
            <a:chExt cx="2372780" cy="1352422"/>
          </a:xfrm>
        </p:grpSpPr>
        <p:sp>
          <p:nvSpPr>
            <p:cNvPr name="Freeform 6" id="6"/>
            <p:cNvSpPr/>
            <p:nvPr/>
          </p:nvSpPr>
          <p:spPr>
            <a:xfrm flipH="false" flipV="false" rot="0">
              <a:off x="0" y="0"/>
              <a:ext cx="2372780" cy="1352422"/>
            </a:xfrm>
            <a:custGeom>
              <a:avLst/>
              <a:gdLst/>
              <a:ahLst/>
              <a:cxnLst/>
              <a:rect r="r" b="b" t="t" l="l"/>
              <a:pathLst>
                <a:path h="1352422" w="2372780">
                  <a:moveTo>
                    <a:pt x="63939" y="0"/>
                  </a:moveTo>
                  <a:lnTo>
                    <a:pt x="2308840" y="0"/>
                  </a:lnTo>
                  <a:cubicBezTo>
                    <a:pt x="2344153" y="0"/>
                    <a:pt x="2372780" y="28627"/>
                    <a:pt x="2372780" y="63939"/>
                  </a:cubicBezTo>
                  <a:lnTo>
                    <a:pt x="2372780" y="1288482"/>
                  </a:lnTo>
                  <a:cubicBezTo>
                    <a:pt x="2372780" y="1323795"/>
                    <a:pt x="2344153" y="1352422"/>
                    <a:pt x="2308840" y="1352422"/>
                  </a:cubicBezTo>
                  <a:lnTo>
                    <a:pt x="63939" y="1352422"/>
                  </a:lnTo>
                  <a:cubicBezTo>
                    <a:pt x="28627" y="1352422"/>
                    <a:pt x="0" y="1323795"/>
                    <a:pt x="0" y="1288482"/>
                  </a:cubicBezTo>
                  <a:lnTo>
                    <a:pt x="0" y="63939"/>
                  </a:lnTo>
                  <a:cubicBezTo>
                    <a:pt x="0" y="28627"/>
                    <a:pt x="28627" y="0"/>
                    <a:pt x="63939"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7" id="7"/>
            <p:cNvSpPr txBox="true"/>
            <p:nvPr/>
          </p:nvSpPr>
          <p:spPr>
            <a:xfrm>
              <a:off x="0" y="85725"/>
              <a:ext cx="2372780" cy="1266697"/>
            </a:xfrm>
            <a:prstGeom prst="rect">
              <a:avLst/>
            </a:prstGeom>
          </p:spPr>
          <p:txBody>
            <a:bodyPr anchor="ctr" rtlCol="false" tIns="46740" lIns="46740" bIns="46740" rIns="46740"/>
            <a:lstStyle/>
            <a:p>
              <a:pPr algn="ctr">
                <a:lnSpc>
                  <a:spcPts val="2218"/>
                </a:lnSpc>
              </a:pPr>
            </a:p>
          </p:txBody>
        </p:sp>
      </p:grpSp>
      <p:sp>
        <p:nvSpPr>
          <p:cNvPr name="AutoShape 8" id="8"/>
          <p:cNvSpPr/>
          <p:nvPr/>
        </p:nvSpPr>
        <p:spPr>
          <a:xfrm>
            <a:off x="1028700" y="9734550"/>
            <a:ext cx="16230600" cy="0"/>
          </a:xfrm>
          <a:prstGeom prst="line">
            <a:avLst/>
          </a:prstGeom>
          <a:ln cap="flat" w="19050">
            <a:solidFill>
              <a:srgbClr val="FFFFFF"/>
            </a:solidFill>
            <a:prstDash val="solid"/>
            <a:headEnd type="none" len="sm" w="sm"/>
            <a:tailEnd type="none" len="sm" w="sm"/>
          </a:ln>
        </p:spPr>
      </p:sp>
      <p:sp>
        <p:nvSpPr>
          <p:cNvPr name="TextBox 9" id="9"/>
          <p:cNvSpPr txBox="true"/>
          <p:nvPr/>
        </p:nvSpPr>
        <p:spPr>
          <a:xfrm rot="0">
            <a:off x="11370181" y="4154515"/>
            <a:ext cx="5745749" cy="3442548"/>
          </a:xfrm>
          <a:prstGeom prst="rect">
            <a:avLst/>
          </a:prstGeom>
        </p:spPr>
        <p:txBody>
          <a:bodyPr anchor="t" rtlCol="false" tIns="0" lIns="0" bIns="0" rIns="0">
            <a:spAutoFit/>
          </a:bodyPr>
          <a:lstStyle/>
          <a:p>
            <a:pPr algn="just" marL="425762" indent="-212881" lvl="1">
              <a:lnSpc>
                <a:spcPts val="2484"/>
              </a:lnSpc>
              <a:buFont typeface="Arial"/>
              <a:buChar char="•"/>
            </a:pPr>
            <a:r>
              <a:rPr lang="en-US" sz="1972" spc="-110">
                <a:solidFill>
                  <a:srgbClr val="FFFFFF"/>
                </a:solidFill>
                <a:latin typeface="Garet"/>
                <a:ea typeface="Garet"/>
                <a:cs typeface="Garet"/>
                <a:sym typeface="Garet"/>
              </a:rPr>
              <a:t>Metrik Skor Value: Ditentukan melalui integrasi tiga indikator utama: harga yang terjangkau, rating ulasan yang sempurna (5.0), dan volume unit terjual yang tinggi di e-commerce.</a:t>
            </a:r>
          </a:p>
          <a:p>
            <a:pPr algn="just" marL="425762" indent="-212881" lvl="1">
              <a:lnSpc>
                <a:spcPts val="2484"/>
              </a:lnSpc>
              <a:buFont typeface="Arial"/>
              <a:buChar char="•"/>
            </a:pPr>
            <a:r>
              <a:rPr lang="en-US" sz="1972" spc="-110">
                <a:solidFill>
                  <a:srgbClr val="FFFFFF"/>
                </a:solidFill>
                <a:latin typeface="Garet"/>
                <a:ea typeface="Garet"/>
                <a:cs typeface="Garet"/>
                <a:sym typeface="Garet"/>
              </a:rPr>
              <a:t>Dominasi Brand Alternatif: Brand seperti Infinix, Axioo, dan Xiaomi memimpin pasar best value karena berhasil menawarkan perangkat spesifikasi mumpuni di rentang harga Rp2 hingga Rp3 Jutaan dengan kepuasan konsumen yang maksimal.</a:t>
            </a:r>
          </a:p>
          <a:p>
            <a:pPr algn="just">
              <a:lnSpc>
                <a:spcPts val="2484"/>
              </a:lnSpc>
              <a:spcBef>
                <a:spcPct val="0"/>
              </a:spcBef>
            </a:pPr>
          </a:p>
        </p:txBody>
      </p:sp>
      <p:sp>
        <p:nvSpPr>
          <p:cNvPr name="TextBox 10" id="10"/>
          <p:cNvSpPr txBox="true"/>
          <p:nvPr/>
        </p:nvSpPr>
        <p:spPr>
          <a:xfrm rot="0">
            <a:off x="11437107" y="7853877"/>
            <a:ext cx="5745749" cy="1242273"/>
          </a:xfrm>
          <a:prstGeom prst="rect">
            <a:avLst/>
          </a:prstGeom>
        </p:spPr>
        <p:txBody>
          <a:bodyPr anchor="t" rtlCol="false" tIns="0" lIns="0" bIns="0" rIns="0">
            <a:spAutoFit/>
          </a:bodyPr>
          <a:lstStyle/>
          <a:p>
            <a:pPr algn="just">
              <a:lnSpc>
                <a:spcPts val="2484"/>
              </a:lnSpc>
              <a:spcBef>
                <a:spcPct val="0"/>
              </a:spcBef>
            </a:pPr>
            <a:r>
              <a:rPr lang="en-US" sz="1972" spc="-110">
                <a:solidFill>
                  <a:srgbClr val="FFFFFF"/>
                </a:solidFill>
                <a:latin typeface="Garet"/>
                <a:ea typeface="Garet"/>
                <a:cs typeface="Garet"/>
                <a:sym typeface="Garet"/>
              </a:rPr>
              <a:t>produk dengan rasio harga-rating-penjualan terbaik. Didominasi Infinix dan Axioo di harga Rp2–4jt. MacBook Air M1 second masuk sebagai kejutan di segmen menengah.</a:t>
            </a:r>
          </a:p>
        </p:txBody>
      </p:sp>
      <p:grpSp>
        <p:nvGrpSpPr>
          <p:cNvPr name="Group 11" id="11"/>
          <p:cNvGrpSpPr/>
          <p:nvPr/>
        </p:nvGrpSpPr>
        <p:grpSpPr>
          <a:xfrm rot="0">
            <a:off x="1028700" y="337116"/>
            <a:ext cx="16386847" cy="1227065"/>
            <a:chOff x="0" y="0"/>
            <a:chExt cx="21849129" cy="1636087"/>
          </a:xfrm>
        </p:grpSpPr>
        <p:sp>
          <p:nvSpPr>
            <p:cNvPr name="Freeform 12" id="12"/>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5"/>
              <a:stretch>
                <a:fillRect l="-2838" t="-22494" r="-26999" b="-4205"/>
              </a:stretch>
            </a:blipFill>
          </p:spPr>
        </p:sp>
        <p:grpSp>
          <p:nvGrpSpPr>
            <p:cNvPr name="Group 13" id="13"/>
            <p:cNvGrpSpPr/>
            <p:nvPr/>
          </p:nvGrpSpPr>
          <p:grpSpPr>
            <a:xfrm rot="0">
              <a:off x="11378892" y="443664"/>
              <a:ext cx="3080976" cy="969444"/>
              <a:chOff x="0" y="0"/>
              <a:chExt cx="1291574" cy="406400"/>
            </a:xfrm>
          </p:grpSpPr>
          <p:sp>
            <p:nvSpPr>
              <p:cNvPr name="Freeform 14" id="14"/>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5" id="15"/>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7" id="17"/>
            <p:cNvGrpSpPr/>
            <p:nvPr/>
          </p:nvGrpSpPr>
          <p:grpSpPr>
            <a:xfrm rot="0">
              <a:off x="16468734" y="443664"/>
              <a:ext cx="5380395" cy="969444"/>
              <a:chOff x="0" y="0"/>
              <a:chExt cx="2255512" cy="406400"/>
            </a:xfrm>
          </p:grpSpPr>
          <p:sp>
            <p:nvSpPr>
              <p:cNvPr name="Freeform 18" id="18"/>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9" id="19"/>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1" id="21"/>
            <p:cNvGrpSpPr/>
            <p:nvPr/>
          </p:nvGrpSpPr>
          <p:grpSpPr>
            <a:xfrm rot="0">
              <a:off x="14828167" y="283406"/>
              <a:ext cx="1277412" cy="127741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3" id="23"/>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4" id="24"/>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pic>
        <p:nvPicPr>
          <p:cNvPr name="Picture 3" id="3"/>
          <p:cNvPicPr>
            <a:picLocks noChangeAspect="true"/>
          </p:cNvPicPr>
          <p:nvPr/>
        </p:nvPicPr>
        <p:blipFill>
          <a:blip r:embed="rId3"/>
          <a:stretch>
            <a:fillRect/>
          </a:stretch>
        </p:blipFill>
        <p:spPr>
          <a:xfrm rot="0">
            <a:off x="183123" y="1011580"/>
            <a:ext cx="10146923" cy="9691105"/>
          </a:xfrm>
          <a:prstGeom prst="rect">
            <a:avLst/>
          </a:prstGeom>
        </p:spPr>
      </p:pic>
      <p:grpSp>
        <p:nvGrpSpPr>
          <p:cNvPr name="Group 4" id="4"/>
          <p:cNvGrpSpPr/>
          <p:nvPr/>
        </p:nvGrpSpPr>
        <p:grpSpPr>
          <a:xfrm rot="0">
            <a:off x="10321177" y="2133630"/>
            <a:ext cx="7220650" cy="7447005"/>
            <a:chOff x="0" y="0"/>
            <a:chExt cx="9627533" cy="9929340"/>
          </a:xfrm>
        </p:grpSpPr>
        <p:grpSp>
          <p:nvGrpSpPr>
            <p:cNvPr name="Group 5" id="5"/>
            <p:cNvGrpSpPr/>
            <p:nvPr/>
          </p:nvGrpSpPr>
          <p:grpSpPr>
            <a:xfrm rot="0">
              <a:off x="0" y="0"/>
              <a:ext cx="9430619" cy="2624057"/>
              <a:chOff x="0" y="0"/>
              <a:chExt cx="2701006" cy="751551"/>
            </a:xfrm>
          </p:grpSpPr>
          <p:sp>
            <p:nvSpPr>
              <p:cNvPr name="Freeform 6" id="6"/>
              <p:cNvSpPr/>
              <p:nvPr/>
            </p:nvSpPr>
            <p:spPr>
              <a:xfrm flipH="false" flipV="false" rot="0">
                <a:off x="0" y="0"/>
                <a:ext cx="2701006" cy="751551"/>
              </a:xfrm>
              <a:custGeom>
                <a:avLst/>
                <a:gdLst/>
                <a:ahLst/>
                <a:cxnLst/>
                <a:rect r="r" b="b" t="t" l="l"/>
                <a:pathLst>
                  <a:path h="751551" w="2701006">
                    <a:moveTo>
                      <a:pt x="56169" y="0"/>
                    </a:moveTo>
                    <a:lnTo>
                      <a:pt x="2644837" y="0"/>
                    </a:lnTo>
                    <a:cubicBezTo>
                      <a:pt x="2675858" y="0"/>
                      <a:pt x="2701006" y="25148"/>
                      <a:pt x="2701006" y="56169"/>
                    </a:cubicBezTo>
                    <a:lnTo>
                      <a:pt x="2701006" y="695382"/>
                    </a:lnTo>
                    <a:cubicBezTo>
                      <a:pt x="2701006" y="710279"/>
                      <a:pt x="2695088" y="724566"/>
                      <a:pt x="2684554" y="735100"/>
                    </a:cubicBezTo>
                    <a:cubicBezTo>
                      <a:pt x="2674021" y="745634"/>
                      <a:pt x="2659734" y="751551"/>
                      <a:pt x="2644837" y="751551"/>
                    </a:cubicBezTo>
                    <a:lnTo>
                      <a:pt x="56169" y="751551"/>
                    </a:lnTo>
                    <a:cubicBezTo>
                      <a:pt x="25148" y="751551"/>
                      <a:pt x="0" y="726403"/>
                      <a:pt x="0" y="695382"/>
                    </a:cubicBezTo>
                    <a:lnTo>
                      <a:pt x="0" y="56169"/>
                    </a:lnTo>
                    <a:cubicBezTo>
                      <a:pt x="0" y="41272"/>
                      <a:pt x="5918" y="26985"/>
                      <a:pt x="16452" y="16452"/>
                    </a:cubicBezTo>
                    <a:cubicBezTo>
                      <a:pt x="26985" y="5918"/>
                      <a:pt x="41272" y="0"/>
                      <a:pt x="56169"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7" id="7"/>
              <p:cNvSpPr txBox="true"/>
              <p:nvPr/>
            </p:nvSpPr>
            <p:spPr>
              <a:xfrm>
                <a:off x="0" y="95250"/>
                <a:ext cx="2701006" cy="656301"/>
              </a:xfrm>
              <a:prstGeom prst="rect">
                <a:avLst/>
              </a:prstGeom>
            </p:spPr>
            <p:txBody>
              <a:bodyPr anchor="ctr" rtlCol="false" tIns="46740" lIns="46740" bIns="46740" rIns="46740"/>
              <a:lstStyle/>
              <a:p>
                <a:pPr algn="ctr">
                  <a:lnSpc>
                    <a:spcPts val="2388"/>
                  </a:lnSpc>
                </a:pPr>
              </a:p>
            </p:txBody>
          </p:sp>
        </p:grpSp>
        <p:sp>
          <p:nvSpPr>
            <p:cNvPr name="TextBox 8" id="8"/>
            <p:cNvSpPr txBox="true"/>
            <p:nvPr/>
          </p:nvSpPr>
          <p:spPr>
            <a:xfrm rot="0">
              <a:off x="402529" y="384010"/>
              <a:ext cx="8426349" cy="2190594"/>
            </a:xfrm>
            <a:prstGeom prst="rect">
              <a:avLst/>
            </a:prstGeom>
          </p:spPr>
          <p:txBody>
            <a:bodyPr anchor="t" rtlCol="false" tIns="0" lIns="0" bIns="0" rIns="0">
              <a:spAutoFit/>
            </a:bodyPr>
            <a:lstStyle/>
            <a:p>
              <a:pPr algn="just">
                <a:lnSpc>
                  <a:spcPts val="3273"/>
                </a:lnSpc>
                <a:spcBef>
                  <a:spcPct val="0"/>
                </a:spcBef>
              </a:pPr>
              <a:r>
                <a:rPr lang="en-US" b="true" sz="2597" spc="-145">
                  <a:solidFill>
                    <a:srgbClr val="FFFFFF"/>
                  </a:solidFill>
                  <a:latin typeface="Garet Bold"/>
                  <a:ea typeface="Garet Bold"/>
                  <a:cs typeface="Garet Bold"/>
                  <a:sym typeface="Garet Bold"/>
                </a:rPr>
                <a:t>Blibli: </a:t>
              </a:r>
              <a:r>
                <a:rPr lang="en-US" sz="2597" spc="-145">
                  <a:solidFill>
                    <a:srgbClr val="FFFFFF"/>
                  </a:solidFill>
                  <a:latin typeface="Garet"/>
                  <a:ea typeface="Garet"/>
                  <a:cs typeface="Garet"/>
                  <a:sym typeface="Garet"/>
                </a:rPr>
                <a:t>Memiliki median harga baru yang jauh lebih tinggi (di atas Rp11jt), mengindikasikan dominasi produk kelas high-end atau official store premium.</a:t>
              </a:r>
            </a:p>
          </p:txBody>
        </p:sp>
        <p:grpSp>
          <p:nvGrpSpPr>
            <p:cNvPr name="Group 9" id="9"/>
            <p:cNvGrpSpPr/>
            <p:nvPr/>
          </p:nvGrpSpPr>
          <p:grpSpPr>
            <a:xfrm rot="0">
              <a:off x="163648" y="3574557"/>
              <a:ext cx="9266971" cy="2738057"/>
              <a:chOff x="0" y="0"/>
              <a:chExt cx="2654136" cy="784202"/>
            </a:xfrm>
          </p:grpSpPr>
          <p:sp>
            <p:nvSpPr>
              <p:cNvPr name="Freeform 10" id="10"/>
              <p:cNvSpPr/>
              <p:nvPr/>
            </p:nvSpPr>
            <p:spPr>
              <a:xfrm flipH="false" flipV="false" rot="0">
                <a:off x="0" y="0"/>
                <a:ext cx="2654136" cy="784202"/>
              </a:xfrm>
              <a:custGeom>
                <a:avLst/>
                <a:gdLst/>
                <a:ahLst/>
                <a:cxnLst/>
                <a:rect r="r" b="b" t="t" l="l"/>
                <a:pathLst>
                  <a:path h="784202" w="2654136">
                    <a:moveTo>
                      <a:pt x="57161" y="0"/>
                    </a:moveTo>
                    <a:lnTo>
                      <a:pt x="2596974" y="0"/>
                    </a:lnTo>
                    <a:cubicBezTo>
                      <a:pt x="2612135" y="0"/>
                      <a:pt x="2626674" y="6022"/>
                      <a:pt x="2637394" y="16742"/>
                    </a:cubicBezTo>
                    <a:cubicBezTo>
                      <a:pt x="2648114" y="27462"/>
                      <a:pt x="2654136" y="42001"/>
                      <a:pt x="2654136" y="57161"/>
                    </a:cubicBezTo>
                    <a:lnTo>
                      <a:pt x="2654136" y="727040"/>
                    </a:lnTo>
                    <a:cubicBezTo>
                      <a:pt x="2654136" y="758610"/>
                      <a:pt x="2628544" y="784202"/>
                      <a:pt x="2596974" y="784202"/>
                    </a:cubicBezTo>
                    <a:lnTo>
                      <a:pt x="57161" y="784202"/>
                    </a:lnTo>
                    <a:cubicBezTo>
                      <a:pt x="42001" y="784202"/>
                      <a:pt x="27462" y="778179"/>
                      <a:pt x="16742" y="767460"/>
                    </a:cubicBezTo>
                    <a:cubicBezTo>
                      <a:pt x="6022" y="756740"/>
                      <a:pt x="0" y="742200"/>
                      <a:pt x="0" y="727040"/>
                    </a:cubicBezTo>
                    <a:lnTo>
                      <a:pt x="0" y="57161"/>
                    </a:lnTo>
                    <a:cubicBezTo>
                      <a:pt x="0" y="25592"/>
                      <a:pt x="25592" y="0"/>
                      <a:pt x="57161"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1" id="11"/>
              <p:cNvSpPr txBox="true"/>
              <p:nvPr/>
            </p:nvSpPr>
            <p:spPr>
              <a:xfrm>
                <a:off x="0" y="95250"/>
                <a:ext cx="2654136" cy="688952"/>
              </a:xfrm>
              <a:prstGeom prst="rect">
                <a:avLst/>
              </a:prstGeom>
            </p:spPr>
            <p:txBody>
              <a:bodyPr anchor="ctr" rtlCol="false" tIns="46740" lIns="46740" bIns="46740" rIns="46740"/>
              <a:lstStyle/>
              <a:p>
                <a:pPr algn="ctr">
                  <a:lnSpc>
                    <a:spcPts val="2388"/>
                  </a:lnSpc>
                </a:pPr>
              </a:p>
            </p:txBody>
          </p:sp>
        </p:grpSp>
        <p:sp>
          <p:nvSpPr>
            <p:cNvPr name="TextBox 12" id="12"/>
            <p:cNvSpPr txBox="true"/>
            <p:nvPr/>
          </p:nvSpPr>
          <p:spPr>
            <a:xfrm rot="0">
              <a:off x="585864" y="3795062"/>
              <a:ext cx="8243015" cy="2477157"/>
            </a:xfrm>
            <a:prstGeom prst="rect">
              <a:avLst/>
            </a:prstGeom>
          </p:spPr>
          <p:txBody>
            <a:bodyPr anchor="t" rtlCol="false" tIns="0" lIns="0" bIns="0" rIns="0">
              <a:spAutoFit/>
            </a:bodyPr>
            <a:lstStyle/>
            <a:p>
              <a:pPr algn="just">
                <a:lnSpc>
                  <a:spcPts val="3002"/>
                </a:lnSpc>
                <a:spcBef>
                  <a:spcPct val="0"/>
                </a:spcBef>
              </a:pPr>
              <a:r>
                <a:rPr lang="en-US" b="true" sz="2383" spc="-133">
                  <a:solidFill>
                    <a:srgbClr val="FFFFFF"/>
                  </a:solidFill>
                  <a:latin typeface="Garet Bold"/>
                  <a:ea typeface="Garet Bold"/>
                  <a:cs typeface="Garet Bold"/>
                  <a:sym typeface="Garet Bold"/>
                </a:rPr>
                <a:t>Tokopedia &amp; Shopee: </a:t>
              </a:r>
              <a:r>
                <a:rPr lang="en-US" sz="2383" spc="-133">
                  <a:solidFill>
                    <a:srgbClr val="FFFFFF"/>
                  </a:solidFill>
                  <a:latin typeface="Garet"/>
                  <a:ea typeface="Garet"/>
                  <a:cs typeface="Garet"/>
                  <a:sym typeface="Garet"/>
                </a:rPr>
                <a:t>Memiliki median harga baru yang relatif serupa (di kisaran Rp6jt), mencerminkan pasar yang lebih mass-market dengan variasi produk yang lebih beragam.</a:t>
              </a:r>
            </a:p>
          </p:txBody>
        </p:sp>
        <p:grpSp>
          <p:nvGrpSpPr>
            <p:cNvPr name="Group 13" id="13"/>
            <p:cNvGrpSpPr/>
            <p:nvPr/>
          </p:nvGrpSpPr>
          <p:grpSpPr>
            <a:xfrm rot="0">
              <a:off x="163648" y="7168786"/>
              <a:ext cx="9463885" cy="2760554"/>
              <a:chOff x="0" y="0"/>
              <a:chExt cx="2710534" cy="790645"/>
            </a:xfrm>
          </p:grpSpPr>
          <p:sp>
            <p:nvSpPr>
              <p:cNvPr name="Freeform 14" id="14"/>
              <p:cNvSpPr/>
              <p:nvPr/>
            </p:nvSpPr>
            <p:spPr>
              <a:xfrm flipH="false" flipV="false" rot="0">
                <a:off x="0" y="0"/>
                <a:ext cx="2710534" cy="790645"/>
              </a:xfrm>
              <a:custGeom>
                <a:avLst/>
                <a:gdLst/>
                <a:ahLst/>
                <a:cxnLst/>
                <a:rect r="r" b="b" t="t" l="l"/>
                <a:pathLst>
                  <a:path h="790645" w="2710534">
                    <a:moveTo>
                      <a:pt x="55972" y="0"/>
                    </a:moveTo>
                    <a:lnTo>
                      <a:pt x="2654562" y="0"/>
                    </a:lnTo>
                    <a:cubicBezTo>
                      <a:pt x="2669406" y="0"/>
                      <a:pt x="2683643" y="5897"/>
                      <a:pt x="2694140" y="16394"/>
                    </a:cubicBezTo>
                    <a:cubicBezTo>
                      <a:pt x="2704637" y="26891"/>
                      <a:pt x="2710534" y="41127"/>
                      <a:pt x="2710534" y="55972"/>
                    </a:cubicBezTo>
                    <a:lnTo>
                      <a:pt x="2710534" y="734673"/>
                    </a:lnTo>
                    <a:cubicBezTo>
                      <a:pt x="2710534" y="749518"/>
                      <a:pt x="2704637" y="763755"/>
                      <a:pt x="2694140" y="774251"/>
                    </a:cubicBezTo>
                    <a:cubicBezTo>
                      <a:pt x="2683643" y="784748"/>
                      <a:pt x="2669406" y="790645"/>
                      <a:pt x="2654562" y="790645"/>
                    </a:cubicBezTo>
                    <a:lnTo>
                      <a:pt x="55972" y="790645"/>
                    </a:lnTo>
                    <a:cubicBezTo>
                      <a:pt x="41127" y="790645"/>
                      <a:pt x="26891" y="784748"/>
                      <a:pt x="16394" y="774251"/>
                    </a:cubicBezTo>
                    <a:cubicBezTo>
                      <a:pt x="5897" y="763755"/>
                      <a:pt x="0" y="749518"/>
                      <a:pt x="0" y="734673"/>
                    </a:cubicBezTo>
                    <a:lnTo>
                      <a:pt x="0" y="55972"/>
                    </a:lnTo>
                    <a:cubicBezTo>
                      <a:pt x="0" y="41127"/>
                      <a:pt x="5897" y="26891"/>
                      <a:pt x="16394" y="16394"/>
                    </a:cubicBezTo>
                    <a:cubicBezTo>
                      <a:pt x="26891" y="5897"/>
                      <a:pt x="41127" y="0"/>
                      <a:pt x="5597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5" id="15"/>
              <p:cNvSpPr txBox="true"/>
              <p:nvPr/>
            </p:nvSpPr>
            <p:spPr>
              <a:xfrm>
                <a:off x="0" y="95250"/>
                <a:ext cx="2710534" cy="695395"/>
              </a:xfrm>
              <a:prstGeom prst="rect">
                <a:avLst/>
              </a:prstGeom>
            </p:spPr>
            <p:txBody>
              <a:bodyPr anchor="ctr" rtlCol="false" tIns="46740" lIns="46740" bIns="46740" rIns="46740"/>
              <a:lstStyle/>
              <a:p>
                <a:pPr algn="ctr">
                  <a:lnSpc>
                    <a:spcPts val="2388"/>
                  </a:lnSpc>
                </a:pPr>
              </a:p>
            </p:txBody>
          </p:sp>
        </p:grpSp>
        <p:sp>
          <p:nvSpPr>
            <p:cNvPr name="TextBox 16" id="16"/>
            <p:cNvSpPr txBox="true"/>
            <p:nvPr/>
          </p:nvSpPr>
          <p:spPr>
            <a:xfrm rot="0">
              <a:off x="402529" y="7159261"/>
              <a:ext cx="9041670" cy="2747554"/>
            </a:xfrm>
            <a:prstGeom prst="rect">
              <a:avLst/>
            </a:prstGeom>
          </p:spPr>
          <p:txBody>
            <a:bodyPr anchor="t" rtlCol="false" tIns="0" lIns="0" bIns="0" rIns="0">
              <a:spAutoFit/>
            </a:bodyPr>
            <a:lstStyle/>
            <a:p>
              <a:pPr algn="just">
                <a:lnSpc>
                  <a:spcPts val="2749"/>
                </a:lnSpc>
                <a:spcBef>
                  <a:spcPct val="0"/>
                </a:spcBef>
              </a:pPr>
              <a:r>
                <a:rPr lang="en-US" sz="2182" spc="-122">
                  <a:solidFill>
                    <a:srgbClr val="FFFFFF"/>
                  </a:solidFill>
                  <a:latin typeface="Garet"/>
                  <a:ea typeface="Garet"/>
                  <a:cs typeface="Garet"/>
                  <a:sym typeface="Garet"/>
                </a:rPr>
                <a:t>Kesenjangan Harga (Bekas): Shopee cenderung memiliki median harga barang bekas yang sedikit lebih tinggi dibanding Tokopedia. Hal ini bisa disebabkan oleh profil penjual atau kebijakan biaya admin antar platform yang memengaruhi harga jual penjual.</a:t>
              </a:r>
            </a:p>
          </p:txBody>
        </p:sp>
      </p:grpSp>
      <p:grpSp>
        <p:nvGrpSpPr>
          <p:cNvPr name="Group 17" id="17"/>
          <p:cNvGrpSpPr/>
          <p:nvPr/>
        </p:nvGrpSpPr>
        <p:grpSpPr>
          <a:xfrm rot="0">
            <a:off x="1028700" y="337116"/>
            <a:ext cx="16386847" cy="1227065"/>
            <a:chOff x="0" y="0"/>
            <a:chExt cx="21849129" cy="1636087"/>
          </a:xfrm>
        </p:grpSpPr>
        <p:sp>
          <p:nvSpPr>
            <p:cNvPr name="Freeform 18" id="18"/>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9" id="19"/>
            <p:cNvGrpSpPr/>
            <p:nvPr/>
          </p:nvGrpSpPr>
          <p:grpSpPr>
            <a:xfrm rot="0">
              <a:off x="11378892" y="443664"/>
              <a:ext cx="3080976" cy="969444"/>
              <a:chOff x="0" y="0"/>
              <a:chExt cx="1291574" cy="406400"/>
            </a:xfrm>
          </p:grpSpPr>
          <p:sp>
            <p:nvSpPr>
              <p:cNvPr name="Freeform 20" id="20"/>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1" id="21"/>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23" id="23"/>
            <p:cNvGrpSpPr/>
            <p:nvPr/>
          </p:nvGrpSpPr>
          <p:grpSpPr>
            <a:xfrm rot="0">
              <a:off x="16468734" y="443664"/>
              <a:ext cx="5380395" cy="969444"/>
              <a:chOff x="0" y="0"/>
              <a:chExt cx="2255512" cy="406400"/>
            </a:xfrm>
          </p:grpSpPr>
          <p:sp>
            <p:nvSpPr>
              <p:cNvPr name="Freeform 24" id="24"/>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5" id="25"/>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7" id="27"/>
            <p:cNvGrpSpPr/>
            <p:nvPr/>
          </p:nvGrpSpPr>
          <p:grpSpPr>
            <a:xfrm rot="0">
              <a:off x="14828167" y="283406"/>
              <a:ext cx="1277412" cy="1277412"/>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9" id="29"/>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30" id="30"/>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5602670"/>
            <a:ext cx="6566742" cy="722947"/>
            <a:chOff x="0" y="0"/>
            <a:chExt cx="8755656" cy="963929"/>
          </a:xfrm>
        </p:grpSpPr>
        <p:grpSp>
          <p:nvGrpSpPr>
            <p:cNvPr name="Group 4" id="4"/>
            <p:cNvGrpSpPr/>
            <p:nvPr/>
          </p:nvGrpSpPr>
          <p:grpSpPr>
            <a:xfrm rot="0">
              <a:off x="0" y="0"/>
              <a:ext cx="8272024" cy="963929"/>
              <a:chOff x="0" y="0"/>
              <a:chExt cx="2193351" cy="255588"/>
            </a:xfrm>
          </p:grpSpPr>
          <p:sp>
            <p:nvSpPr>
              <p:cNvPr name="Freeform 5" id="5"/>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6" id="6"/>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7" id="7"/>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a:solidFill>
                    <a:srgbClr val="FFFFFF"/>
                  </a:solidFill>
                  <a:latin typeface="Open Sauce"/>
                  <a:ea typeface="Open Sauce"/>
                  <a:cs typeface="Open Sauce"/>
                  <a:sym typeface="Open Sauce"/>
                </a:rPr>
                <a:t>Temuan</a:t>
              </a:r>
            </a:p>
          </p:txBody>
        </p:sp>
      </p:grpSp>
      <p:grpSp>
        <p:nvGrpSpPr>
          <p:cNvPr name="Group 8" id="8"/>
          <p:cNvGrpSpPr/>
          <p:nvPr/>
        </p:nvGrpSpPr>
        <p:grpSpPr>
          <a:xfrm rot="0">
            <a:off x="10263804" y="2127264"/>
            <a:ext cx="6334806" cy="6334806"/>
            <a:chOff x="0" y="0"/>
            <a:chExt cx="13716000" cy="13716000"/>
          </a:xfrm>
        </p:grpSpPr>
        <p:sp>
          <p:nvSpPr>
            <p:cNvPr name="Freeform 9" id="9"/>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3"/>
              <a:stretch>
                <a:fillRect l="-28585" t="0" r="-28585" b="0"/>
              </a:stretch>
            </a:blipFill>
          </p:spPr>
        </p:sp>
      </p:grpSp>
      <p:grpSp>
        <p:nvGrpSpPr>
          <p:cNvPr name="Group 10" id="10"/>
          <p:cNvGrpSpPr/>
          <p:nvPr/>
        </p:nvGrpSpPr>
        <p:grpSpPr>
          <a:xfrm rot="0">
            <a:off x="1028700" y="337116"/>
            <a:ext cx="16386847" cy="1227065"/>
            <a:chOff x="0" y="0"/>
            <a:chExt cx="21849129" cy="1636087"/>
          </a:xfrm>
        </p:grpSpPr>
        <p:sp>
          <p:nvSpPr>
            <p:cNvPr name="Freeform 11" id="11"/>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2" id="12"/>
            <p:cNvGrpSpPr/>
            <p:nvPr/>
          </p:nvGrpSpPr>
          <p:grpSpPr>
            <a:xfrm rot="0">
              <a:off x="11378892" y="443664"/>
              <a:ext cx="3080976" cy="969444"/>
              <a:chOff x="0" y="0"/>
              <a:chExt cx="1291574" cy="406400"/>
            </a:xfrm>
          </p:grpSpPr>
          <p:sp>
            <p:nvSpPr>
              <p:cNvPr name="Freeform 13" id="13"/>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4" id="14"/>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6" id="16"/>
            <p:cNvGrpSpPr/>
            <p:nvPr/>
          </p:nvGrpSpPr>
          <p:grpSpPr>
            <a:xfrm rot="0">
              <a:off x="16468734" y="443664"/>
              <a:ext cx="5380395" cy="969444"/>
              <a:chOff x="0" y="0"/>
              <a:chExt cx="2255512" cy="406400"/>
            </a:xfrm>
          </p:grpSpPr>
          <p:sp>
            <p:nvSpPr>
              <p:cNvPr name="Freeform 17" id="17"/>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8" id="18"/>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0" id="20"/>
            <p:cNvGrpSpPr/>
            <p:nvPr/>
          </p:nvGrpSpPr>
          <p:grpSpPr>
            <a:xfrm rot="0">
              <a:off x="14828167" y="283406"/>
              <a:ext cx="1277412" cy="127741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2" id="22"/>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3" id="23"/>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24" id="24"/>
          <p:cNvSpPr txBox="true"/>
          <p:nvPr/>
        </p:nvSpPr>
        <p:spPr>
          <a:xfrm rot="0">
            <a:off x="1028700" y="2098689"/>
            <a:ext cx="7856547" cy="3037256"/>
          </a:xfrm>
          <a:prstGeom prst="rect">
            <a:avLst/>
          </a:prstGeom>
        </p:spPr>
        <p:txBody>
          <a:bodyPr anchor="t" rtlCol="false" tIns="0" lIns="0" bIns="0" rIns="0">
            <a:spAutoFit/>
          </a:bodyPr>
          <a:lstStyle/>
          <a:p>
            <a:pPr algn="l">
              <a:lnSpc>
                <a:spcPts val="8076"/>
              </a:lnSpc>
              <a:spcBef>
                <a:spcPct val="0"/>
              </a:spcBef>
            </a:pPr>
            <a:r>
              <a:rPr lang="en-US" b="true" sz="6409" spc="-358">
                <a:solidFill>
                  <a:srgbClr val="FFFFFF"/>
                </a:solidFill>
                <a:latin typeface="Open Sauce Bold"/>
                <a:ea typeface="Open Sauce Bold"/>
                <a:cs typeface="Open Sauce Bold"/>
                <a:sym typeface="Open Sauce Bold"/>
              </a:rPr>
              <a:t>HERFINDAHL-HIRSCHMAN INDEX (HHI)</a:t>
            </a:r>
          </a:p>
        </p:txBody>
      </p:sp>
      <p:sp>
        <p:nvSpPr>
          <p:cNvPr name="TextBox 25" id="25"/>
          <p:cNvSpPr txBox="true"/>
          <p:nvPr/>
        </p:nvSpPr>
        <p:spPr>
          <a:xfrm rot="0">
            <a:off x="1028700" y="6504354"/>
            <a:ext cx="8889238" cy="536067"/>
          </a:xfrm>
          <a:prstGeom prst="rect">
            <a:avLst/>
          </a:prstGeom>
        </p:spPr>
        <p:txBody>
          <a:bodyPr anchor="t" rtlCol="false" tIns="0" lIns="0" bIns="0" rIns="0">
            <a:spAutoFit/>
          </a:bodyPr>
          <a:lstStyle/>
          <a:p>
            <a:pPr algn="l">
              <a:lnSpc>
                <a:spcPts val="4283"/>
              </a:lnSpc>
              <a:spcBef>
                <a:spcPct val="0"/>
              </a:spcBef>
            </a:pPr>
            <a:r>
              <a:rPr lang="en-US" sz="3399" spc="-190">
                <a:solidFill>
                  <a:srgbClr val="FFFFFF"/>
                </a:solidFill>
                <a:latin typeface="Garet"/>
                <a:ea typeface="Garet"/>
                <a:cs typeface="Garet"/>
                <a:sym typeface="Garet"/>
              </a:rPr>
              <a:t>HHI = </a:t>
            </a:r>
            <a:r>
              <a:rPr lang="en-US" b="true" sz="3399" spc="-190">
                <a:solidFill>
                  <a:srgbClr val="F4D820"/>
                </a:solidFill>
                <a:latin typeface="Garet Bold"/>
                <a:ea typeface="Garet Bold"/>
                <a:cs typeface="Garet Bold"/>
                <a:sym typeface="Garet Bold"/>
              </a:rPr>
              <a:t>1.555</a:t>
            </a:r>
            <a:r>
              <a:rPr lang="en-US" sz="3399" spc="-190">
                <a:solidFill>
                  <a:srgbClr val="FFFFFF"/>
                </a:solidFill>
                <a:latin typeface="Garet"/>
                <a:ea typeface="Garet"/>
                <a:cs typeface="Garet"/>
                <a:sym typeface="Garet"/>
              </a:rPr>
              <a:t> → Konsentrasi Moderat</a:t>
            </a:r>
          </a:p>
        </p:txBody>
      </p:sp>
      <p:sp>
        <p:nvSpPr>
          <p:cNvPr name="TextBox 26" id="26"/>
          <p:cNvSpPr txBox="true"/>
          <p:nvPr/>
        </p:nvSpPr>
        <p:spPr>
          <a:xfrm rot="0">
            <a:off x="1028700" y="7228683"/>
            <a:ext cx="6566742" cy="1707261"/>
          </a:xfrm>
          <a:prstGeom prst="rect">
            <a:avLst/>
          </a:prstGeom>
        </p:spPr>
        <p:txBody>
          <a:bodyPr anchor="t" rtlCol="false" tIns="0" lIns="0" bIns="0" rIns="0">
            <a:spAutoFit/>
          </a:bodyPr>
          <a:lstStyle/>
          <a:p>
            <a:pPr algn="just">
              <a:lnSpc>
                <a:spcPts val="2771"/>
              </a:lnSpc>
              <a:spcBef>
                <a:spcPct val="0"/>
              </a:spcBef>
            </a:pPr>
            <a:r>
              <a:rPr lang="en-US" sz="2199" spc="-123">
                <a:solidFill>
                  <a:srgbClr val="FFFFFF"/>
                </a:solidFill>
                <a:latin typeface="Montserrat"/>
                <a:ea typeface="Montserrat"/>
                <a:cs typeface="Montserrat"/>
                <a:sym typeface="Montserrat"/>
              </a:rPr>
              <a:t>Skor 1.555 menunjukkan pasar berada pada tingkat "Konsentrasi Moderat". Artinya, pasar laptop di e-commerce Indonesia tidak didominasi oleh satu perusahaan tunggal (monopoli), namun juga tidak terbagi rata ke banyak pemain kecil.</a:t>
            </a:r>
          </a:p>
        </p:txBody>
      </p:sp>
      <p:sp>
        <p:nvSpPr>
          <p:cNvPr name="TextBox 27" id="27"/>
          <p:cNvSpPr txBox="true"/>
          <p:nvPr/>
        </p:nvSpPr>
        <p:spPr>
          <a:xfrm rot="0">
            <a:off x="7507020" y="9126444"/>
            <a:ext cx="10780980" cy="678561"/>
          </a:xfrm>
          <a:prstGeom prst="rect">
            <a:avLst/>
          </a:prstGeom>
        </p:spPr>
        <p:txBody>
          <a:bodyPr anchor="t" rtlCol="false" tIns="0" lIns="0" bIns="0" rIns="0">
            <a:spAutoFit/>
          </a:bodyPr>
          <a:lstStyle/>
          <a:p>
            <a:pPr algn="l">
              <a:lnSpc>
                <a:spcPts val="2771"/>
              </a:lnSpc>
              <a:spcBef>
                <a:spcPct val="0"/>
              </a:spcBef>
            </a:pPr>
            <a:r>
              <a:rPr lang="en-US" sz="2199" spc="-123">
                <a:solidFill>
                  <a:srgbClr val="FFFFFF"/>
                </a:solidFill>
                <a:latin typeface="Montserrat"/>
                <a:ea typeface="Montserrat"/>
                <a:cs typeface="Montserrat"/>
                <a:sym typeface="Montserrat"/>
              </a:rPr>
              <a:t>Adanya beberapa pemain besar (seperti Lenovo, HP, Asus) yang memegang kendali signifikan, namun masih memberikan ruang bagi brand lain untuk bersaing.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a:off x="4966497" y="6426019"/>
            <a:ext cx="9317851" cy="0"/>
          </a:xfrm>
          <a:prstGeom prst="line">
            <a:avLst/>
          </a:prstGeom>
          <a:ln cap="flat" w="19050">
            <a:solidFill>
              <a:srgbClr val="FFFFFF"/>
            </a:solidFill>
            <a:prstDash val="solid"/>
            <a:headEnd type="none" len="sm" w="sm"/>
            <a:tailEnd type="none" len="sm" w="sm"/>
          </a:ln>
        </p:spPr>
      </p:sp>
      <p:grpSp>
        <p:nvGrpSpPr>
          <p:cNvPr name="Group 4" id="4"/>
          <p:cNvGrpSpPr/>
          <p:nvPr/>
        </p:nvGrpSpPr>
        <p:grpSpPr>
          <a:xfrm rot="0">
            <a:off x="1028700" y="337116"/>
            <a:ext cx="16386847" cy="1227065"/>
            <a:chOff x="0" y="0"/>
            <a:chExt cx="21849129" cy="1636087"/>
          </a:xfrm>
        </p:grpSpPr>
        <p:sp>
          <p:nvSpPr>
            <p:cNvPr name="Freeform 5" id="5"/>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6" id="6"/>
            <p:cNvGrpSpPr/>
            <p:nvPr/>
          </p:nvGrpSpPr>
          <p:grpSpPr>
            <a:xfrm rot="0">
              <a:off x="11378892" y="443664"/>
              <a:ext cx="3080976" cy="969444"/>
              <a:chOff x="0" y="0"/>
              <a:chExt cx="1291574" cy="406400"/>
            </a:xfrm>
          </p:grpSpPr>
          <p:sp>
            <p:nvSpPr>
              <p:cNvPr name="Freeform 7" id="7"/>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8" id="8"/>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0" id="10"/>
            <p:cNvGrpSpPr/>
            <p:nvPr/>
          </p:nvGrpSpPr>
          <p:grpSpPr>
            <a:xfrm rot="0">
              <a:off x="16468734" y="443664"/>
              <a:ext cx="5380395" cy="969444"/>
              <a:chOff x="0" y="0"/>
              <a:chExt cx="2255512" cy="406400"/>
            </a:xfrm>
          </p:grpSpPr>
          <p:sp>
            <p:nvSpPr>
              <p:cNvPr name="Freeform 11" id="11"/>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2" id="12"/>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4" id="14"/>
            <p:cNvGrpSpPr/>
            <p:nvPr/>
          </p:nvGrpSpPr>
          <p:grpSpPr>
            <a:xfrm rot="0">
              <a:off x="14828167" y="283406"/>
              <a:ext cx="1277412" cy="127741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6" id="16"/>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7" id="17"/>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18" id="18"/>
          <p:cNvSpPr/>
          <p:nvPr/>
        </p:nvSpPr>
        <p:spPr>
          <a:xfrm flipH="false" flipV="false" rot="0">
            <a:off x="3026903" y="1648016"/>
            <a:ext cx="12234194" cy="6990968"/>
          </a:xfrm>
          <a:custGeom>
            <a:avLst/>
            <a:gdLst/>
            <a:ahLst/>
            <a:cxnLst/>
            <a:rect r="r" b="b" t="t" l="l"/>
            <a:pathLst>
              <a:path h="6990968" w="12234194">
                <a:moveTo>
                  <a:pt x="0" y="0"/>
                </a:moveTo>
                <a:lnTo>
                  <a:pt x="12234194" y="0"/>
                </a:lnTo>
                <a:lnTo>
                  <a:pt x="12234194" y="6990968"/>
                </a:lnTo>
                <a:lnTo>
                  <a:pt x="0" y="6990968"/>
                </a:lnTo>
                <a:lnTo>
                  <a:pt x="0" y="0"/>
                </a:lnTo>
                <a:close/>
              </a:path>
            </a:pathLst>
          </a:custGeom>
          <a:blipFill>
            <a:blip r:embed="rId6">
              <a:alphaModFix amt="51000"/>
            </a:blip>
            <a:stretch>
              <a:fillRect l="0" t="0" r="0" b="0"/>
            </a:stretch>
          </a:blipFill>
        </p:spPr>
      </p:sp>
      <p:sp>
        <p:nvSpPr>
          <p:cNvPr name="TextBox 19" id="19"/>
          <p:cNvSpPr txBox="true"/>
          <p:nvPr/>
        </p:nvSpPr>
        <p:spPr>
          <a:xfrm rot="0">
            <a:off x="6173494" y="5666078"/>
            <a:ext cx="6903857" cy="444627"/>
          </a:xfrm>
          <a:prstGeom prst="rect">
            <a:avLst/>
          </a:prstGeom>
        </p:spPr>
        <p:txBody>
          <a:bodyPr anchor="t" rtlCol="false" tIns="0" lIns="0" bIns="0" rIns="0">
            <a:spAutoFit/>
          </a:bodyPr>
          <a:lstStyle/>
          <a:p>
            <a:pPr algn="l">
              <a:lnSpc>
                <a:spcPts val="3653"/>
              </a:lnSpc>
              <a:spcBef>
                <a:spcPct val="0"/>
              </a:spcBef>
            </a:pPr>
            <a:r>
              <a:rPr lang="en-US" sz="2899" spc="-162">
                <a:solidFill>
                  <a:srgbClr val="FFFFFF"/>
                </a:solidFill>
                <a:latin typeface="Garet"/>
                <a:ea typeface="Garet"/>
                <a:cs typeface="Garet"/>
                <a:sym typeface="Garet"/>
              </a:rPr>
              <a:t>jumlah data kategori laptop:  </a:t>
            </a:r>
            <a:r>
              <a:rPr lang="en-US" b="true" sz="2899" spc="-162">
                <a:solidFill>
                  <a:srgbClr val="F4D820"/>
                </a:solidFill>
                <a:latin typeface="Garet Bold"/>
                <a:ea typeface="Garet Bold"/>
                <a:cs typeface="Garet Bold"/>
                <a:sym typeface="Garet Bold"/>
              </a:rPr>
              <a:t>20.354</a:t>
            </a:r>
          </a:p>
        </p:txBody>
      </p:sp>
      <p:sp>
        <p:nvSpPr>
          <p:cNvPr name="TextBox 20" id="20"/>
          <p:cNvSpPr txBox="true"/>
          <p:nvPr/>
        </p:nvSpPr>
        <p:spPr>
          <a:xfrm rot="0">
            <a:off x="2400539" y="3201688"/>
            <a:ext cx="13643169" cy="2473915"/>
          </a:xfrm>
          <a:prstGeom prst="rect">
            <a:avLst/>
          </a:prstGeom>
        </p:spPr>
        <p:txBody>
          <a:bodyPr anchor="t" rtlCol="false" tIns="0" lIns="0" bIns="0" rIns="0">
            <a:spAutoFit/>
          </a:bodyPr>
          <a:lstStyle/>
          <a:p>
            <a:pPr algn="ctr">
              <a:lnSpc>
                <a:spcPts val="9877"/>
              </a:lnSpc>
              <a:spcBef>
                <a:spcPct val="0"/>
              </a:spcBef>
            </a:pPr>
            <a:r>
              <a:rPr lang="en-US" sz="7839" spc="956">
                <a:solidFill>
                  <a:srgbClr val="FFFEE3"/>
                </a:solidFill>
                <a:latin typeface="League Spartan"/>
                <a:ea typeface="League Spartan"/>
                <a:cs typeface="League Spartan"/>
                <a:sym typeface="League Spartan"/>
              </a:rPr>
              <a:t>HANDPHONE  MARKET ANALYSIS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AutoShape 3" id="3"/>
          <p:cNvSpPr/>
          <p:nvPr/>
        </p:nvSpPr>
        <p:spPr>
          <a:xfrm>
            <a:off x="1028700" y="9248775"/>
            <a:ext cx="16230600" cy="0"/>
          </a:xfrm>
          <a:prstGeom prst="line">
            <a:avLst/>
          </a:prstGeom>
          <a:ln cap="flat" w="19050">
            <a:solidFill>
              <a:srgbClr val="FFFFFF"/>
            </a:solidFill>
            <a:prstDash val="solid"/>
            <a:headEnd type="none" len="sm" w="sm"/>
            <a:tailEnd type="none" len="sm" w="sm"/>
          </a:ln>
        </p:spPr>
      </p:sp>
      <p:sp>
        <p:nvSpPr>
          <p:cNvPr name="TextBox 4" id="4"/>
          <p:cNvSpPr txBox="true"/>
          <p:nvPr/>
        </p:nvSpPr>
        <p:spPr>
          <a:xfrm rot="0">
            <a:off x="1028700" y="2098689"/>
            <a:ext cx="8611212" cy="998906"/>
          </a:xfrm>
          <a:prstGeom prst="rect">
            <a:avLst/>
          </a:prstGeom>
        </p:spPr>
        <p:txBody>
          <a:bodyPr anchor="t" rtlCol="false" tIns="0" lIns="0" bIns="0" rIns="0">
            <a:spAutoFit/>
          </a:bodyPr>
          <a:lstStyle/>
          <a:p>
            <a:pPr algn="l">
              <a:lnSpc>
                <a:spcPts val="8076"/>
              </a:lnSpc>
              <a:spcBef>
                <a:spcPct val="0"/>
              </a:spcBef>
            </a:pPr>
            <a:r>
              <a:rPr lang="en-US" b="true" sz="6409" spc="-358">
                <a:solidFill>
                  <a:srgbClr val="FFFFFF"/>
                </a:solidFill>
                <a:latin typeface="Open Sauce Bold"/>
                <a:ea typeface="Open Sauce Bold"/>
                <a:cs typeface="Open Sauce Bold"/>
                <a:sym typeface="Open Sauce Bold"/>
              </a:rPr>
              <a:t>BRAND DOMINANCE</a:t>
            </a:r>
          </a:p>
        </p:txBody>
      </p:sp>
      <p:sp>
        <p:nvSpPr>
          <p:cNvPr name="TextBox 5" id="5"/>
          <p:cNvSpPr txBox="true"/>
          <p:nvPr/>
        </p:nvSpPr>
        <p:spPr>
          <a:xfrm rot="0">
            <a:off x="1062939" y="4313904"/>
            <a:ext cx="7589646" cy="228180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Sa</a:t>
            </a:r>
            <a:r>
              <a:rPr lang="en-US" sz="1800" spc="-100">
                <a:solidFill>
                  <a:srgbClr val="FFFFFF"/>
                </a:solidFill>
                <a:latin typeface="Garet"/>
                <a:ea typeface="Garet"/>
                <a:cs typeface="Garet"/>
                <a:sym typeface="Garet"/>
              </a:rPr>
              <a:t>msung, Apple, Poco adalah 3 besar — menguasai 46% total unit terjual combined</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Poco menarik: listing tidak terlalu banyak (5,47%) tapi unit terjual tinggi (14,17%) → produk laku keras per listing</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Nokia kejutan positif: listing kecil (3,74%) tapi terjual 6,06% → efisien</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Oppo kebalikannya: listing terbesar kedua (12,67%) tapi terjual hanya 2,55% → banyak listing, sepi pembeli</a:t>
            </a:r>
          </a:p>
          <a:p>
            <a:pPr algn="l">
              <a:lnSpc>
                <a:spcPts val="2268"/>
              </a:lnSpc>
              <a:spcBef>
                <a:spcPct val="0"/>
              </a:spcBef>
            </a:pPr>
          </a:p>
        </p:txBody>
      </p:sp>
      <p:grpSp>
        <p:nvGrpSpPr>
          <p:cNvPr name="Group 6" id="6"/>
          <p:cNvGrpSpPr/>
          <p:nvPr/>
        </p:nvGrpSpPr>
        <p:grpSpPr>
          <a:xfrm rot="0">
            <a:off x="925423" y="3390933"/>
            <a:ext cx="6566742" cy="722947"/>
            <a:chOff x="0" y="0"/>
            <a:chExt cx="8755656" cy="963929"/>
          </a:xfrm>
        </p:grpSpPr>
        <p:grpSp>
          <p:nvGrpSpPr>
            <p:cNvPr name="Group 7" id="7"/>
            <p:cNvGrpSpPr/>
            <p:nvPr/>
          </p:nvGrpSpPr>
          <p:grpSpPr>
            <a:xfrm rot="0">
              <a:off x="0" y="0"/>
              <a:ext cx="8272024" cy="963929"/>
              <a:chOff x="0" y="0"/>
              <a:chExt cx="2193351" cy="255588"/>
            </a:xfrm>
          </p:grpSpPr>
          <p:sp>
            <p:nvSpPr>
              <p:cNvPr name="Freeform 8" id="8"/>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9" id="9"/>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10" id="10"/>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b="true">
                  <a:solidFill>
                    <a:srgbClr val="FFFFFF"/>
                  </a:solidFill>
                  <a:latin typeface="Open Sauce Bold"/>
                  <a:ea typeface="Open Sauce Bold"/>
                  <a:cs typeface="Open Sauce Bold"/>
                  <a:sym typeface="Open Sauce Bold"/>
                </a:rPr>
                <a:t>Market Share berdasarkan Unit Terjual</a:t>
              </a:r>
            </a:p>
          </p:txBody>
        </p:sp>
      </p:grpSp>
      <p:pic>
        <p:nvPicPr>
          <p:cNvPr name="Picture 11" id="11"/>
          <p:cNvPicPr>
            <a:picLocks noChangeAspect="true"/>
          </p:cNvPicPr>
          <p:nvPr/>
        </p:nvPicPr>
        <p:blipFill>
          <a:blip r:embed="rId3"/>
          <a:stretch>
            <a:fillRect/>
          </a:stretch>
        </p:blipFill>
        <p:spPr>
          <a:xfrm rot="0">
            <a:off x="8427457" y="1112673"/>
            <a:ext cx="9041498" cy="8522347"/>
          </a:xfrm>
          <a:prstGeom prst="rect">
            <a:avLst/>
          </a:prstGeom>
        </p:spPr>
      </p:pic>
      <p:grpSp>
        <p:nvGrpSpPr>
          <p:cNvPr name="Group 12" id="12"/>
          <p:cNvGrpSpPr/>
          <p:nvPr/>
        </p:nvGrpSpPr>
        <p:grpSpPr>
          <a:xfrm rot="0">
            <a:off x="1062939" y="6805263"/>
            <a:ext cx="6566742" cy="722947"/>
            <a:chOff x="0" y="0"/>
            <a:chExt cx="8755656" cy="963929"/>
          </a:xfrm>
        </p:grpSpPr>
        <p:grpSp>
          <p:nvGrpSpPr>
            <p:cNvPr name="Group 13" id="13"/>
            <p:cNvGrpSpPr/>
            <p:nvPr/>
          </p:nvGrpSpPr>
          <p:grpSpPr>
            <a:xfrm rot="0">
              <a:off x="0" y="0"/>
              <a:ext cx="8272024" cy="963929"/>
              <a:chOff x="0" y="0"/>
              <a:chExt cx="2193351" cy="255588"/>
            </a:xfrm>
          </p:grpSpPr>
          <p:sp>
            <p:nvSpPr>
              <p:cNvPr name="Freeform 14" id="14"/>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5" id="15"/>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16" id="16"/>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b="true">
                  <a:solidFill>
                    <a:srgbClr val="FFFFFF"/>
                  </a:solidFill>
                  <a:latin typeface="Open Sauce Bold"/>
                  <a:ea typeface="Open Sauce Bold"/>
                  <a:cs typeface="Open Sauce Bold"/>
                  <a:sym typeface="Open Sauce Bold"/>
                </a:rPr>
                <a:t>Market Share berdasarkan Jumlah Listing</a:t>
              </a:r>
            </a:p>
          </p:txBody>
        </p:sp>
      </p:grpSp>
      <p:sp>
        <p:nvSpPr>
          <p:cNvPr name="TextBox 17" id="17"/>
          <p:cNvSpPr txBox="true"/>
          <p:nvPr/>
        </p:nvSpPr>
        <p:spPr>
          <a:xfrm rot="0">
            <a:off x="1062939" y="7709551"/>
            <a:ext cx="7589646" cy="142455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O</a:t>
            </a:r>
            <a:r>
              <a:rPr lang="en-US" sz="1800" spc="-100">
                <a:solidFill>
                  <a:srgbClr val="FFFFFF"/>
                </a:solidFill>
                <a:latin typeface="Garet"/>
                <a:ea typeface="Garet"/>
                <a:cs typeface="Garet"/>
                <a:sym typeface="Garet"/>
              </a:rPr>
              <a:t>ppo &amp; Vivo mendominasi listing (12,67% dan 11,66%) tapi tidak sebanding dengan penjualannya → oversupply</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Realme &amp; Infinix listing besar, penjualan moderat — segmen mid-low yang kompetitif</a:t>
            </a:r>
          </a:p>
          <a:p>
            <a:pPr algn="l">
              <a:lnSpc>
                <a:spcPts val="2268"/>
              </a:lnSpc>
              <a:spcBef>
                <a:spcPct val="0"/>
              </a:spcBef>
            </a:pPr>
          </a:p>
        </p:txBody>
      </p:sp>
      <p:grpSp>
        <p:nvGrpSpPr>
          <p:cNvPr name="Group 18" id="18"/>
          <p:cNvGrpSpPr/>
          <p:nvPr/>
        </p:nvGrpSpPr>
        <p:grpSpPr>
          <a:xfrm rot="0">
            <a:off x="1028700" y="337116"/>
            <a:ext cx="16386847" cy="1227065"/>
            <a:chOff x="0" y="0"/>
            <a:chExt cx="21849129" cy="1636087"/>
          </a:xfrm>
        </p:grpSpPr>
        <p:sp>
          <p:nvSpPr>
            <p:cNvPr name="Freeform 19" id="19"/>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20" id="20"/>
            <p:cNvGrpSpPr/>
            <p:nvPr/>
          </p:nvGrpSpPr>
          <p:grpSpPr>
            <a:xfrm rot="0">
              <a:off x="11378892" y="443664"/>
              <a:ext cx="3080976" cy="969444"/>
              <a:chOff x="0" y="0"/>
              <a:chExt cx="1291574" cy="406400"/>
            </a:xfrm>
          </p:grpSpPr>
          <p:sp>
            <p:nvSpPr>
              <p:cNvPr name="Freeform 21" id="21"/>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2" id="22"/>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24" id="24"/>
            <p:cNvGrpSpPr/>
            <p:nvPr/>
          </p:nvGrpSpPr>
          <p:grpSpPr>
            <a:xfrm rot="0">
              <a:off x="16468734" y="443664"/>
              <a:ext cx="5380395" cy="969444"/>
              <a:chOff x="0" y="0"/>
              <a:chExt cx="2255512" cy="406400"/>
            </a:xfrm>
          </p:grpSpPr>
          <p:sp>
            <p:nvSpPr>
              <p:cNvPr name="Freeform 25" id="25"/>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6" id="26"/>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8" id="28"/>
            <p:cNvGrpSpPr/>
            <p:nvPr/>
          </p:nvGrpSpPr>
          <p:grpSpPr>
            <a:xfrm rot="0">
              <a:off x="14828167" y="283406"/>
              <a:ext cx="1277412" cy="1277412"/>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30" id="30"/>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31" id="31"/>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1028700" y="2098689"/>
            <a:ext cx="8611212" cy="998906"/>
          </a:xfrm>
          <a:prstGeom prst="rect">
            <a:avLst/>
          </a:prstGeom>
        </p:spPr>
        <p:txBody>
          <a:bodyPr anchor="t" rtlCol="false" tIns="0" lIns="0" bIns="0" rIns="0">
            <a:spAutoFit/>
          </a:bodyPr>
          <a:lstStyle/>
          <a:p>
            <a:pPr algn="l">
              <a:lnSpc>
                <a:spcPts val="8076"/>
              </a:lnSpc>
              <a:spcBef>
                <a:spcPct val="0"/>
              </a:spcBef>
            </a:pPr>
            <a:r>
              <a:rPr lang="en-US" b="true" sz="6409" spc="-358">
                <a:solidFill>
                  <a:srgbClr val="FFFFFF"/>
                </a:solidFill>
                <a:latin typeface="Open Sauce Bold"/>
                <a:ea typeface="Open Sauce Bold"/>
                <a:cs typeface="Open Sauce Bold"/>
                <a:sym typeface="Open Sauce Bold"/>
              </a:rPr>
              <a:t>PRICE ANOMALY</a:t>
            </a:r>
          </a:p>
        </p:txBody>
      </p:sp>
      <p:grpSp>
        <p:nvGrpSpPr>
          <p:cNvPr name="Group 4" id="4"/>
          <p:cNvGrpSpPr/>
          <p:nvPr/>
        </p:nvGrpSpPr>
        <p:grpSpPr>
          <a:xfrm rot="0">
            <a:off x="1007819" y="5993135"/>
            <a:ext cx="6566742" cy="722947"/>
            <a:chOff x="0" y="0"/>
            <a:chExt cx="8755656" cy="963929"/>
          </a:xfrm>
        </p:grpSpPr>
        <p:grpSp>
          <p:nvGrpSpPr>
            <p:cNvPr name="Group 5" id="5"/>
            <p:cNvGrpSpPr/>
            <p:nvPr/>
          </p:nvGrpSpPr>
          <p:grpSpPr>
            <a:xfrm rot="0">
              <a:off x="0" y="0"/>
              <a:ext cx="8272024" cy="963929"/>
              <a:chOff x="0" y="0"/>
              <a:chExt cx="2193351" cy="255588"/>
            </a:xfrm>
          </p:grpSpPr>
          <p:sp>
            <p:nvSpPr>
              <p:cNvPr name="Freeform 6" id="6"/>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7" id="7"/>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8" id="8"/>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b="true">
                  <a:solidFill>
                    <a:srgbClr val="FFFFFF"/>
                  </a:solidFill>
                  <a:latin typeface="Open Sauce Bold"/>
                  <a:ea typeface="Open Sauce Bold"/>
                  <a:cs typeface="Open Sauce Bold"/>
                  <a:sym typeface="Open Sauce Bold"/>
                </a:rPr>
                <a:t>Top Overpriced</a:t>
              </a:r>
            </a:p>
          </p:txBody>
        </p:sp>
      </p:grpSp>
      <p:pic>
        <p:nvPicPr>
          <p:cNvPr name="Picture 9" id="9"/>
          <p:cNvPicPr>
            <a:picLocks noChangeAspect="true"/>
          </p:cNvPicPr>
          <p:nvPr/>
        </p:nvPicPr>
        <p:blipFill>
          <a:blip r:embed="rId3"/>
          <a:stretch>
            <a:fillRect/>
          </a:stretch>
        </p:blipFill>
        <p:spPr>
          <a:xfrm rot="0">
            <a:off x="6335228" y="642709"/>
            <a:ext cx="12255842" cy="10003311"/>
          </a:xfrm>
          <a:prstGeom prst="rect">
            <a:avLst/>
          </a:prstGeom>
        </p:spPr>
      </p:pic>
      <p:sp>
        <p:nvSpPr>
          <p:cNvPr name="TextBox 10" id="10"/>
          <p:cNvSpPr txBox="true"/>
          <p:nvPr/>
        </p:nvSpPr>
        <p:spPr>
          <a:xfrm rot="0">
            <a:off x="846337" y="6969034"/>
            <a:ext cx="6073430" cy="2567559"/>
          </a:xfrm>
          <a:prstGeom prst="rect">
            <a:avLst/>
          </a:prstGeom>
        </p:spPr>
        <p:txBody>
          <a:bodyPr anchor="t" rtlCol="false" tIns="0" lIns="0" bIns="0" rIns="0">
            <a:spAutoFit/>
          </a:bodyPr>
          <a:lstStyle/>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Bebera</a:t>
            </a:r>
            <a:r>
              <a:rPr lang="en-US" sz="1800" spc="-100">
                <a:solidFill>
                  <a:srgbClr val="FFFFFF"/>
                </a:solidFill>
                <a:latin typeface="Garet"/>
                <a:ea typeface="Garet"/>
                <a:cs typeface="Garet"/>
                <a:sym typeface="Garet"/>
              </a:rPr>
              <a:t>pa produk dipasang harga Rp 90–110 juta jauh di atas batas wajar brand-nya (kemungkinan salah input atau taktik listing)</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K</a:t>
            </a:r>
            <a:r>
              <a:rPr lang="en-US" sz="1800" spc="-100">
                <a:solidFill>
                  <a:srgbClr val="FFFFFF"/>
                </a:solidFill>
                <a:latin typeface="Garet"/>
                <a:ea typeface="Garet"/>
                <a:cs typeface="Garet"/>
                <a:sym typeface="Garet"/>
              </a:rPr>
              <a:t>asus ekstrem: Lenovo Legion dipasang Rp 109 juta padahal batas atas brand hanya ~Rp 6,5 juta → jelas anomali</a:t>
            </a:r>
          </a:p>
          <a:p>
            <a:pPr algn="l" marL="388620" indent="-194310" lvl="1">
              <a:lnSpc>
                <a:spcPts val="2268"/>
              </a:lnSpc>
              <a:spcBef>
                <a:spcPct val="0"/>
              </a:spcBef>
              <a:buFont typeface="Arial"/>
              <a:buChar char="•"/>
            </a:pPr>
            <a:r>
              <a:rPr lang="en-US" sz="1800" spc="-100">
                <a:solidFill>
                  <a:srgbClr val="FFFFFF"/>
                </a:solidFill>
                <a:latin typeface="Garet"/>
                <a:ea typeface="Garet"/>
                <a:cs typeface="Garet"/>
                <a:sym typeface="Garet"/>
              </a:rPr>
              <a:t>Infinix &amp; Poco ada yang dipasang Rp 99,9 juta padahal median harga brand di kisaran Rp 2–3 juta</a:t>
            </a:r>
          </a:p>
          <a:p>
            <a:pPr algn="l">
              <a:lnSpc>
                <a:spcPts val="2268"/>
              </a:lnSpc>
              <a:spcBef>
                <a:spcPct val="0"/>
              </a:spcBef>
            </a:pPr>
          </a:p>
        </p:txBody>
      </p:sp>
      <p:sp>
        <p:nvSpPr>
          <p:cNvPr name="TextBox 11" id="11"/>
          <p:cNvSpPr txBox="true"/>
          <p:nvPr/>
        </p:nvSpPr>
        <p:spPr>
          <a:xfrm rot="0">
            <a:off x="1028700" y="3554795"/>
            <a:ext cx="8889238" cy="901827"/>
          </a:xfrm>
          <a:prstGeom prst="rect">
            <a:avLst/>
          </a:prstGeom>
        </p:spPr>
        <p:txBody>
          <a:bodyPr anchor="t" rtlCol="false" tIns="0" lIns="0" bIns="0" rIns="0">
            <a:spAutoFit/>
          </a:bodyPr>
          <a:lstStyle/>
          <a:p>
            <a:pPr algn="l">
              <a:lnSpc>
                <a:spcPts val="3653"/>
              </a:lnSpc>
            </a:pPr>
            <a:r>
              <a:rPr lang="en-US" sz="2899" spc="-162">
                <a:solidFill>
                  <a:srgbClr val="FFFFFF"/>
                </a:solidFill>
                <a:latin typeface="Garet"/>
                <a:ea typeface="Garet"/>
                <a:cs typeface="Garet"/>
                <a:sym typeface="Garet"/>
              </a:rPr>
              <a:t>TOTAL ANOMALI:</a:t>
            </a:r>
            <a:r>
              <a:rPr lang="en-US" sz="2899" spc="-162" b="true">
                <a:solidFill>
                  <a:srgbClr val="F4D820"/>
                </a:solidFill>
                <a:latin typeface="Garet Bold"/>
                <a:ea typeface="Garet Bold"/>
                <a:cs typeface="Garet Bold"/>
                <a:sym typeface="Garet Bold"/>
              </a:rPr>
              <a:t> 1.263 </a:t>
            </a:r>
            <a:r>
              <a:rPr lang="en-US" sz="2899" spc="-162">
                <a:solidFill>
                  <a:srgbClr val="F4D820"/>
                </a:solidFill>
                <a:latin typeface="Garet"/>
                <a:ea typeface="Garet"/>
                <a:cs typeface="Garet"/>
                <a:sym typeface="Garet"/>
              </a:rPr>
              <a:t>dari 19.557 </a:t>
            </a:r>
          </a:p>
          <a:p>
            <a:pPr algn="l">
              <a:lnSpc>
                <a:spcPts val="3653"/>
              </a:lnSpc>
              <a:spcBef>
                <a:spcPct val="0"/>
              </a:spcBef>
            </a:pPr>
            <a:r>
              <a:rPr lang="en-US" sz="2899" spc="-162">
                <a:solidFill>
                  <a:srgbClr val="F4D820"/>
                </a:solidFill>
                <a:latin typeface="Garet"/>
                <a:ea typeface="Garet"/>
                <a:cs typeface="Garet"/>
                <a:sym typeface="Garet"/>
              </a:rPr>
              <a:t>listing (6,46%)</a:t>
            </a:r>
          </a:p>
        </p:txBody>
      </p:sp>
      <p:sp>
        <p:nvSpPr>
          <p:cNvPr name="TextBox 12" id="12"/>
          <p:cNvSpPr txBox="true"/>
          <p:nvPr/>
        </p:nvSpPr>
        <p:spPr>
          <a:xfrm rot="0">
            <a:off x="1028700" y="4582401"/>
            <a:ext cx="6545861" cy="901827"/>
          </a:xfrm>
          <a:prstGeom prst="rect">
            <a:avLst/>
          </a:prstGeom>
        </p:spPr>
        <p:txBody>
          <a:bodyPr anchor="t" rtlCol="false" tIns="0" lIns="0" bIns="0" rIns="0">
            <a:spAutoFit/>
          </a:bodyPr>
          <a:lstStyle/>
          <a:p>
            <a:pPr algn="l">
              <a:lnSpc>
                <a:spcPts val="3653"/>
              </a:lnSpc>
              <a:spcBef>
                <a:spcPct val="0"/>
              </a:spcBef>
            </a:pPr>
            <a:r>
              <a:rPr lang="en-US" sz="2899" spc="-162">
                <a:solidFill>
                  <a:srgbClr val="FFFFFF"/>
                </a:solidFill>
                <a:latin typeface="Garet"/>
                <a:ea typeface="Garet"/>
                <a:cs typeface="Garet"/>
                <a:sym typeface="Garet"/>
              </a:rPr>
              <a:t>Mayoritas Overpriced</a:t>
            </a:r>
            <a:r>
              <a:rPr lang="en-US" sz="2899" spc="-162">
                <a:solidFill>
                  <a:srgbClr val="FFFFFF"/>
                </a:solidFill>
                <a:latin typeface="Garet"/>
                <a:ea typeface="Garet"/>
                <a:cs typeface="Garet"/>
                <a:sym typeface="Garet"/>
              </a:rPr>
              <a:t> </a:t>
            </a:r>
            <a:r>
              <a:rPr lang="en-US" sz="2899" spc="-162">
                <a:solidFill>
                  <a:srgbClr val="FFFFFF"/>
                </a:solidFill>
                <a:latin typeface="Garet"/>
                <a:ea typeface="Garet"/>
                <a:cs typeface="Garet"/>
                <a:sym typeface="Garet"/>
              </a:rPr>
              <a:t>(</a:t>
            </a:r>
            <a:r>
              <a:rPr lang="en-US" sz="2899" spc="-162">
                <a:solidFill>
                  <a:srgbClr val="FFFFFF"/>
                </a:solidFill>
                <a:latin typeface="Garet"/>
                <a:ea typeface="Garet"/>
                <a:cs typeface="Garet"/>
                <a:sym typeface="Garet"/>
              </a:rPr>
              <a:t>1.23</a:t>
            </a:r>
            <a:r>
              <a:rPr lang="en-US" sz="2899" spc="-162">
                <a:solidFill>
                  <a:srgbClr val="FFFFFF"/>
                </a:solidFill>
                <a:latin typeface="Garet"/>
                <a:ea typeface="Garet"/>
                <a:cs typeface="Garet"/>
                <a:sym typeface="Garet"/>
              </a:rPr>
              <a:t>0),</a:t>
            </a:r>
            <a:r>
              <a:rPr lang="en-US" sz="2899" spc="-162">
                <a:solidFill>
                  <a:srgbClr val="FFFFFF"/>
                </a:solidFill>
                <a:latin typeface="Garet"/>
                <a:ea typeface="Garet"/>
                <a:cs typeface="Garet"/>
                <a:sym typeface="Garet"/>
              </a:rPr>
              <a:t> </a:t>
            </a:r>
            <a:r>
              <a:rPr lang="en-US" sz="2899" spc="-162">
                <a:solidFill>
                  <a:srgbClr val="FFFFFF"/>
                </a:solidFill>
                <a:latin typeface="Garet"/>
                <a:ea typeface="Garet"/>
                <a:cs typeface="Garet"/>
                <a:sym typeface="Garet"/>
              </a:rPr>
              <a:t>hanya 33 Underpriced/Suspicious</a:t>
            </a:r>
          </a:p>
        </p:txBody>
      </p:sp>
      <p:grpSp>
        <p:nvGrpSpPr>
          <p:cNvPr name="Group 13" id="13"/>
          <p:cNvGrpSpPr/>
          <p:nvPr/>
        </p:nvGrpSpPr>
        <p:grpSpPr>
          <a:xfrm rot="0">
            <a:off x="1028700" y="337116"/>
            <a:ext cx="16386847" cy="1227065"/>
            <a:chOff x="0" y="0"/>
            <a:chExt cx="21849129" cy="1636087"/>
          </a:xfrm>
        </p:grpSpPr>
        <p:sp>
          <p:nvSpPr>
            <p:cNvPr name="Freeform 14" id="1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5" id="15"/>
            <p:cNvGrpSpPr/>
            <p:nvPr/>
          </p:nvGrpSpPr>
          <p:grpSpPr>
            <a:xfrm rot="0">
              <a:off x="11378892" y="443664"/>
              <a:ext cx="3080976" cy="969444"/>
              <a:chOff x="0" y="0"/>
              <a:chExt cx="1291574" cy="406400"/>
            </a:xfrm>
          </p:grpSpPr>
          <p:sp>
            <p:nvSpPr>
              <p:cNvPr name="Freeform 16" id="1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7" id="1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9" id="19"/>
            <p:cNvGrpSpPr/>
            <p:nvPr/>
          </p:nvGrpSpPr>
          <p:grpSpPr>
            <a:xfrm rot="0">
              <a:off x="16468734" y="443664"/>
              <a:ext cx="5380395" cy="969444"/>
              <a:chOff x="0" y="0"/>
              <a:chExt cx="2255512" cy="406400"/>
            </a:xfrm>
          </p:grpSpPr>
          <p:sp>
            <p:nvSpPr>
              <p:cNvPr name="Freeform 20" id="2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1" id="2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3" id="23"/>
            <p:cNvGrpSpPr/>
            <p:nvPr/>
          </p:nvGrpSpPr>
          <p:grpSpPr>
            <a:xfrm rot="0">
              <a:off x="14828167" y="283406"/>
              <a:ext cx="1277412" cy="127741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5" id="2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6" id="2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5695779"/>
            <a:ext cx="6566742" cy="722947"/>
            <a:chOff x="0" y="0"/>
            <a:chExt cx="8755656" cy="963929"/>
          </a:xfrm>
        </p:grpSpPr>
        <p:grpSp>
          <p:nvGrpSpPr>
            <p:cNvPr name="Group 4" id="4"/>
            <p:cNvGrpSpPr/>
            <p:nvPr/>
          </p:nvGrpSpPr>
          <p:grpSpPr>
            <a:xfrm rot="0">
              <a:off x="0" y="0"/>
              <a:ext cx="8272024" cy="963929"/>
              <a:chOff x="0" y="0"/>
              <a:chExt cx="2193351" cy="255588"/>
            </a:xfrm>
          </p:grpSpPr>
          <p:sp>
            <p:nvSpPr>
              <p:cNvPr name="Freeform 5" id="5"/>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6" id="6"/>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7" id="7"/>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a:solidFill>
                    <a:srgbClr val="FFFFFF"/>
                  </a:solidFill>
                  <a:latin typeface="Open Sauce"/>
                  <a:ea typeface="Open Sauce"/>
                  <a:cs typeface="Open Sauce"/>
                  <a:sym typeface="Open Sauce"/>
                </a:rPr>
                <a:t>Temuan</a:t>
              </a:r>
            </a:p>
          </p:txBody>
        </p:sp>
      </p:grpSp>
      <p:sp>
        <p:nvSpPr>
          <p:cNvPr name="Freeform 8" id="8"/>
          <p:cNvSpPr/>
          <p:nvPr/>
        </p:nvSpPr>
        <p:spPr>
          <a:xfrm flipH="false" flipV="false" rot="0">
            <a:off x="9302662" y="3371061"/>
            <a:ext cx="7735380" cy="5244148"/>
          </a:xfrm>
          <a:custGeom>
            <a:avLst/>
            <a:gdLst/>
            <a:ahLst/>
            <a:cxnLst/>
            <a:rect r="r" b="b" t="t" l="l"/>
            <a:pathLst>
              <a:path h="5244148" w="7735380">
                <a:moveTo>
                  <a:pt x="0" y="0"/>
                </a:moveTo>
                <a:lnTo>
                  <a:pt x="7735380" y="0"/>
                </a:lnTo>
                <a:lnTo>
                  <a:pt x="7735380" y="5244148"/>
                </a:lnTo>
                <a:lnTo>
                  <a:pt x="0" y="5244148"/>
                </a:lnTo>
                <a:lnTo>
                  <a:pt x="0" y="0"/>
                </a:lnTo>
                <a:close/>
              </a:path>
            </a:pathLst>
          </a:custGeom>
          <a:blipFill>
            <a:blip r:embed="rId3"/>
            <a:stretch>
              <a:fillRect l="0" t="0" r="0" b="0"/>
            </a:stretch>
          </a:blipFill>
        </p:spPr>
      </p:sp>
      <p:sp>
        <p:nvSpPr>
          <p:cNvPr name="TextBox 9" id="9"/>
          <p:cNvSpPr txBox="true"/>
          <p:nvPr/>
        </p:nvSpPr>
        <p:spPr>
          <a:xfrm rot="0">
            <a:off x="1028700" y="2098689"/>
            <a:ext cx="9163911" cy="3037256"/>
          </a:xfrm>
          <a:prstGeom prst="rect">
            <a:avLst/>
          </a:prstGeom>
        </p:spPr>
        <p:txBody>
          <a:bodyPr anchor="t" rtlCol="false" tIns="0" lIns="0" bIns="0" rIns="0">
            <a:spAutoFit/>
          </a:bodyPr>
          <a:lstStyle/>
          <a:p>
            <a:pPr algn="l">
              <a:lnSpc>
                <a:spcPts val="8076"/>
              </a:lnSpc>
              <a:spcBef>
                <a:spcPct val="0"/>
              </a:spcBef>
            </a:pPr>
            <a:r>
              <a:rPr lang="en-US" b="true" sz="6409" spc="-358">
                <a:solidFill>
                  <a:srgbClr val="FFFFFF"/>
                </a:solidFill>
                <a:latin typeface="Open Sauce Bold"/>
                <a:ea typeface="Open Sauce Bold"/>
                <a:cs typeface="Open Sauce Bold"/>
                <a:sym typeface="Open Sauce Bold"/>
              </a:rPr>
              <a:t>DEPRESIASI &amp; LIKUIDITAS PASAR BEKAS</a:t>
            </a:r>
          </a:p>
        </p:txBody>
      </p:sp>
      <p:sp>
        <p:nvSpPr>
          <p:cNvPr name="TextBox 10" id="10"/>
          <p:cNvSpPr txBox="true"/>
          <p:nvPr/>
        </p:nvSpPr>
        <p:spPr>
          <a:xfrm rot="0">
            <a:off x="1028700" y="6665929"/>
            <a:ext cx="7734917" cy="2938272"/>
          </a:xfrm>
          <a:prstGeom prst="rect">
            <a:avLst/>
          </a:prstGeom>
        </p:spPr>
        <p:txBody>
          <a:bodyPr anchor="t" rtlCol="false" tIns="0" lIns="0" bIns="0" rIns="0">
            <a:spAutoFit/>
          </a:bodyPr>
          <a:lstStyle/>
          <a:p>
            <a:pPr algn="l" marL="410209" indent="-205105" lvl="1">
              <a:lnSpc>
                <a:spcPts val="2393"/>
              </a:lnSpc>
              <a:spcBef>
                <a:spcPct val="0"/>
              </a:spcBef>
              <a:buFont typeface="Arial"/>
              <a:buChar char="•"/>
            </a:pPr>
            <a:r>
              <a:rPr lang="en-US" sz="1899" spc="-106">
                <a:solidFill>
                  <a:srgbClr val="FFFFFF"/>
                </a:solidFill>
                <a:latin typeface="Garet"/>
                <a:ea typeface="Garet"/>
                <a:cs typeface="Garet"/>
                <a:sym typeface="Garet"/>
              </a:rPr>
              <a:t>Apple depresi</a:t>
            </a:r>
            <a:r>
              <a:rPr lang="en-US" sz="1899" spc="-106">
                <a:solidFill>
                  <a:srgbClr val="FFFFFF"/>
                </a:solidFill>
                <a:latin typeface="Garet"/>
                <a:ea typeface="Garet"/>
                <a:cs typeface="Garet"/>
                <a:sym typeface="Garet"/>
              </a:rPr>
              <a:t>asi tertinggi (59,76%) tapi volume bekas terbesar (72.188 unit) → pasar bekas sangat aktif meski harga jatuh jauh</a:t>
            </a:r>
          </a:p>
          <a:p>
            <a:pPr algn="l" marL="410209" indent="-205105" lvl="1">
              <a:lnSpc>
                <a:spcPts val="2393"/>
              </a:lnSpc>
              <a:spcBef>
                <a:spcPct val="0"/>
              </a:spcBef>
              <a:buFont typeface="Arial"/>
              <a:buChar char="•"/>
            </a:pPr>
            <a:r>
              <a:rPr lang="en-US" sz="1899" spc="-106">
                <a:solidFill>
                  <a:srgbClr val="FFFFFF"/>
                </a:solidFill>
                <a:latin typeface="Garet"/>
                <a:ea typeface="Garet"/>
                <a:cs typeface="Garet"/>
                <a:sym typeface="Garet"/>
              </a:rPr>
              <a:t>Samsung terbaik: depresiasi 43,71% tapi likuiditas tertinggi (93,12%) → paling mudah dijual bekas</a:t>
            </a:r>
          </a:p>
          <a:p>
            <a:pPr algn="l" marL="410209" indent="-205105" lvl="1">
              <a:lnSpc>
                <a:spcPts val="2393"/>
              </a:lnSpc>
              <a:spcBef>
                <a:spcPct val="0"/>
              </a:spcBef>
              <a:buFont typeface="Arial"/>
              <a:buChar char="•"/>
            </a:pPr>
            <a:r>
              <a:rPr lang="en-US" sz="1899" spc="-106">
                <a:solidFill>
                  <a:srgbClr val="FFFFFF"/>
                </a:solidFill>
                <a:latin typeface="Garet"/>
                <a:ea typeface="Garet"/>
                <a:cs typeface="Garet"/>
                <a:sym typeface="Garet"/>
              </a:rPr>
              <a:t>Poco &amp; Tecno depresiasi negatif → harga bekas justru sama/lebih tinggi dari baru (kemungkinan varian tertentu langka)</a:t>
            </a:r>
          </a:p>
          <a:p>
            <a:pPr algn="l" marL="410209" indent="-205105" lvl="1">
              <a:lnSpc>
                <a:spcPts val="2393"/>
              </a:lnSpc>
              <a:spcBef>
                <a:spcPct val="0"/>
              </a:spcBef>
              <a:buFont typeface="Arial"/>
              <a:buChar char="•"/>
            </a:pPr>
            <a:r>
              <a:rPr lang="en-US" sz="1899" spc="-106">
                <a:solidFill>
                  <a:srgbClr val="FFFFFF"/>
                </a:solidFill>
                <a:latin typeface="Garet"/>
                <a:ea typeface="Garet"/>
                <a:cs typeface="Garet"/>
                <a:sym typeface="Garet"/>
              </a:rPr>
              <a:t>Honor likuiditas terendah (27,10%) → paling susah dijual bekas</a:t>
            </a:r>
          </a:p>
          <a:p>
            <a:pPr algn="l" marL="410209" indent="-205105" lvl="1">
              <a:lnSpc>
                <a:spcPts val="2393"/>
              </a:lnSpc>
              <a:spcBef>
                <a:spcPct val="0"/>
              </a:spcBef>
              <a:buFont typeface="Arial"/>
              <a:buChar char="•"/>
            </a:pPr>
            <a:r>
              <a:rPr lang="en-US" sz="1899" spc="-106">
                <a:solidFill>
                  <a:srgbClr val="FFFFFF"/>
                </a:solidFill>
                <a:latin typeface="Garet"/>
                <a:ea typeface="Garet"/>
                <a:cs typeface="Garet"/>
                <a:sym typeface="Garet"/>
              </a:rPr>
              <a:t>Xiaomi &amp; Realme seimbang: depresiasi moderat, likuiditas tinggi → pilihan aman untuk resale</a:t>
            </a:r>
          </a:p>
          <a:p>
            <a:pPr algn="l">
              <a:lnSpc>
                <a:spcPts val="2393"/>
              </a:lnSpc>
              <a:spcBef>
                <a:spcPct val="0"/>
              </a:spcBef>
            </a:pPr>
          </a:p>
        </p:txBody>
      </p:sp>
      <p:grpSp>
        <p:nvGrpSpPr>
          <p:cNvPr name="Group 11" id="11"/>
          <p:cNvGrpSpPr/>
          <p:nvPr/>
        </p:nvGrpSpPr>
        <p:grpSpPr>
          <a:xfrm rot="0">
            <a:off x="1028700" y="337116"/>
            <a:ext cx="16386847" cy="1227065"/>
            <a:chOff x="0" y="0"/>
            <a:chExt cx="21849129" cy="1636087"/>
          </a:xfrm>
        </p:grpSpPr>
        <p:sp>
          <p:nvSpPr>
            <p:cNvPr name="Freeform 12" id="12"/>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3" id="13"/>
            <p:cNvGrpSpPr/>
            <p:nvPr/>
          </p:nvGrpSpPr>
          <p:grpSpPr>
            <a:xfrm rot="0">
              <a:off x="11378892" y="443664"/>
              <a:ext cx="3080976" cy="969444"/>
              <a:chOff x="0" y="0"/>
              <a:chExt cx="1291574" cy="406400"/>
            </a:xfrm>
          </p:grpSpPr>
          <p:sp>
            <p:nvSpPr>
              <p:cNvPr name="Freeform 14" id="14"/>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5" id="15"/>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7" id="17"/>
            <p:cNvGrpSpPr/>
            <p:nvPr/>
          </p:nvGrpSpPr>
          <p:grpSpPr>
            <a:xfrm rot="0">
              <a:off x="16468734" y="443664"/>
              <a:ext cx="5380395" cy="969444"/>
              <a:chOff x="0" y="0"/>
              <a:chExt cx="2255512" cy="406400"/>
            </a:xfrm>
          </p:grpSpPr>
          <p:sp>
            <p:nvSpPr>
              <p:cNvPr name="Freeform 18" id="18"/>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9" id="19"/>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1" id="21"/>
            <p:cNvGrpSpPr/>
            <p:nvPr/>
          </p:nvGrpSpPr>
          <p:grpSpPr>
            <a:xfrm rot="0">
              <a:off x="14828167" y="283406"/>
              <a:ext cx="1277412" cy="127741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3" id="23"/>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4" id="24"/>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5602670"/>
            <a:ext cx="6566742" cy="722947"/>
            <a:chOff x="0" y="0"/>
            <a:chExt cx="8755656" cy="963929"/>
          </a:xfrm>
        </p:grpSpPr>
        <p:grpSp>
          <p:nvGrpSpPr>
            <p:cNvPr name="Group 4" id="4"/>
            <p:cNvGrpSpPr/>
            <p:nvPr/>
          </p:nvGrpSpPr>
          <p:grpSpPr>
            <a:xfrm rot="0">
              <a:off x="0" y="0"/>
              <a:ext cx="8272024" cy="963929"/>
              <a:chOff x="0" y="0"/>
              <a:chExt cx="2193351" cy="255588"/>
            </a:xfrm>
          </p:grpSpPr>
          <p:sp>
            <p:nvSpPr>
              <p:cNvPr name="Freeform 5" id="5"/>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6" id="6"/>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7" id="7"/>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a:solidFill>
                    <a:srgbClr val="FFFFFF"/>
                  </a:solidFill>
                  <a:latin typeface="Open Sauce"/>
                  <a:ea typeface="Open Sauce"/>
                  <a:cs typeface="Open Sauce"/>
                  <a:sym typeface="Open Sauce"/>
                </a:rPr>
                <a:t>Temuan</a:t>
              </a:r>
            </a:p>
          </p:txBody>
        </p:sp>
      </p:grpSp>
      <p:grpSp>
        <p:nvGrpSpPr>
          <p:cNvPr name="Group 8" id="8"/>
          <p:cNvGrpSpPr/>
          <p:nvPr/>
        </p:nvGrpSpPr>
        <p:grpSpPr>
          <a:xfrm rot="0">
            <a:off x="10324968" y="2512760"/>
            <a:ext cx="6334806" cy="6334806"/>
            <a:chOff x="0" y="0"/>
            <a:chExt cx="13716000" cy="13716000"/>
          </a:xfrm>
        </p:grpSpPr>
        <p:sp>
          <p:nvSpPr>
            <p:cNvPr name="Freeform 9" id="9"/>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3"/>
              <a:stretch>
                <a:fillRect l="0" t="0" r="0" b="0"/>
              </a:stretch>
            </a:blipFill>
          </p:spPr>
        </p:sp>
      </p:grpSp>
      <p:sp>
        <p:nvSpPr>
          <p:cNvPr name="TextBox 10" id="10"/>
          <p:cNvSpPr txBox="true"/>
          <p:nvPr/>
        </p:nvSpPr>
        <p:spPr>
          <a:xfrm rot="0">
            <a:off x="1028700" y="2098689"/>
            <a:ext cx="7856547" cy="3037256"/>
          </a:xfrm>
          <a:prstGeom prst="rect">
            <a:avLst/>
          </a:prstGeom>
        </p:spPr>
        <p:txBody>
          <a:bodyPr anchor="t" rtlCol="false" tIns="0" lIns="0" bIns="0" rIns="0">
            <a:spAutoFit/>
          </a:bodyPr>
          <a:lstStyle/>
          <a:p>
            <a:pPr algn="l">
              <a:lnSpc>
                <a:spcPts val="8076"/>
              </a:lnSpc>
              <a:spcBef>
                <a:spcPct val="0"/>
              </a:spcBef>
            </a:pPr>
            <a:r>
              <a:rPr lang="en-US" b="true" sz="6409" spc="-358">
                <a:solidFill>
                  <a:srgbClr val="FFFFFF"/>
                </a:solidFill>
                <a:latin typeface="Open Sauce Bold"/>
                <a:ea typeface="Open Sauce Bold"/>
                <a:cs typeface="Open Sauce Bold"/>
                <a:sym typeface="Open Sauce Bold"/>
              </a:rPr>
              <a:t>HERFINDAHL-HIRSCHMAN INDEX (HHI)</a:t>
            </a:r>
          </a:p>
        </p:txBody>
      </p:sp>
      <p:sp>
        <p:nvSpPr>
          <p:cNvPr name="TextBox 11" id="11"/>
          <p:cNvSpPr txBox="true"/>
          <p:nvPr/>
        </p:nvSpPr>
        <p:spPr>
          <a:xfrm rot="0">
            <a:off x="1028700" y="6412295"/>
            <a:ext cx="8889238" cy="536067"/>
          </a:xfrm>
          <a:prstGeom prst="rect">
            <a:avLst/>
          </a:prstGeom>
        </p:spPr>
        <p:txBody>
          <a:bodyPr anchor="t" rtlCol="false" tIns="0" lIns="0" bIns="0" rIns="0">
            <a:spAutoFit/>
          </a:bodyPr>
          <a:lstStyle/>
          <a:p>
            <a:pPr algn="l">
              <a:lnSpc>
                <a:spcPts val="4283"/>
              </a:lnSpc>
              <a:spcBef>
                <a:spcPct val="0"/>
              </a:spcBef>
            </a:pPr>
            <a:r>
              <a:rPr lang="en-US" sz="3399" spc="-190">
                <a:solidFill>
                  <a:srgbClr val="FFFFFF"/>
                </a:solidFill>
                <a:latin typeface="Garet"/>
                <a:ea typeface="Garet"/>
                <a:cs typeface="Garet"/>
                <a:sym typeface="Garet"/>
              </a:rPr>
              <a:t>HHI = </a:t>
            </a:r>
            <a:r>
              <a:rPr lang="en-US" b="true" sz="3399" spc="-190">
                <a:solidFill>
                  <a:srgbClr val="F4D820"/>
                </a:solidFill>
                <a:latin typeface="Garet Bold"/>
                <a:ea typeface="Garet Bold"/>
                <a:cs typeface="Garet Bold"/>
                <a:sym typeface="Garet Bold"/>
              </a:rPr>
              <a:t>1059</a:t>
            </a:r>
            <a:r>
              <a:rPr lang="en-US" sz="3399" spc="-190">
                <a:solidFill>
                  <a:srgbClr val="FFFFFF"/>
                </a:solidFill>
                <a:latin typeface="Garet"/>
                <a:ea typeface="Garet"/>
                <a:cs typeface="Garet"/>
                <a:sym typeface="Garet"/>
              </a:rPr>
              <a:t> → Pasar Kompetitif</a:t>
            </a:r>
          </a:p>
        </p:txBody>
      </p:sp>
      <p:sp>
        <p:nvSpPr>
          <p:cNvPr name="TextBox 12" id="12"/>
          <p:cNvSpPr txBox="true"/>
          <p:nvPr/>
        </p:nvSpPr>
        <p:spPr>
          <a:xfrm rot="0">
            <a:off x="1028700" y="7228683"/>
            <a:ext cx="6566742" cy="1707261"/>
          </a:xfrm>
          <a:prstGeom prst="rect">
            <a:avLst/>
          </a:prstGeom>
        </p:spPr>
        <p:txBody>
          <a:bodyPr anchor="t" rtlCol="false" tIns="0" lIns="0" bIns="0" rIns="0">
            <a:spAutoFit/>
          </a:bodyPr>
          <a:lstStyle/>
          <a:p>
            <a:pPr algn="l">
              <a:lnSpc>
                <a:spcPts val="2771"/>
              </a:lnSpc>
              <a:spcBef>
                <a:spcPct val="0"/>
              </a:spcBef>
            </a:pPr>
            <a:r>
              <a:rPr lang="en-US" sz="2199" spc="-123">
                <a:solidFill>
                  <a:srgbClr val="FFFFFF"/>
                </a:solidFill>
                <a:latin typeface="Garet"/>
                <a:ea typeface="Garet"/>
                <a:cs typeface="Garet"/>
                <a:sym typeface="Garet"/>
              </a:rPr>
              <a:t>HHI di b</a:t>
            </a:r>
            <a:r>
              <a:rPr lang="en-US" sz="2199" spc="-123">
                <a:solidFill>
                  <a:srgbClr val="FFFFFF"/>
                </a:solidFill>
                <a:latin typeface="Garet"/>
                <a:ea typeface="Garet"/>
                <a:cs typeface="Garet"/>
                <a:sym typeface="Garet"/>
              </a:rPr>
              <a:t>awah 1.500 mengindikasikan tidak ada satu brand pun yang mendominasi pasar secara signifikan. Meski Samsung dan Apple memimpin penjualan, market share mereka tidak cukup besar untuk menciptakan monopoli atau oligopoli.</a:t>
            </a:r>
          </a:p>
        </p:txBody>
      </p:sp>
      <p:grpSp>
        <p:nvGrpSpPr>
          <p:cNvPr name="Group 13" id="13"/>
          <p:cNvGrpSpPr/>
          <p:nvPr/>
        </p:nvGrpSpPr>
        <p:grpSpPr>
          <a:xfrm rot="0">
            <a:off x="1028700" y="337116"/>
            <a:ext cx="16386847" cy="1227065"/>
            <a:chOff x="0" y="0"/>
            <a:chExt cx="21849129" cy="1636087"/>
          </a:xfrm>
        </p:grpSpPr>
        <p:sp>
          <p:nvSpPr>
            <p:cNvPr name="Freeform 14" id="14"/>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5" id="15"/>
            <p:cNvGrpSpPr/>
            <p:nvPr/>
          </p:nvGrpSpPr>
          <p:grpSpPr>
            <a:xfrm rot="0">
              <a:off x="11378892" y="443664"/>
              <a:ext cx="3080976" cy="969444"/>
              <a:chOff x="0" y="0"/>
              <a:chExt cx="1291574" cy="406400"/>
            </a:xfrm>
          </p:grpSpPr>
          <p:sp>
            <p:nvSpPr>
              <p:cNvPr name="Freeform 16" id="16"/>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7" id="17"/>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8" id="18"/>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9" id="19"/>
            <p:cNvGrpSpPr/>
            <p:nvPr/>
          </p:nvGrpSpPr>
          <p:grpSpPr>
            <a:xfrm rot="0">
              <a:off x="16468734" y="443664"/>
              <a:ext cx="5380395" cy="969444"/>
              <a:chOff x="0" y="0"/>
              <a:chExt cx="2255512" cy="406400"/>
            </a:xfrm>
          </p:grpSpPr>
          <p:sp>
            <p:nvSpPr>
              <p:cNvPr name="Freeform 20" id="20"/>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1" id="21"/>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3" id="23"/>
            <p:cNvGrpSpPr/>
            <p:nvPr/>
          </p:nvGrpSpPr>
          <p:grpSpPr>
            <a:xfrm rot="0">
              <a:off x="14828167" y="283406"/>
              <a:ext cx="1277412" cy="127741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5" id="25"/>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6" id="26"/>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28700" y="3353306"/>
            <a:ext cx="6566742" cy="722947"/>
            <a:chOff x="0" y="0"/>
            <a:chExt cx="8755656" cy="963929"/>
          </a:xfrm>
        </p:grpSpPr>
        <p:grpSp>
          <p:nvGrpSpPr>
            <p:cNvPr name="Group 4" id="4"/>
            <p:cNvGrpSpPr/>
            <p:nvPr/>
          </p:nvGrpSpPr>
          <p:grpSpPr>
            <a:xfrm rot="0">
              <a:off x="0" y="0"/>
              <a:ext cx="8272024" cy="963929"/>
              <a:chOff x="0" y="0"/>
              <a:chExt cx="2193351" cy="255588"/>
            </a:xfrm>
          </p:grpSpPr>
          <p:sp>
            <p:nvSpPr>
              <p:cNvPr name="Freeform 5" id="5"/>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6" id="6"/>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7" id="7"/>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a:solidFill>
                    <a:srgbClr val="FFFFFF"/>
                  </a:solidFill>
                  <a:latin typeface="Open Sauce"/>
                  <a:ea typeface="Open Sauce"/>
                  <a:cs typeface="Open Sauce"/>
                  <a:sym typeface="Open Sauce"/>
                </a:rPr>
                <a:t>Temuan</a:t>
              </a:r>
            </a:p>
          </p:txBody>
        </p:sp>
      </p:grpSp>
      <p:sp>
        <p:nvSpPr>
          <p:cNvPr name="Freeform 8" id="8"/>
          <p:cNvSpPr/>
          <p:nvPr/>
        </p:nvSpPr>
        <p:spPr>
          <a:xfrm flipH="false" flipV="false" rot="0">
            <a:off x="9074283" y="3773789"/>
            <a:ext cx="7747740" cy="5484511"/>
          </a:xfrm>
          <a:custGeom>
            <a:avLst/>
            <a:gdLst/>
            <a:ahLst/>
            <a:cxnLst/>
            <a:rect r="r" b="b" t="t" l="l"/>
            <a:pathLst>
              <a:path h="5484511" w="7747740">
                <a:moveTo>
                  <a:pt x="0" y="0"/>
                </a:moveTo>
                <a:lnTo>
                  <a:pt x="7747740" y="0"/>
                </a:lnTo>
                <a:lnTo>
                  <a:pt x="7747740" y="5484511"/>
                </a:lnTo>
                <a:lnTo>
                  <a:pt x="0" y="5484511"/>
                </a:lnTo>
                <a:lnTo>
                  <a:pt x="0" y="0"/>
                </a:lnTo>
                <a:close/>
              </a:path>
            </a:pathLst>
          </a:custGeom>
          <a:blipFill>
            <a:blip r:embed="rId3"/>
            <a:stretch>
              <a:fillRect l="0" t="0" r="0" b="0"/>
            </a:stretch>
          </a:blipFill>
        </p:spPr>
      </p:sp>
      <p:sp>
        <p:nvSpPr>
          <p:cNvPr name="TextBox 9" id="9"/>
          <p:cNvSpPr txBox="true"/>
          <p:nvPr/>
        </p:nvSpPr>
        <p:spPr>
          <a:xfrm rot="0">
            <a:off x="2877906" y="2114579"/>
            <a:ext cx="15878417" cy="1600200"/>
          </a:xfrm>
          <a:prstGeom prst="rect">
            <a:avLst/>
          </a:prstGeom>
        </p:spPr>
        <p:txBody>
          <a:bodyPr anchor="t" rtlCol="false" tIns="0" lIns="0" bIns="0" rIns="0">
            <a:spAutoFit/>
          </a:bodyPr>
          <a:lstStyle/>
          <a:p>
            <a:pPr algn="l">
              <a:lnSpc>
                <a:spcPts val="6300"/>
              </a:lnSpc>
            </a:pPr>
            <a:r>
              <a:rPr lang="en-US" b="true" sz="5000" spc="-280">
                <a:solidFill>
                  <a:srgbClr val="FFFFFF"/>
                </a:solidFill>
                <a:latin typeface="Open Sauce Bold"/>
                <a:ea typeface="Open Sauce Bold"/>
                <a:cs typeface="Open Sauce Bold"/>
                <a:sym typeface="Open Sauce Bold"/>
              </a:rPr>
              <a:t>KORELASI HARGA DAN MARKET SHARE HP</a:t>
            </a:r>
          </a:p>
          <a:p>
            <a:pPr algn="l">
              <a:lnSpc>
                <a:spcPts val="6300"/>
              </a:lnSpc>
              <a:spcBef>
                <a:spcPct val="0"/>
              </a:spcBef>
            </a:pPr>
          </a:p>
        </p:txBody>
      </p:sp>
      <p:sp>
        <p:nvSpPr>
          <p:cNvPr name="TextBox 10" id="10"/>
          <p:cNvSpPr txBox="true"/>
          <p:nvPr/>
        </p:nvSpPr>
        <p:spPr>
          <a:xfrm rot="0">
            <a:off x="1028700" y="4296200"/>
            <a:ext cx="6566742" cy="5337048"/>
          </a:xfrm>
          <a:prstGeom prst="rect">
            <a:avLst/>
          </a:prstGeom>
        </p:spPr>
        <p:txBody>
          <a:bodyPr anchor="t" rtlCol="false" tIns="0" lIns="0" bIns="0" rIns="0">
            <a:spAutoFit/>
          </a:bodyPr>
          <a:lstStyle/>
          <a:p>
            <a:pPr algn="just" marL="453388" indent="-226694" lvl="1">
              <a:lnSpc>
                <a:spcPts val="2645"/>
              </a:lnSpc>
              <a:spcBef>
                <a:spcPct val="0"/>
              </a:spcBef>
              <a:buFont typeface="Arial"/>
              <a:buChar char="•"/>
            </a:pPr>
            <a:r>
              <a:rPr lang="en-US" b="true" sz="2099" spc="-117">
                <a:solidFill>
                  <a:srgbClr val="FFFFFF"/>
                </a:solidFill>
                <a:latin typeface="Garet Bold"/>
                <a:ea typeface="Garet Bold"/>
                <a:cs typeface="Garet Bold"/>
                <a:sym typeface="Garet Bold"/>
              </a:rPr>
              <a:t>Anomali Apple (Premium-Volume):</a:t>
            </a:r>
            <a:r>
              <a:rPr lang="en-US" sz="2099" spc="-117">
                <a:solidFill>
                  <a:srgbClr val="FFFFFF"/>
                </a:solidFill>
                <a:latin typeface="Garet"/>
                <a:ea typeface="Garet"/>
                <a:cs typeface="Garet"/>
                <a:sym typeface="Garet"/>
              </a:rPr>
              <a:t> Sukses</a:t>
            </a:r>
            <a:r>
              <a:rPr lang="en-US" sz="2099" spc="-117">
                <a:solidFill>
                  <a:srgbClr val="FFFFFF"/>
                </a:solidFill>
                <a:latin typeface="Garet"/>
                <a:ea typeface="Garet"/>
                <a:cs typeface="Garet"/>
                <a:sym typeface="Garet"/>
              </a:rPr>
              <a:t> mempertahankan harga tinggi (&gt;Rp11 Juta) sekaligus menguasai volume pasar besar (~15%).</a:t>
            </a:r>
          </a:p>
          <a:p>
            <a:pPr algn="just">
              <a:lnSpc>
                <a:spcPts val="2645"/>
              </a:lnSpc>
              <a:spcBef>
                <a:spcPct val="0"/>
              </a:spcBef>
            </a:pPr>
          </a:p>
          <a:p>
            <a:pPr algn="just" marL="453388" indent="-226694" lvl="1">
              <a:lnSpc>
                <a:spcPts val="2645"/>
              </a:lnSpc>
              <a:spcBef>
                <a:spcPct val="0"/>
              </a:spcBef>
              <a:buFont typeface="Arial"/>
              <a:buChar char="•"/>
            </a:pPr>
            <a:r>
              <a:rPr lang="en-US" b="true" sz="2099" spc="-117">
                <a:solidFill>
                  <a:srgbClr val="FFFFFF"/>
                </a:solidFill>
                <a:latin typeface="Garet Bold"/>
                <a:ea typeface="Garet Bold"/>
                <a:cs typeface="Garet Bold"/>
                <a:sym typeface="Garet Bold"/>
              </a:rPr>
              <a:t>Pemimpin Volume (Mid-Range):</a:t>
            </a:r>
            <a:r>
              <a:rPr lang="en-US" sz="2099" spc="-117">
                <a:solidFill>
                  <a:srgbClr val="FFFFFF"/>
                </a:solidFill>
                <a:latin typeface="Garet"/>
                <a:ea typeface="Garet"/>
                <a:cs typeface="Garet"/>
                <a:sym typeface="Garet"/>
              </a:rPr>
              <a:t> Samsung, Poco, dan Xiaomi mendominasi total kuantitas unit terjual di kelas Rp3 - Rp5 Juta.</a:t>
            </a:r>
          </a:p>
          <a:p>
            <a:pPr algn="just">
              <a:lnSpc>
                <a:spcPts val="2645"/>
              </a:lnSpc>
              <a:spcBef>
                <a:spcPct val="0"/>
              </a:spcBef>
            </a:pPr>
          </a:p>
          <a:p>
            <a:pPr algn="just" marL="453388" indent="-226694" lvl="1">
              <a:lnSpc>
                <a:spcPts val="2645"/>
              </a:lnSpc>
              <a:spcBef>
                <a:spcPct val="0"/>
              </a:spcBef>
              <a:buFont typeface="Arial"/>
              <a:buChar char="•"/>
            </a:pPr>
            <a:r>
              <a:rPr lang="en-US" b="true" sz="2099" spc="-117">
                <a:solidFill>
                  <a:srgbClr val="FFFFFF"/>
                </a:solidFill>
                <a:latin typeface="Garet Bold"/>
                <a:ea typeface="Garet Bold"/>
                <a:cs typeface="Garet Bold"/>
                <a:sym typeface="Garet Bold"/>
              </a:rPr>
              <a:t>Oversupply Oppo:</a:t>
            </a:r>
            <a:r>
              <a:rPr lang="en-US" sz="2099" spc="-117">
                <a:solidFill>
                  <a:srgbClr val="FFFFFF"/>
                </a:solidFill>
                <a:latin typeface="Garet"/>
                <a:ea typeface="Garet"/>
                <a:cs typeface="Garet"/>
                <a:sym typeface="Garet"/>
              </a:rPr>
              <a:t> Memiliki jumlah listing besar, namun konversi angka unit terjualnya relatif rendah di kelasnya.</a:t>
            </a:r>
          </a:p>
          <a:p>
            <a:pPr algn="just">
              <a:lnSpc>
                <a:spcPts val="2645"/>
              </a:lnSpc>
              <a:spcBef>
                <a:spcPct val="0"/>
              </a:spcBef>
            </a:pPr>
          </a:p>
          <a:p>
            <a:pPr algn="just" marL="453388" indent="-226694" lvl="1">
              <a:lnSpc>
                <a:spcPts val="2645"/>
              </a:lnSpc>
              <a:spcBef>
                <a:spcPct val="0"/>
              </a:spcBef>
              <a:buFont typeface="Arial"/>
              <a:buChar char="•"/>
            </a:pPr>
            <a:r>
              <a:rPr lang="en-US" b="true" sz="2099" spc="-117">
                <a:solidFill>
                  <a:srgbClr val="FFFFFF"/>
                </a:solidFill>
                <a:latin typeface="Garet Bold"/>
                <a:ea typeface="Garet Bold"/>
                <a:cs typeface="Garet Bold"/>
                <a:sym typeface="Garet Bold"/>
              </a:rPr>
              <a:t>Sentimen Negatif (Sony/Blackshark):</a:t>
            </a:r>
            <a:r>
              <a:rPr lang="en-US" sz="2099" spc="-117">
                <a:solidFill>
                  <a:srgbClr val="FFFFFF"/>
                </a:solidFill>
                <a:latin typeface="Garet"/>
                <a:ea typeface="Garet"/>
                <a:cs typeface="Garet"/>
                <a:sym typeface="Garet"/>
              </a:rPr>
              <a:t> Volume penjualan kecil dengan rating kepuasan yang cenderung lebih rendah/kritis (warna merah).</a:t>
            </a:r>
          </a:p>
          <a:p>
            <a:pPr algn="just">
              <a:lnSpc>
                <a:spcPts val="2645"/>
              </a:lnSpc>
              <a:spcBef>
                <a:spcPct val="0"/>
              </a:spcBef>
            </a:pPr>
          </a:p>
        </p:txBody>
      </p:sp>
      <p:grpSp>
        <p:nvGrpSpPr>
          <p:cNvPr name="Group 11" id="11"/>
          <p:cNvGrpSpPr/>
          <p:nvPr/>
        </p:nvGrpSpPr>
        <p:grpSpPr>
          <a:xfrm rot="0">
            <a:off x="1028700" y="337116"/>
            <a:ext cx="16386847" cy="1227065"/>
            <a:chOff x="0" y="0"/>
            <a:chExt cx="21849129" cy="1636087"/>
          </a:xfrm>
        </p:grpSpPr>
        <p:sp>
          <p:nvSpPr>
            <p:cNvPr name="Freeform 12" id="12"/>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3" id="13"/>
            <p:cNvGrpSpPr/>
            <p:nvPr/>
          </p:nvGrpSpPr>
          <p:grpSpPr>
            <a:xfrm rot="0">
              <a:off x="11378892" y="443664"/>
              <a:ext cx="3080976" cy="969444"/>
              <a:chOff x="0" y="0"/>
              <a:chExt cx="1291574" cy="406400"/>
            </a:xfrm>
          </p:grpSpPr>
          <p:sp>
            <p:nvSpPr>
              <p:cNvPr name="Freeform 14" id="14"/>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5" id="15"/>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7" id="17"/>
            <p:cNvGrpSpPr/>
            <p:nvPr/>
          </p:nvGrpSpPr>
          <p:grpSpPr>
            <a:xfrm rot="0">
              <a:off x="16468734" y="443664"/>
              <a:ext cx="5380395" cy="969444"/>
              <a:chOff x="0" y="0"/>
              <a:chExt cx="2255512" cy="406400"/>
            </a:xfrm>
          </p:grpSpPr>
          <p:sp>
            <p:nvSpPr>
              <p:cNvPr name="Freeform 18" id="18"/>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9" id="19"/>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1" id="21"/>
            <p:cNvGrpSpPr/>
            <p:nvPr/>
          </p:nvGrpSpPr>
          <p:grpSpPr>
            <a:xfrm rot="0">
              <a:off x="14828167" y="283406"/>
              <a:ext cx="1277412" cy="127741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3" id="23"/>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4" id="24"/>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10817115" y="3353306"/>
            <a:ext cx="6566742" cy="722947"/>
            <a:chOff x="0" y="0"/>
            <a:chExt cx="8755656" cy="963929"/>
          </a:xfrm>
        </p:grpSpPr>
        <p:grpSp>
          <p:nvGrpSpPr>
            <p:cNvPr name="Group 4" id="4"/>
            <p:cNvGrpSpPr/>
            <p:nvPr/>
          </p:nvGrpSpPr>
          <p:grpSpPr>
            <a:xfrm rot="0">
              <a:off x="0" y="0"/>
              <a:ext cx="8272024" cy="963929"/>
              <a:chOff x="0" y="0"/>
              <a:chExt cx="2193351" cy="255588"/>
            </a:xfrm>
          </p:grpSpPr>
          <p:sp>
            <p:nvSpPr>
              <p:cNvPr name="Freeform 5" id="5"/>
              <p:cNvSpPr/>
              <p:nvPr/>
            </p:nvSpPr>
            <p:spPr>
              <a:xfrm flipH="false" flipV="false" rot="0">
                <a:off x="0" y="0"/>
                <a:ext cx="2193351" cy="255588"/>
              </a:xfrm>
              <a:custGeom>
                <a:avLst/>
                <a:gdLst/>
                <a:ahLst/>
                <a:cxnLst/>
                <a:rect r="r" b="b" t="t" l="l"/>
                <a:pathLst>
                  <a:path h="255588" w="2193351">
                    <a:moveTo>
                      <a:pt x="63642" y="0"/>
                    </a:moveTo>
                    <a:lnTo>
                      <a:pt x="2129708" y="0"/>
                    </a:lnTo>
                    <a:cubicBezTo>
                      <a:pt x="2164857" y="0"/>
                      <a:pt x="2193351" y="28494"/>
                      <a:pt x="2193351" y="63642"/>
                    </a:cubicBezTo>
                    <a:lnTo>
                      <a:pt x="2193351" y="191946"/>
                    </a:lnTo>
                    <a:cubicBezTo>
                      <a:pt x="2193351" y="227095"/>
                      <a:pt x="2164857" y="255588"/>
                      <a:pt x="2129708" y="255588"/>
                    </a:cubicBezTo>
                    <a:lnTo>
                      <a:pt x="63642" y="255588"/>
                    </a:lnTo>
                    <a:cubicBezTo>
                      <a:pt x="28494" y="255588"/>
                      <a:pt x="0" y="227095"/>
                      <a:pt x="0" y="191946"/>
                    </a:cubicBezTo>
                    <a:lnTo>
                      <a:pt x="0" y="63642"/>
                    </a:lnTo>
                    <a:cubicBezTo>
                      <a:pt x="0" y="28494"/>
                      <a:pt x="28494" y="0"/>
                      <a:pt x="63642"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6" id="6"/>
              <p:cNvSpPr txBox="true"/>
              <p:nvPr/>
            </p:nvSpPr>
            <p:spPr>
              <a:xfrm>
                <a:off x="0" y="85725"/>
                <a:ext cx="2193351" cy="169863"/>
              </a:xfrm>
              <a:prstGeom prst="rect">
                <a:avLst/>
              </a:prstGeom>
            </p:spPr>
            <p:txBody>
              <a:bodyPr anchor="ctr" rtlCol="false" tIns="50800" lIns="50800" bIns="50800" rIns="50800"/>
              <a:lstStyle/>
              <a:p>
                <a:pPr algn="ctr">
                  <a:lnSpc>
                    <a:spcPts val="2218"/>
                  </a:lnSpc>
                </a:pPr>
              </a:p>
            </p:txBody>
          </p:sp>
        </p:grpSp>
        <p:sp>
          <p:nvSpPr>
            <p:cNvPr name="TextBox 7" id="7"/>
            <p:cNvSpPr txBox="true"/>
            <p:nvPr/>
          </p:nvSpPr>
          <p:spPr>
            <a:xfrm rot="0">
              <a:off x="429443" y="148469"/>
              <a:ext cx="8326214" cy="502666"/>
            </a:xfrm>
            <a:prstGeom prst="rect">
              <a:avLst/>
            </a:prstGeom>
          </p:spPr>
          <p:txBody>
            <a:bodyPr anchor="t" rtlCol="false" tIns="0" lIns="0" bIns="0" rIns="0">
              <a:spAutoFit/>
            </a:bodyPr>
            <a:lstStyle/>
            <a:p>
              <a:pPr algn="l">
                <a:lnSpc>
                  <a:spcPts val="3024"/>
                </a:lnSpc>
              </a:pPr>
              <a:r>
                <a:rPr lang="en-US" sz="2400" spc="-134">
                  <a:solidFill>
                    <a:srgbClr val="FFFFFF"/>
                  </a:solidFill>
                  <a:latin typeface="Open Sauce"/>
                  <a:ea typeface="Open Sauce"/>
                  <a:cs typeface="Open Sauce"/>
                  <a:sym typeface="Open Sauce"/>
                </a:rPr>
                <a:t>Temuan</a:t>
              </a:r>
            </a:p>
          </p:txBody>
        </p:sp>
      </p:grpSp>
      <p:sp>
        <p:nvSpPr>
          <p:cNvPr name="Freeform 8" id="8"/>
          <p:cNvSpPr/>
          <p:nvPr/>
        </p:nvSpPr>
        <p:spPr>
          <a:xfrm flipH="false" flipV="false" rot="0">
            <a:off x="1028700" y="3987464"/>
            <a:ext cx="8835351" cy="5270836"/>
          </a:xfrm>
          <a:custGeom>
            <a:avLst/>
            <a:gdLst/>
            <a:ahLst/>
            <a:cxnLst/>
            <a:rect r="r" b="b" t="t" l="l"/>
            <a:pathLst>
              <a:path h="5270836" w="8835351">
                <a:moveTo>
                  <a:pt x="0" y="0"/>
                </a:moveTo>
                <a:lnTo>
                  <a:pt x="8835351" y="0"/>
                </a:lnTo>
                <a:lnTo>
                  <a:pt x="8835351" y="5270836"/>
                </a:lnTo>
                <a:lnTo>
                  <a:pt x="0" y="5270836"/>
                </a:lnTo>
                <a:lnTo>
                  <a:pt x="0" y="0"/>
                </a:lnTo>
                <a:close/>
              </a:path>
            </a:pathLst>
          </a:custGeom>
          <a:blipFill>
            <a:blip r:embed="rId3"/>
            <a:stretch>
              <a:fillRect l="0" t="0" r="0" b="0"/>
            </a:stretch>
          </a:blipFill>
        </p:spPr>
      </p:sp>
      <p:sp>
        <p:nvSpPr>
          <p:cNvPr name="TextBox 9" id="9"/>
          <p:cNvSpPr txBox="true"/>
          <p:nvPr/>
        </p:nvSpPr>
        <p:spPr>
          <a:xfrm rot="0">
            <a:off x="1162877" y="2067399"/>
            <a:ext cx="11523092" cy="1367409"/>
          </a:xfrm>
          <a:prstGeom prst="rect">
            <a:avLst/>
          </a:prstGeom>
        </p:spPr>
        <p:txBody>
          <a:bodyPr anchor="t" rtlCol="false" tIns="0" lIns="0" bIns="0" rIns="0">
            <a:spAutoFit/>
          </a:bodyPr>
          <a:lstStyle/>
          <a:p>
            <a:pPr algn="l">
              <a:lnSpc>
                <a:spcPts val="5418"/>
              </a:lnSpc>
              <a:spcBef>
                <a:spcPct val="0"/>
              </a:spcBef>
            </a:pPr>
            <a:r>
              <a:rPr lang="en-US" b="true" sz="4300" spc="-240">
                <a:solidFill>
                  <a:srgbClr val="FFFFFF"/>
                </a:solidFill>
                <a:latin typeface="Open Sauce Bold"/>
                <a:ea typeface="Open Sauce Bold"/>
                <a:cs typeface="Open Sauce Bold"/>
                <a:sym typeface="Open Sauce Bold"/>
              </a:rPr>
              <a:t>ANALISIS DISPARITAS HARGA DAN OUTLIER ANTAR-PLATFORM</a:t>
            </a:r>
          </a:p>
        </p:txBody>
      </p:sp>
      <p:sp>
        <p:nvSpPr>
          <p:cNvPr name="TextBox 10" id="10"/>
          <p:cNvSpPr txBox="true"/>
          <p:nvPr/>
        </p:nvSpPr>
        <p:spPr>
          <a:xfrm rot="0">
            <a:off x="10649924" y="4557091"/>
            <a:ext cx="6566742" cy="5003673"/>
          </a:xfrm>
          <a:prstGeom prst="rect">
            <a:avLst/>
          </a:prstGeom>
        </p:spPr>
        <p:txBody>
          <a:bodyPr anchor="t" rtlCol="false" tIns="0" lIns="0" bIns="0" rIns="0">
            <a:spAutoFit/>
          </a:bodyPr>
          <a:lstStyle/>
          <a:p>
            <a:pPr algn="just" marL="453388" indent="-226694" lvl="1">
              <a:lnSpc>
                <a:spcPts val="2645"/>
              </a:lnSpc>
              <a:spcBef>
                <a:spcPct val="0"/>
              </a:spcBef>
              <a:buFont typeface="Arial"/>
              <a:buChar char="•"/>
            </a:pPr>
            <a:r>
              <a:rPr lang="en-US" b="true" sz="2099" spc="-117">
                <a:solidFill>
                  <a:srgbClr val="FFFFFF"/>
                </a:solidFill>
                <a:latin typeface="Garet Bold"/>
                <a:ea typeface="Garet Bold"/>
                <a:cs typeface="Garet Bold"/>
                <a:sym typeface="Garet Bold"/>
              </a:rPr>
              <a:t>Peta Harga Baru:</a:t>
            </a:r>
            <a:r>
              <a:rPr lang="en-US" sz="2099" spc="-117">
                <a:solidFill>
                  <a:srgbClr val="FFFFFF"/>
                </a:solidFill>
                <a:latin typeface="Garet"/>
                <a:ea typeface="Garet"/>
                <a:cs typeface="Garet"/>
                <a:sym typeface="Garet"/>
              </a:rPr>
              <a:t> Tokopedia dan</a:t>
            </a:r>
            <a:r>
              <a:rPr lang="en-US" sz="2099" spc="-117">
                <a:solidFill>
                  <a:srgbClr val="FFFFFF"/>
                </a:solidFill>
                <a:latin typeface="Garet"/>
                <a:ea typeface="Garet"/>
                <a:cs typeface="Garet"/>
                <a:sym typeface="Garet"/>
              </a:rPr>
              <a:t> Blibli mencatatkan rata-rata (mean) harga HP baru tertinggi (~Rp4,5 Juta), sementara Shopee menjadi yang paling ekonomis (~Rp3,6 Jt).</a:t>
            </a:r>
          </a:p>
          <a:p>
            <a:pPr algn="just">
              <a:lnSpc>
                <a:spcPts val="2645"/>
              </a:lnSpc>
              <a:spcBef>
                <a:spcPct val="0"/>
              </a:spcBef>
            </a:pPr>
          </a:p>
          <a:p>
            <a:pPr algn="just" marL="453388" indent="-226694" lvl="1">
              <a:lnSpc>
                <a:spcPts val="2645"/>
              </a:lnSpc>
              <a:spcBef>
                <a:spcPct val="0"/>
              </a:spcBef>
              <a:buFont typeface="Arial"/>
              <a:buChar char="•"/>
            </a:pPr>
            <a:r>
              <a:rPr lang="en-US" b="true" sz="2099" spc="-117">
                <a:solidFill>
                  <a:srgbClr val="FFFFFF"/>
                </a:solidFill>
                <a:latin typeface="Garet Bold"/>
                <a:ea typeface="Garet Bold"/>
                <a:cs typeface="Garet Bold"/>
                <a:sym typeface="Garet Bold"/>
              </a:rPr>
              <a:t>A</a:t>
            </a:r>
            <a:r>
              <a:rPr lang="en-US" b="true" sz="2099" spc="-117">
                <a:solidFill>
                  <a:srgbClr val="FFFFFF"/>
                </a:solidFill>
                <a:latin typeface="Garet Bold"/>
                <a:ea typeface="Garet Bold"/>
                <a:cs typeface="Garet Bold"/>
                <a:sym typeface="Garet Bold"/>
              </a:rPr>
              <a:t>nomali Ekstrem (Outlier): </a:t>
            </a:r>
            <a:r>
              <a:rPr lang="en-US" sz="2099" spc="-117">
                <a:solidFill>
                  <a:srgbClr val="FFFFFF"/>
                </a:solidFill>
                <a:latin typeface="Garet"/>
                <a:ea typeface="Garet"/>
                <a:cs typeface="Garet"/>
                <a:sym typeface="Garet"/>
              </a:rPr>
              <a:t>Terdeteksi banyak data pencatatan harga yang tidak wajar (mencapai Rp60 Juta hingga Rp100 Juta) pada kategori barang baru di Tokopedia dan Shopee.</a:t>
            </a:r>
          </a:p>
          <a:p>
            <a:pPr algn="just">
              <a:lnSpc>
                <a:spcPts val="2645"/>
              </a:lnSpc>
              <a:spcBef>
                <a:spcPct val="0"/>
              </a:spcBef>
            </a:pPr>
          </a:p>
          <a:p>
            <a:pPr algn="just" marL="453388" indent="-226694" lvl="1">
              <a:lnSpc>
                <a:spcPts val="2645"/>
              </a:lnSpc>
              <a:spcBef>
                <a:spcPct val="0"/>
              </a:spcBef>
              <a:buFont typeface="Arial"/>
              <a:buChar char="•"/>
            </a:pPr>
            <a:r>
              <a:rPr lang="en-US" b="true" sz="2099" spc="-117">
                <a:solidFill>
                  <a:srgbClr val="FFFFFF"/>
                </a:solidFill>
                <a:latin typeface="Garet Bold"/>
                <a:ea typeface="Garet Bold"/>
                <a:cs typeface="Garet Bold"/>
                <a:sym typeface="Garet Bold"/>
              </a:rPr>
              <a:t>Akurasi Data Blibli:</a:t>
            </a:r>
            <a:r>
              <a:rPr lang="en-US" sz="2099" spc="-117">
                <a:solidFill>
                  <a:srgbClr val="FFFFFF"/>
                </a:solidFill>
                <a:latin typeface="Garet"/>
                <a:ea typeface="Garet"/>
                <a:cs typeface="Garet"/>
                <a:sym typeface="Garet"/>
              </a:rPr>
              <a:t> Blibli memiliki sebaran data yang paling bersih dan minim outlier ekstrem, serta tidak memiliki pencatatan untuk kategori HP bekas pada dataset ini.</a:t>
            </a:r>
          </a:p>
          <a:p>
            <a:pPr algn="just">
              <a:lnSpc>
                <a:spcPts val="2645"/>
              </a:lnSpc>
              <a:spcBef>
                <a:spcPct val="0"/>
              </a:spcBef>
            </a:pPr>
          </a:p>
        </p:txBody>
      </p:sp>
      <p:grpSp>
        <p:nvGrpSpPr>
          <p:cNvPr name="Group 11" id="11"/>
          <p:cNvGrpSpPr/>
          <p:nvPr/>
        </p:nvGrpSpPr>
        <p:grpSpPr>
          <a:xfrm rot="0">
            <a:off x="1028700" y="337116"/>
            <a:ext cx="16386847" cy="1227065"/>
            <a:chOff x="0" y="0"/>
            <a:chExt cx="21849129" cy="1636087"/>
          </a:xfrm>
        </p:grpSpPr>
        <p:sp>
          <p:nvSpPr>
            <p:cNvPr name="Freeform 12" id="12"/>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4"/>
              <a:stretch>
                <a:fillRect l="-2838" t="-22494" r="-26999" b="-4205"/>
              </a:stretch>
            </a:blipFill>
          </p:spPr>
        </p:sp>
        <p:grpSp>
          <p:nvGrpSpPr>
            <p:cNvPr name="Group 13" id="13"/>
            <p:cNvGrpSpPr/>
            <p:nvPr/>
          </p:nvGrpSpPr>
          <p:grpSpPr>
            <a:xfrm rot="0">
              <a:off x="11378892" y="443664"/>
              <a:ext cx="3080976" cy="969444"/>
              <a:chOff x="0" y="0"/>
              <a:chExt cx="1291574" cy="406400"/>
            </a:xfrm>
          </p:grpSpPr>
          <p:sp>
            <p:nvSpPr>
              <p:cNvPr name="Freeform 14" id="14"/>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5" id="15"/>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7" id="17"/>
            <p:cNvGrpSpPr/>
            <p:nvPr/>
          </p:nvGrpSpPr>
          <p:grpSpPr>
            <a:xfrm rot="0">
              <a:off x="16468734" y="443664"/>
              <a:ext cx="5380395" cy="969444"/>
              <a:chOff x="0" y="0"/>
              <a:chExt cx="2255512" cy="406400"/>
            </a:xfrm>
          </p:grpSpPr>
          <p:sp>
            <p:nvSpPr>
              <p:cNvPr name="Freeform 18" id="18"/>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9" id="19"/>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1" id="21"/>
            <p:cNvGrpSpPr/>
            <p:nvPr/>
          </p:nvGrpSpPr>
          <p:grpSpPr>
            <a:xfrm rot="0">
              <a:off x="14828167" y="283406"/>
              <a:ext cx="1277412" cy="127741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3" id="23"/>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4" id="24"/>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aphicFrame>
        <p:nvGraphicFramePr>
          <p:cNvPr name="Object 3" id="3"/>
          <p:cNvGraphicFramePr/>
          <p:nvPr/>
        </p:nvGraphicFramePr>
        <p:xfrm>
          <a:off x="1718401" y="3254012"/>
          <a:ext cx="16708702" cy="6273788"/>
        </p:xfrm>
        <a:graphic>
          <a:graphicData uri="http://schemas.openxmlformats.org/presentationml/2006/ole">
            <p:oleObj imgW="20040600" imgH="96139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4" id="4"/>
          <p:cNvSpPr txBox="true"/>
          <p:nvPr/>
        </p:nvSpPr>
        <p:spPr>
          <a:xfrm rot="0">
            <a:off x="4493118" y="1794783"/>
            <a:ext cx="10983743" cy="1097280"/>
          </a:xfrm>
          <a:prstGeom prst="rect">
            <a:avLst/>
          </a:prstGeom>
        </p:spPr>
        <p:txBody>
          <a:bodyPr anchor="t" rtlCol="false" tIns="0" lIns="0" bIns="0" rIns="0">
            <a:spAutoFit/>
          </a:bodyPr>
          <a:lstStyle/>
          <a:p>
            <a:pPr algn="ctr">
              <a:lnSpc>
                <a:spcPts val="4410"/>
              </a:lnSpc>
            </a:pPr>
            <a:r>
              <a:rPr lang="en-US" b="true" sz="3500" spc="-196">
                <a:solidFill>
                  <a:srgbClr val="FFFFFF"/>
                </a:solidFill>
                <a:latin typeface="Open Sauce Bold"/>
                <a:ea typeface="Open Sauce Bold"/>
                <a:cs typeface="Open Sauce Bold"/>
                <a:sym typeface="Open Sauce Bold"/>
              </a:rPr>
              <a:t>HIDDEN GEMS</a:t>
            </a:r>
          </a:p>
          <a:p>
            <a:pPr algn="ctr">
              <a:lnSpc>
                <a:spcPts val="4410"/>
              </a:lnSpc>
              <a:spcBef>
                <a:spcPct val="0"/>
              </a:spcBef>
            </a:pPr>
            <a:r>
              <a:rPr lang="en-US" b="true" sz="3500" spc="-196">
                <a:solidFill>
                  <a:srgbClr val="FFFFFF"/>
                </a:solidFill>
                <a:latin typeface="Open Sauce Bold"/>
                <a:ea typeface="Open Sauce Bold"/>
                <a:cs typeface="Open Sauce Bold"/>
                <a:sym typeface="Open Sauce Bold"/>
              </a:rPr>
              <a:t>PRODUK VALUE TERBAIK</a:t>
            </a:r>
          </a:p>
        </p:txBody>
      </p:sp>
      <p:sp>
        <p:nvSpPr>
          <p:cNvPr name="AutoShape 5" id="5"/>
          <p:cNvSpPr/>
          <p:nvPr/>
        </p:nvSpPr>
        <p:spPr>
          <a:xfrm>
            <a:off x="1028700" y="9734550"/>
            <a:ext cx="16230600" cy="0"/>
          </a:xfrm>
          <a:prstGeom prst="line">
            <a:avLst/>
          </a:prstGeom>
          <a:ln cap="flat" w="19050">
            <a:solidFill>
              <a:srgbClr val="FFFFFF"/>
            </a:solidFill>
            <a:prstDash val="solid"/>
            <a:headEnd type="none" len="sm" w="sm"/>
            <a:tailEnd type="none" len="sm" w="sm"/>
          </a:ln>
        </p:spPr>
      </p:sp>
      <p:sp>
        <p:nvSpPr>
          <p:cNvPr name="TextBox 6" id="6"/>
          <p:cNvSpPr txBox="true"/>
          <p:nvPr/>
        </p:nvSpPr>
        <p:spPr>
          <a:xfrm rot="0">
            <a:off x="10940369" y="4464608"/>
            <a:ext cx="6318931" cy="4999434"/>
          </a:xfrm>
          <a:prstGeom prst="rect">
            <a:avLst/>
          </a:prstGeom>
        </p:spPr>
        <p:txBody>
          <a:bodyPr anchor="t" rtlCol="false" tIns="0" lIns="0" bIns="0" rIns="0">
            <a:spAutoFit/>
          </a:bodyPr>
          <a:lstStyle/>
          <a:p>
            <a:pPr algn="just" marL="398708" indent="-199354" lvl="1">
              <a:lnSpc>
                <a:spcPts val="2326"/>
              </a:lnSpc>
              <a:buFont typeface="Arial"/>
              <a:buChar char="•"/>
            </a:pPr>
            <a:r>
              <a:rPr lang="en-US" b="true" sz="1846" spc="-103">
                <a:solidFill>
                  <a:srgbClr val="FFFFFF"/>
                </a:solidFill>
                <a:latin typeface="Garet Bold"/>
                <a:ea typeface="Garet Bold"/>
                <a:cs typeface="Garet Bold"/>
                <a:sym typeface="Garet Bold"/>
              </a:rPr>
              <a:t>Dominasi Apple Second:</a:t>
            </a:r>
            <a:r>
              <a:rPr lang="en-US" sz="1846" spc="-103">
                <a:solidFill>
                  <a:srgbClr val="FFFFFF"/>
                </a:solidFill>
                <a:latin typeface="Garet"/>
                <a:ea typeface="Garet"/>
                <a:cs typeface="Garet"/>
                <a:sym typeface="Garet"/>
              </a:rPr>
              <a:t> iPhone seri lama (X, XR, 11 Pro Max) mendominasi peringkat teratas Hidden Gems karena kombinasi harga bekas yang sudah sangat terjangkau (Rp2 Juta - Rp4 Juta), ulasan bintang 5, dan volume penjualan yang masif di e-commerce.</a:t>
            </a:r>
          </a:p>
          <a:p>
            <a:pPr algn="just">
              <a:lnSpc>
                <a:spcPts val="2326"/>
              </a:lnSpc>
            </a:pPr>
          </a:p>
          <a:p>
            <a:pPr algn="just" marL="398708" indent="-199354" lvl="1">
              <a:lnSpc>
                <a:spcPts val="2326"/>
              </a:lnSpc>
              <a:buFont typeface="Arial"/>
              <a:buChar char="•"/>
            </a:pPr>
            <a:r>
              <a:rPr lang="en-US" b="true" sz="1846" spc="-103">
                <a:solidFill>
                  <a:srgbClr val="FFFFFF"/>
                </a:solidFill>
                <a:latin typeface="Garet Bold"/>
                <a:ea typeface="Garet Bold"/>
                <a:cs typeface="Garet Bold"/>
                <a:sym typeface="Garet Bold"/>
              </a:rPr>
              <a:t>Ef</a:t>
            </a:r>
            <a:r>
              <a:rPr lang="en-US" b="true" sz="1846" spc="-103">
                <a:solidFill>
                  <a:srgbClr val="FFFFFF"/>
                </a:solidFill>
                <a:latin typeface="Garet Bold"/>
                <a:ea typeface="Garet Bold"/>
                <a:cs typeface="Garet Bold"/>
                <a:sym typeface="Garet Bold"/>
              </a:rPr>
              <a:t>isiensi Android Low-End: </a:t>
            </a:r>
            <a:r>
              <a:rPr lang="en-US" sz="1846" spc="-103">
                <a:solidFill>
                  <a:srgbClr val="FFFFFF"/>
                </a:solidFill>
                <a:latin typeface="Garet"/>
                <a:ea typeface="Garet"/>
                <a:cs typeface="Garet"/>
                <a:sym typeface="Garet"/>
              </a:rPr>
              <a:t>POCO C71 dan Tecno Spark Go 3 sukses masuk dalam daftar berkat keunggulan harga perangkat baru yang sangat kompetitif (Rp1 Jutaan) dengan tingkat kepuasan konsumen yang maksimal.</a:t>
            </a:r>
          </a:p>
          <a:p>
            <a:pPr algn="just">
              <a:lnSpc>
                <a:spcPts val="2326"/>
              </a:lnSpc>
            </a:pPr>
          </a:p>
          <a:p>
            <a:pPr algn="just" marL="398708" indent="-199354" lvl="1">
              <a:lnSpc>
                <a:spcPts val="2326"/>
              </a:lnSpc>
              <a:buFont typeface="Arial"/>
              <a:buChar char="•"/>
            </a:pPr>
            <a:r>
              <a:rPr lang="en-US" b="true" sz="1846" spc="-103">
                <a:solidFill>
                  <a:srgbClr val="FFFFFF"/>
                </a:solidFill>
                <a:latin typeface="Garet Bold"/>
                <a:ea typeface="Garet Bold"/>
                <a:cs typeface="Garet Bold"/>
                <a:sym typeface="Garet Bold"/>
              </a:rPr>
              <a:t>Kesimpulan Skor Value:</a:t>
            </a:r>
            <a:r>
              <a:rPr lang="en-US" sz="1846" spc="-103">
                <a:solidFill>
                  <a:srgbClr val="FFFFFF"/>
                </a:solidFill>
                <a:latin typeface="Garet"/>
                <a:ea typeface="Garet"/>
                <a:cs typeface="Garet"/>
                <a:sym typeface="Garet"/>
              </a:rPr>
              <a:t> Skor tertinggi diraih oleh produk yang mampu menjaga keseimbangan antara harga ekonomis, rating sempurna, dan likuiditas penjualan tinggi di pasar digital.</a:t>
            </a:r>
          </a:p>
          <a:p>
            <a:pPr algn="just">
              <a:lnSpc>
                <a:spcPts val="2326"/>
              </a:lnSpc>
              <a:spcBef>
                <a:spcPct val="0"/>
              </a:spcBef>
            </a:pPr>
          </a:p>
        </p:txBody>
      </p:sp>
      <p:grpSp>
        <p:nvGrpSpPr>
          <p:cNvPr name="Group 7" id="7"/>
          <p:cNvGrpSpPr/>
          <p:nvPr/>
        </p:nvGrpSpPr>
        <p:grpSpPr>
          <a:xfrm rot="0">
            <a:off x="11015014" y="3391956"/>
            <a:ext cx="6400532" cy="722947"/>
            <a:chOff x="0" y="0"/>
            <a:chExt cx="8534043" cy="963929"/>
          </a:xfrm>
        </p:grpSpPr>
        <p:grpSp>
          <p:nvGrpSpPr>
            <p:cNvPr name="Group 8" id="8"/>
            <p:cNvGrpSpPr/>
            <p:nvPr/>
          </p:nvGrpSpPr>
          <p:grpSpPr>
            <a:xfrm rot="0">
              <a:off x="0" y="0"/>
              <a:ext cx="8062651" cy="963929"/>
              <a:chOff x="0" y="0"/>
              <a:chExt cx="2137835" cy="255588"/>
            </a:xfrm>
          </p:grpSpPr>
          <p:sp>
            <p:nvSpPr>
              <p:cNvPr name="Freeform 9" id="9"/>
              <p:cNvSpPr/>
              <p:nvPr/>
            </p:nvSpPr>
            <p:spPr>
              <a:xfrm flipH="false" flipV="false" rot="0">
                <a:off x="0" y="0"/>
                <a:ext cx="2137835" cy="255588"/>
              </a:xfrm>
              <a:custGeom>
                <a:avLst/>
                <a:gdLst/>
                <a:ahLst/>
                <a:cxnLst/>
                <a:rect r="r" b="b" t="t" l="l"/>
                <a:pathLst>
                  <a:path h="255588" w="2137835">
                    <a:moveTo>
                      <a:pt x="65295" y="0"/>
                    </a:moveTo>
                    <a:lnTo>
                      <a:pt x="2072540" y="0"/>
                    </a:lnTo>
                    <a:cubicBezTo>
                      <a:pt x="2089857" y="0"/>
                      <a:pt x="2106465" y="6879"/>
                      <a:pt x="2118711" y="19124"/>
                    </a:cubicBezTo>
                    <a:cubicBezTo>
                      <a:pt x="2130956" y="31370"/>
                      <a:pt x="2137835" y="47978"/>
                      <a:pt x="2137835" y="65295"/>
                    </a:cubicBezTo>
                    <a:lnTo>
                      <a:pt x="2137835" y="190294"/>
                    </a:lnTo>
                    <a:cubicBezTo>
                      <a:pt x="2137835" y="226355"/>
                      <a:pt x="2108602" y="255588"/>
                      <a:pt x="2072540" y="255588"/>
                    </a:cubicBezTo>
                    <a:lnTo>
                      <a:pt x="65295" y="255588"/>
                    </a:lnTo>
                    <a:cubicBezTo>
                      <a:pt x="47978" y="255588"/>
                      <a:pt x="31370" y="248709"/>
                      <a:pt x="19124" y="236464"/>
                    </a:cubicBezTo>
                    <a:cubicBezTo>
                      <a:pt x="6879" y="224219"/>
                      <a:pt x="0" y="207611"/>
                      <a:pt x="0" y="190294"/>
                    </a:cubicBezTo>
                    <a:lnTo>
                      <a:pt x="0" y="65295"/>
                    </a:lnTo>
                    <a:cubicBezTo>
                      <a:pt x="0" y="29234"/>
                      <a:pt x="29234" y="0"/>
                      <a:pt x="65295"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10" id="10"/>
              <p:cNvSpPr txBox="true"/>
              <p:nvPr/>
            </p:nvSpPr>
            <p:spPr>
              <a:xfrm>
                <a:off x="0" y="85725"/>
                <a:ext cx="2137835" cy="169863"/>
              </a:xfrm>
              <a:prstGeom prst="rect">
                <a:avLst/>
              </a:prstGeom>
            </p:spPr>
            <p:txBody>
              <a:bodyPr anchor="ctr" rtlCol="false" tIns="50800" lIns="50800" bIns="50800" rIns="50800"/>
              <a:lstStyle/>
              <a:p>
                <a:pPr algn="ctr">
                  <a:lnSpc>
                    <a:spcPts val="2218"/>
                  </a:lnSpc>
                </a:pPr>
              </a:p>
            </p:txBody>
          </p:sp>
        </p:grpSp>
        <p:sp>
          <p:nvSpPr>
            <p:cNvPr name="TextBox 11" id="11"/>
            <p:cNvSpPr txBox="true"/>
            <p:nvPr/>
          </p:nvSpPr>
          <p:spPr>
            <a:xfrm rot="0">
              <a:off x="418573" y="148469"/>
              <a:ext cx="8115470" cy="502666"/>
            </a:xfrm>
            <a:prstGeom prst="rect">
              <a:avLst/>
            </a:prstGeom>
          </p:spPr>
          <p:txBody>
            <a:bodyPr anchor="t" rtlCol="false" tIns="0" lIns="0" bIns="0" rIns="0">
              <a:spAutoFit/>
            </a:bodyPr>
            <a:lstStyle/>
            <a:p>
              <a:pPr algn="l">
                <a:lnSpc>
                  <a:spcPts val="3024"/>
                </a:lnSpc>
              </a:pPr>
              <a:r>
                <a:rPr lang="en-US" sz="2400" spc="-134">
                  <a:solidFill>
                    <a:srgbClr val="FFFFFF"/>
                  </a:solidFill>
                  <a:latin typeface="Open Sauce"/>
                  <a:ea typeface="Open Sauce"/>
                  <a:cs typeface="Open Sauce"/>
                  <a:sym typeface="Open Sauce"/>
                </a:rPr>
                <a:t>Temuan</a:t>
              </a:r>
            </a:p>
          </p:txBody>
        </p:sp>
      </p:grpSp>
      <p:grpSp>
        <p:nvGrpSpPr>
          <p:cNvPr name="Group 12" id="12"/>
          <p:cNvGrpSpPr/>
          <p:nvPr/>
        </p:nvGrpSpPr>
        <p:grpSpPr>
          <a:xfrm rot="0">
            <a:off x="1028700" y="337116"/>
            <a:ext cx="16386847" cy="1227065"/>
            <a:chOff x="0" y="0"/>
            <a:chExt cx="21849129" cy="1636087"/>
          </a:xfrm>
        </p:grpSpPr>
        <p:sp>
          <p:nvSpPr>
            <p:cNvPr name="Freeform 13" id="13"/>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5"/>
              <a:stretch>
                <a:fillRect l="-2838" t="-22494" r="-26999" b="-4205"/>
              </a:stretch>
            </a:blipFill>
          </p:spPr>
        </p:sp>
        <p:grpSp>
          <p:nvGrpSpPr>
            <p:cNvPr name="Group 14" id="14"/>
            <p:cNvGrpSpPr/>
            <p:nvPr/>
          </p:nvGrpSpPr>
          <p:grpSpPr>
            <a:xfrm rot="0">
              <a:off x="11378892" y="443664"/>
              <a:ext cx="3080976" cy="969444"/>
              <a:chOff x="0" y="0"/>
              <a:chExt cx="1291574" cy="406400"/>
            </a:xfrm>
          </p:grpSpPr>
          <p:sp>
            <p:nvSpPr>
              <p:cNvPr name="Freeform 15" id="15"/>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6" id="16"/>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8" id="18"/>
            <p:cNvGrpSpPr/>
            <p:nvPr/>
          </p:nvGrpSpPr>
          <p:grpSpPr>
            <a:xfrm rot="0">
              <a:off x="16468734" y="443664"/>
              <a:ext cx="5380395" cy="969444"/>
              <a:chOff x="0" y="0"/>
              <a:chExt cx="2255512" cy="406400"/>
            </a:xfrm>
          </p:grpSpPr>
          <p:sp>
            <p:nvSpPr>
              <p:cNvPr name="Freeform 19" id="19"/>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0" id="20"/>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2" id="22"/>
            <p:cNvGrpSpPr/>
            <p:nvPr/>
          </p:nvGrpSpPr>
          <p:grpSpPr>
            <a:xfrm rot="0">
              <a:off x="14828167" y="283406"/>
              <a:ext cx="1277412" cy="1277412"/>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4" id="24"/>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5" id="25"/>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3927341" y="3974672"/>
            <a:ext cx="2806031" cy="619765"/>
            <a:chOff x="0" y="0"/>
            <a:chExt cx="767387" cy="169492"/>
          </a:xfrm>
        </p:grpSpPr>
        <p:sp>
          <p:nvSpPr>
            <p:cNvPr name="Freeform 4" id="4"/>
            <p:cNvSpPr/>
            <p:nvPr/>
          </p:nvSpPr>
          <p:spPr>
            <a:xfrm flipH="false" flipV="false" rot="0">
              <a:off x="0" y="0"/>
              <a:ext cx="767387" cy="169492"/>
            </a:xfrm>
            <a:custGeom>
              <a:avLst/>
              <a:gdLst/>
              <a:ahLst/>
              <a:cxnLst/>
              <a:rect r="r" b="b" t="t" l="l"/>
              <a:pathLst>
                <a:path h="169492" w="767387">
                  <a:moveTo>
                    <a:pt x="84746" y="0"/>
                  </a:moveTo>
                  <a:lnTo>
                    <a:pt x="682641" y="0"/>
                  </a:lnTo>
                  <a:cubicBezTo>
                    <a:pt x="705117" y="0"/>
                    <a:pt x="726672" y="8929"/>
                    <a:pt x="742565" y="24822"/>
                  </a:cubicBezTo>
                  <a:cubicBezTo>
                    <a:pt x="758458" y="40714"/>
                    <a:pt x="767387" y="62270"/>
                    <a:pt x="767387" y="84746"/>
                  </a:cubicBezTo>
                  <a:lnTo>
                    <a:pt x="767387" y="84746"/>
                  </a:lnTo>
                  <a:cubicBezTo>
                    <a:pt x="767387" y="107222"/>
                    <a:pt x="758458" y="128777"/>
                    <a:pt x="742565" y="144670"/>
                  </a:cubicBezTo>
                  <a:cubicBezTo>
                    <a:pt x="726672" y="160563"/>
                    <a:pt x="705117" y="169492"/>
                    <a:pt x="682641" y="169492"/>
                  </a:cubicBezTo>
                  <a:lnTo>
                    <a:pt x="84746" y="169492"/>
                  </a:lnTo>
                  <a:cubicBezTo>
                    <a:pt x="62270" y="169492"/>
                    <a:pt x="40714" y="160563"/>
                    <a:pt x="24822" y="144670"/>
                  </a:cubicBezTo>
                  <a:cubicBezTo>
                    <a:pt x="8929" y="128777"/>
                    <a:pt x="0" y="107222"/>
                    <a:pt x="0" y="84746"/>
                  </a:cubicBezTo>
                  <a:lnTo>
                    <a:pt x="0" y="84746"/>
                  </a:lnTo>
                  <a:cubicBezTo>
                    <a:pt x="0" y="62270"/>
                    <a:pt x="8929" y="40714"/>
                    <a:pt x="24822" y="24822"/>
                  </a:cubicBezTo>
                  <a:cubicBezTo>
                    <a:pt x="40714" y="8929"/>
                    <a:pt x="62270" y="0"/>
                    <a:pt x="84746"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5" id="5"/>
            <p:cNvSpPr txBox="true"/>
            <p:nvPr/>
          </p:nvSpPr>
          <p:spPr>
            <a:xfrm>
              <a:off x="0" y="85725"/>
              <a:ext cx="767387" cy="83767"/>
            </a:xfrm>
            <a:prstGeom prst="rect">
              <a:avLst/>
            </a:prstGeom>
          </p:spPr>
          <p:txBody>
            <a:bodyPr anchor="ctr" rtlCol="false" tIns="50800" lIns="50800" bIns="50800" rIns="50800"/>
            <a:lstStyle/>
            <a:p>
              <a:pPr algn="ctr">
                <a:lnSpc>
                  <a:spcPts val="2218"/>
                </a:lnSpc>
              </a:pPr>
            </a:p>
          </p:txBody>
        </p:sp>
      </p:grpSp>
      <p:grpSp>
        <p:nvGrpSpPr>
          <p:cNvPr name="Group 6" id="6"/>
          <p:cNvGrpSpPr/>
          <p:nvPr/>
        </p:nvGrpSpPr>
        <p:grpSpPr>
          <a:xfrm rot="0">
            <a:off x="12256939" y="3899237"/>
            <a:ext cx="2806031" cy="619765"/>
            <a:chOff x="0" y="0"/>
            <a:chExt cx="767387" cy="169492"/>
          </a:xfrm>
        </p:grpSpPr>
        <p:sp>
          <p:nvSpPr>
            <p:cNvPr name="Freeform 7" id="7"/>
            <p:cNvSpPr/>
            <p:nvPr/>
          </p:nvSpPr>
          <p:spPr>
            <a:xfrm flipH="false" flipV="false" rot="0">
              <a:off x="0" y="0"/>
              <a:ext cx="767387" cy="169492"/>
            </a:xfrm>
            <a:custGeom>
              <a:avLst/>
              <a:gdLst/>
              <a:ahLst/>
              <a:cxnLst/>
              <a:rect r="r" b="b" t="t" l="l"/>
              <a:pathLst>
                <a:path h="169492" w="767387">
                  <a:moveTo>
                    <a:pt x="84746" y="0"/>
                  </a:moveTo>
                  <a:lnTo>
                    <a:pt x="682641" y="0"/>
                  </a:lnTo>
                  <a:cubicBezTo>
                    <a:pt x="705117" y="0"/>
                    <a:pt x="726672" y="8929"/>
                    <a:pt x="742565" y="24822"/>
                  </a:cubicBezTo>
                  <a:cubicBezTo>
                    <a:pt x="758458" y="40714"/>
                    <a:pt x="767387" y="62270"/>
                    <a:pt x="767387" y="84746"/>
                  </a:cubicBezTo>
                  <a:lnTo>
                    <a:pt x="767387" y="84746"/>
                  </a:lnTo>
                  <a:cubicBezTo>
                    <a:pt x="767387" y="107222"/>
                    <a:pt x="758458" y="128777"/>
                    <a:pt x="742565" y="144670"/>
                  </a:cubicBezTo>
                  <a:cubicBezTo>
                    <a:pt x="726672" y="160563"/>
                    <a:pt x="705117" y="169492"/>
                    <a:pt x="682641" y="169492"/>
                  </a:cubicBezTo>
                  <a:lnTo>
                    <a:pt x="84746" y="169492"/>
                  </a:lnTo>
                  <a:cubicBezTo>
                    <a:pt x="62270" y="169492"/>
                    <a:pt x="40714" y="160563"/>
                    <a:pt x="24822" y="144670"/>
                  </a:cubicBezTo>
                  <a:cubicBezTo>
                    <a:pt x="8929" y="128777"/>
                    <a:pt x="0" y="107222"/>
                    <a:pt x="0" y="84746"/>
                  </a:cubicBezTo>
                  <a:lnTo>
                    <a:pt x="0" y="84746"/>
                  </a:lnTo>
                  <a:cubicBezTo>
                    <a:pt x="0" y="62270"/>
                    <a:pt x="8929" y="40714"/>
                    <a:pt x="24822" y="24822"/>
                  </a:cubicBezTo>
                  <a:cubicBezTo>
                    <a:pt x="40714" y="8929"/>
                    <a:pt x="62270" y="0"/>
                    <a:pt x="84746" y="0"/>
                  </a:cubicBezTo>
                  <a:close/>
                </a:path>
              </a:pathLst>
            </a:custGeom>
            <a:gradFill rotWithShape="true">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name="TextBox 8" id="8"/>
            <p:cNvSpPr txBox="true"/>
            <p:nvPr/>
          </p:nvSpPr>
          <p:spPr>
            <a:xfrm>
              <a:off x="0" y="85725"/>
              <a:ext cx="767387" cy="83767"/>
            </a:xfrm>
            <a:prstGeom prst="rect">
              <a:avLst/>
            </a:prstGeom>
          </p:spPr>
          <p:txBody>
            <a:bodyPr anchor="ctr" rtlCol="false" tIns="50800" lIns="50800" bIns="50800" rIns="50800"/>
            <a:lstStyle/>
            <a:p>
              <a:pPr algn="ctr">
                <a:lnSpc>
                  <a:spcPts val="2218"/>
                </a:lnSpc>
              </a:pPr>
            </a:p>
          </p:txBody>
        </p:sp>
      </p:grpSp>
      <p:sp>
        <p:nvSpPr>
          <p:cNvPr name="TextBox 9" id="9"/>
          <p:cNvSpPr txBox="true"/>
          <p:nvPr/>
        </p:nvSpPr>
        <p:spPr>
          <a:xfrm rot="0">
            <a:off x="3319486" y="2120609"/>
            <a:ext cx="11649028" cy="1327106"/>
          </a:xfrm>
          <a:prstGeom prst="rect">
            <a:avLst/>
          </a:prstGeom>
        </p:spPr>
        <p:txBody>
          <a:bodyPr anchor="t" rtlCol="false" tIns="0" lIns="0" bIns="0" rIns="0">
            <a:spAutoFit/>
          </a:bodyPr>
          <a:lstStyle/>
          <a:p>
            <a:pPr algn="ctr">
              <a:lnSpc>
                <a:spcPts val="10507"/>
              </a:lnSpc>
              <a:spcBef>
                <a:spcPct val="0"/>
              </a:spcBef>
            </a:pPr>
            <a:r>
              <a:rPr lang="en-US" b="true" sz="8339" spc="-466">
                <a:solidFill>
                  <a:srgbClr val="FFFFFF"/>
                </a:solidFill>
                <a:latin typeface="Open Sauce Bold"/>
                <a:ea typeface="Open Sauce Bold"/>
                <a:cs typeface="Open Sauce Bold"/>
                <a:sym typeface="Open Sauce Bold"/>
              </a:rPr>
              <a:t>KESIMPULAN</a:t>
            </a:r>
          </a:p>
        </p:txBody>
      </p:sp>
      <p:sp>
        <p:nvSpPr>
          <p:cNvPr name="TextBox 10" id="10"/>
          <p:cNvSpPr txBox="true"/>
          <p:nvPr/>
        </p:nvSpPr>
        <p:spPr>
          <a:xfrm rot="0">
            <a:off x="1028700" y="4859905"/>
            <a:ext cx="8603313" cy="4259199"/>
          </a:xfrm>
          <a:prstGeom prst="rect">
            <a:avLst/>
          </a:prstGeom>
        </p:spPr>
        <p:txBody>
          <a:bodyPr anchor="t" rtlCol="false" tIns="0" lIns="0" bIns="0" rIns="0">
            <a:spAutoFit/>
          </a:bodyPr>
          <a:lstStyle/>
          <a:p>
            <a:pPr algn="l" marL="388620" indent="-194310" lvl="1">
              <a:lnSpc>
                <a:spcPts val="2448"/>
              </a:lnSpc>
              <a:buFont typeface="Arial"/>
              <a:buChar char="•"/>
            </a:pPr>
            <a:r>
              <a:rPr lang="en-US" sz="1800" spc="-41">
                <a:solidFill>
                  <a:srgbClr val="FFFFFF"/>
                </a:solidFill>
                <a:latin typeface="Gotham"/>
                <a:ea typeface="Gotham"/>
                <a:cs typeface="Gotham"/>
                <a:sym typeface="Gotham"/>
              </a:rPr>
              <a:t>D</a:t>
            </a:r>
            <a:r>
              <a:rPr lang="en-US" sz="1800" spc="-41">
                <a:solidFill>
                  <a:srgbClr val="FFFFFF"/>
                </a:solidFill>
                <a:latin typeface="Gotham"/>
                <a:ea typeface="Gotham"/>
                <a:cs typeface="Gotham"/>
                <a:sym typeface="Gotham"/>
              </a:rPr>
              <a:t>ominasi merek tidak selalu ditentukan oleh jumlah listing. Lenovo mendominasi pasar laptop, sedangkan Samsung, Apple, dan Poco menjadi merek terkuat pada pasar handphone.</a:t>
            </a:r>
          </a:p>
          <a:p>
            <a:pPr algn="l" marL="388620" indent="-194310" lvl="1">
              <a:lnSpc>
                <a:spcPts val="2448"/>
              </a:lnSpc>
              <a:buFont typeface="Arial"/>
              <a:buChar char="•"/>
            </a:pPr>
            <a:r>
              <a:rPr lang="en-US" sz="1800" spc="-41">
                <a:solidFill>
                  <a:srgbClr val="FFFFFF"/>
                </a:solidFill>
                <a:latin typeface="Gotham"/>
                <a:ea typeface="Gotham"/>
                <a:cs typeface="Gotham"/>
                <a:sym typeface="Gotham"/>
              </a:rPr>
              <a:t>Analisis anomali harga berhasil mengidentifikasi berbagai produk dengan harga tidak wajar, baik akibat kesalahan pencatatan maupun karakteristik produk premium tertentu.</a:t>
            </a:r>
          </a:p>
          <a:p>
            <a:pPr algn="l" marL="388620" indent="-194310" lvl="1">
              <a:lnSpc>
                <a:spcPts val="2448"/>
              </a:lnSpc>
              <a:buFont typeface="Arial"/>
              <a:buChar char="•"/>
            </a:pPr>
            <a:r>
              <a:rPr lang="en-US" sz="1800" spc="-41">
                <a:solidFill>
                  <a:srgbClr val="FFFFFF"/>
                </a:solidFill>
                <a:latin typeface="Gotham"/>
                <a:ea typeface="Gotham"/>
                <a:cs typeface="Gotham"/>
                <a:sym typeface="Gotham"/>
              </a:rPr>
              <a:t>Analisis resale value menunjukkan bahwa Samsung, Lenovo, Xiaomi, dan Realme memiliki kombinasi depresiasi dan likuiditas yang baik sehingga lebih menarik untuk pasar barang bekas.</a:t>
            </a:r>
          </a:p>
          <a:p>
            <a:pPr algn="l" marL="388620" indent="-194310" lvl="1">
              <a:lnSpc>
                <a:spcPts val="2448"/>
              </a:lnSpc>
              <a:buFont typeface="Arial"/>
              <a:buChar char="•"/>
            </a:pPr>
            <a:r>
              <a:rPr lang="en-US" sz="1800" spc="-41">
                <a:solidFill>
                  <a:srgbClr val="FFFFFF"/>
                </a:solidFill>
                <a:latin typeface="Gotham"/>
                <a:ea typeface="Gotham"/>
                <a:cs typeface="Gotham"/>
                <a:sym typeface="Gotham"/>
              </a:rPr>
              <a:t>Skor 1.555 menunjukkan pasar berada pada tingkat "Konsentrasi Moderat". Artinya, pasar laptop di e-commerce Indonesia tidak didominasi oleh satu perusahaan tunggal (monopoli), namun juga tidak terbagi rata ke banyak pemain kecil.</a:t>
            </a:r>
          </a:p>
          <a:p>
            <a:pPr algn="l">
              <a:lnSpc>
                <a:spcPts val="2448"/>
              </a:lnSpc>
            </a:pPr>
          </a:p>
        </p:txBody>
      </p:sp>
      <p:sp>
        <p:nvSpPr>
          <p:cNvPr name="TextBox 11" id="11"/>
          <p:cNvSpPr txBox="true"/>
          <p:nvPr/>
        </p:nvSpPr>
        <p:spPr>
          <a:xfrm rot="0">
            <a:off x="10060609" y="4941949"/>
            <a:ext cx="7198691" cy="3039999"/>
          </a:xfrm>
          <a:prstGeom prst="rect">
            <a:avLst/>
          </a:prstGeom>
        </p:spPr>
        <p:txBody>
          <a:bodyPr anchor="t" rtlCol="false" tIns="0" lIns="0" bIns="0" rIns="0">
            <a:spAutoFit/>
          </a:bodyPr>
          <a:lstStyle/>
          <a:p>
            <a:pPr algn="l" marL="388620" indent="-194310" lvl="1">
              <a:lnSpc>
                <a:spcPts val="2448"/>
              </a:lnSpc>
              <a:buFont typeface="Arial"/>
              <a:buChar char="•"/>
            </a:pPr>
            <a:r>
              <a:rPr lang="en-US" sz="1800" spc="-41">
                <a:solidFill>
                  <a:srgbClr val="FFFFFF"/>
                </a:solidFill>
                <a:latin typeface="Gotham"/>
                <a:ea typeface="Gotham"/>
                <a:cs typeface="Gotham"/>
                <a:sym typeface="Gotham"/>
              </a:rPr>
              <a:t>G</a:t>
            </a:r>
            <a:r>
              <a:rPr lang="en-US" sz="1800" spc="-41">
                <a:solidFill>
                  <a:srgbClr val="FFFFFF"/>
                </a:solidFill>
                <a:latin typeface="Gotham"/>
                <a:ea typeface="Gotham"/>
                <a:cs typeface="Gotham"/>
                <a:sym typeface="Gotham"/>
              </a:rPr>
              <a:t>unakan data historis multi-periode untuk memantau perubahan harga dan tren pasar secara lebih akurat.</a:t>
            </a:r>
          </a:p>
          <a:p>
            <a:pPr algn="l" marL="388620" indent="-194310" lvl="1">
              <a:lnSpc>
                <a:spcPts val="2448"/>
              </a:lnSpc>
              <a:buFont typeface="Arial"/>
              <a:buChar char="•"/>
            </a:pPr>
            <a:r>
              <a:rPr lang="en-US" sz="1800" spc="-41">
                <a:solidFill>
                  <a:srgbClr val="FFFFFF"/>
                </a:solidFill>
                <a:latin typeface="Gotham"/>
                <a:ea typeface="Gotham"/>
                <a:cs typeface="Gotham"/>
                <a:sym typeface="Gotham"/>
              </a:rPr>
              <a:t>Tambahkan variabel seperti spesifikasi produk, lokasi penjual, dan status official store untuk memperkaya analisis.</a:t>
            </a:r>
          </a:p>
          <a:p>
            <a:pPr algn="l" marL="388620" indent="-194310" lvl="1">
              <a:lnSpc>
                <a:spcPts val="2448"/>
              </a:lnSpc>
              <a:buFont typeface="Arial"/>
              <a:buChar char="•"/>
            </a:pPr>
            <a:r>
              <a:rPr lang="en-US" sz="1800" spc="-41">
                <a:solidFill>
                  <a:srgbClr val="FFFFFF"/>
                </a:solidFill>
                <a:latin typeface="Gotham"/>
                <a:ea typeface="Gotham"/>
                <a:cs typeface="Gotham"/>
                <a:sym typeface="Gotham"/>
              </a:rPr>
              <a:t>Terapkan metode machine learning pada deteksi anomali harga agar hasil yang diperoleh lebih akurat dan adaptif.</a:t>
            </a:r>
          </a:p>
          <a:p>
            <a:pPr algn="l" marL="388620" indent="-194310" lvl="1">
              <a:lnSpc>
                <a:spcPts val="2448"/>
              </a:lnSpc>
              <a:buFont typeface="Arial"/>
              <a:buChar char="•"/>
            </a:pPr>
            <a:r>
              <a:rPr lang="en-US" sz="1800" spc="-41">
                <a:solidFill>
                  <a:srgbClr val="FFFFFF"/>
                </a:solidFill>
                <a:latin typeface="Gotham"/>
                <a:ea typeface="Gotham"/>
                <a:cs typeface="Gotham"/>
                <a:sym typeface="Gotham"/>
              </a:rPr>
              <a:t>Pada pengembangan selanjutnya, hasil analisis dapat diintegrasikan ke dalam dashboard interaktif untuk mendukung pengambilan keputusan yang lebih cepat dan efektif.</a:t>
            </a:r>
          </a:p>
        </p:txBody>
      </p:sp>
      <p:sp>
        <p:nvSpPr>
          <p:cNvPr name="TextBox 12" id="12"/>
          <p:cNvSpPr txBox="true"/>
          <p:nvPr/>
        </p:nvSpPr>
        <p:spPr>
          <a:xfrm rot="0">
            <a:off x="3807620" y="4031058"/>
            <a:ext cx="3045473" cy="490708"/>
          </a:xfrm>
          <a:prstGeom prst="rect">
            <a:avLst/>
          </a:prstGeom>
        </p:spPr>
        <p:txBody>
          <a:bodyPr anchor="t" rtlCol="false" tIns="0" lIns="0" bIns="0" rIns="0">
            <a:spAutoFit/>
          </a:bodyPr>
          <a:lstStyle/>
          <a:p>
            <a:pPr algn="ctr">
              <a:lnSpc>
                <a:spcPts val="3909"/>
              </a:lnSpc>
            </a:pPr>
            <a:r>
              <a:rPr lang="en-US" b="true" sz="3102" spc="-173">
                <a:solidFill>
                  <a:srgbClr val="FFFFFF"/>
                </a:solidFill>
                <a:latin typeface="Open Sauce Bold"/>
                <a:ea typeface="Open Sauce Bold"/>
                <a:cs typeface="Open Sauce Bold"/>
                <a:sym typeface="Open Sauce Bold"/>
              </a:rPr>
              <a:t>Simpulan</a:t>
            </a:r>
          </a:p>
        </p:txBody>
      </p:sp>
      <p:sp>
        <p:nvSpPr>
          <p:cNvPr name="TextBox 13" id="13"/>
          <p:cNvSpPr txBox="true"/>
          <p:nvPr/>
        </p:nvSpPr>
        <p:spPr>
          <a:xfrm rot="0">
            <a:off x="12137218" y="3955622"/>
            <a:ext cx="3045473" cy="490708"/>
          </a:xfrm>
          <a:prstGeom prst="rect">
            <a:avLst/>
          </a:prstGeom>
        </p:spPr>
        <p:txBody>
          <a:bodyPr anchor="t" rtlCol="false" tIns="0" lIns="0" bIns="0" rIns="0">
            <a:spAutoFit/>
          </a:bodyPr>
          <a:lstStyle/>
          <a:p>
            <a:pPr algn="ctr">
              <a:lnSpc>
                <a:spcPts val="3909"/>
              </a:lnSpc>
            </a:pPr>
            <a:r>
              <a:rPr lang="en-US" b="true" sz="3102" spc="-173">
                <a:solidFill>
                  <a:srgbClr val="FFFFFF"/>
                </a:solidFill>
                <a:latin typeface="Open Sauce Bold"/>
                <a:ea typeface="Open Sauce Bold"/>
                <a:cs typeface="Open Sauce Bold"/>
                <a:sym typeface="Open Sauce Bold"/>
              </a:rPr>
              <a:t>Saran</a:t>
            </a:r>
          </a:p>
        </p:txBody>
      </p:sp>
      <p:grpSp>
        <p:nvGrpSpPr>
          <p:cNvPr name="Group 14" id="14"/>
          <p:cNvGrpSpPr/>
          <p:nvPr/>
        </p:nvGrpSpPr>
        <p:grpSpPr>
          <a:xfrm rot="0">
            <a:off x="1028700" y="337116"/>
            <a:ext cx="16386847" cy="1227065"/>
            <a:chOff x="0" y="0"/>
            <a:chExt cx="21849129" cy="1636087"/>
          </a:xfrm>
        </p:grpSpPr>
        <p:sp>
          <p:nvSpPr>
            <p:cNvPr name="Freeform 15" id="15"/>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16" id="16"/>
            <p:cNvGrpSpPr/>
            <p:nvPr/>
          </p:nvGrpSpPr>
          <p:grpSpPr>
            <a:xfrm rot="0">
              <a:off x="11378892" y="443664"/>
              <a:ext cx="3080976" cy="969444"/>
              <a:chOff x="0" y="0"/>
              <a:chExt cx="1291574" cy="406400"/>
            </a:xfrm>
          </p:grpSpPr>
          <p:sp>
            <p:nvSpPr>
              <p:cNvPr name="Freeform 17" id="17"/>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8" id="18"/>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20" id="20"/>
            <p:cNvGrpSpPr/>
            <p:nvPr/>
          </p:nvGrpSpPr>
          <p:grpSpPr>
            <a:xfrm rot="0">
              <a:off x="16468734" y="443664"/>
              <a:ext cx="5380395" cy="969444"/>
              <a:chOff x="0" y="0"/>
              <a:chExt cx="2255512" cy="406400"/>
            </a:xfrm>
          </p:grpSpPr>
          <p:sp>
            <p:nvSpPr>
              <p:cNvPr name="Freeform 21" id="21"/>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22" id="22"/>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24" id="24"/>
            <p:cNvGrpSpPr/>
            <p:nvPr/>
          </p:nvGrpSpPr>
          <p:grpSpPr>
            <a:xfrm rot="0">
              <a:off x="14828167" y="283406"/>
              <a:ext cx="1277412" cy="1277412"/>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26" id="26"/>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27" id="27"/>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AutoShape 28" id="28"/>
          <p:cNvSpPr/>
          <p:nvPr/>
        </p:nvSpPr>
        <p:spPr>
          <a:xfrm>
            <a:off x="1028700" y="9248775"/>
            <a:ext cx="16105552"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sp>
        <p:nvSpPr>
          <p:cNvPr name="TextBox 3" id="3"/>
          <p:cNvSpPr txBox="true"/>
          <p:nvPr/>
        </p:nvSpPr>
        <p:spPr>
          <a:xfrm rot="0">
            <a:off x="1556418" y="3196043"/>
            <a:ext cx="15175164" cy="4525645"/>
          </a:xfrm>
          <a:prstGeom prst="rect">
            <a:avLst/>
          </a:prstGeom>
        </p:spPr>
        <p:txBody>
          <a:bodyPr anchor="t" rtlCol="false" tIns="0" lIns="0" bIns="0" rIns="0">
            <a:spAutoFit/>
          </a:bodyPr>
          <a:lstStyle/>
          <a:p>
            <a:pPr algn="ctr">
              <a:lnSpc>
                <a:spcPts val="15900"/>
              </a:lnSpc>
            </a:pPr>
            <a:r>
              <a:rPr lang="en-US" sz="17283" b="true">
                <a:solidFill>
                  <a:srgbClr val="FFFFFF"/>
                </a:solidFill>
                <a:latin typeface="ITC Avant Garde Gothic Bold"/>
                <a:ea typeface="ITC Avant Garde Gothic Bold"/>
                <a:cs typeface="ITC Avant Garde Gothic Bold"/>
                <a:sym typeface="ITC Avant Garde Gothic Bold"/>
              </a:rPr>
              <a:t>TERIMA KASIH</a:t>
            </a:r>
          </a:p>
        </p:txBody>
      </p:sp>
      <p:sp>
        <p:nvSpPr>
          <p:cNvPr name="AutoShape 4" id="4"/>
          <p:cNvSpPr/>
          <p:nvPr/>
        </p:nvSpPr>
        <p:spPr>
          <a:xfrm>
            <a:off x="1309995" y="9248775"/>
            <a:ext cx="16105552" cy="0"/>
          </a:xfrm>
          <a:prstGeom prst="line">
            <a:avLst/>
          </a:prstGeom>
          <a:ln cap="flat" w="19050">
            <a:solidFill>
              <a:srgbClr val="FFFFFF"/>
            </a:solidFill>
            <a:prstDash val="solid"/>
            <a:headEnd type="none" len="sm" w="sm"/>
            <a:tailEnd type="none" len="sm" w="sm"/>
          </a:ln>
        </p:spPr>
      </p:sp>
      <p:grpSp>
        <p:nvGrpSpPr>
          <p:cNvPr name="Group 5" id="5"/>
          <p:cNvGrpSpPr/>
          <p:nvPr/>
        </p:nvGrpSpPr>
        <p:grpSpPr>
          <a:xfrm rot="0">
            <a:off x="1028700" y="337116"/>
            <a:ext cx="16386847" cy="1227065"/>
            <a:chOff x="0" y="0"/>
            <a:chExt cx="21849129" cy="1636087"/>
          </a:xfrm>
        </p:grpSpPr>
        <p:sp>
          <p:nvSpPr>
            <p:cNvPr name="Freeform 6" id="6"/>
            <p:cNvSpPr/>
            <p:nvPr/>
          </p:nvSpPr>
          <p:spPr>
            <a:xfrm flipH="false" flipV="false" rot="0">
              <a:off x="0" y="0"/>
              <a:ext cx="7135399" cy="1636087"/>
            </a:xfrm>
            <a:custGeom>
              <a:avLst/>
              <a:gdLst/>
              <a:ahLst/>
              <a:cxnLst/>
              <a:rect r="r" b="b" t="t" l="l"/>
              <a:pathLst>
                <a:path h="1636087" w="7135399">
                  <a:moveTo>
                    <a:pt x="0" y="0"/>
                  </a:moveTo>
                  <a:lnTo>
                    <a:pt x="7135399" y="0"/>
                  </a:lnTo>
                  <a:lnTo>
                    <a:pt x="7135399" y="1636087"/>
                  </a:lnTo>
                  <a:lnTo>
                    <a:pt x="0" y="1636087"/>
                  </a:lnTo>
                  <a:lnTo>
                    <a:pt x="0" y="0"/>
                  </a:lnTo>
                  <a:close/>
                </a:path>
              </a:pathLst>
            </a:custGeom>
            <a:blipFill>
              <a:blip r:embed="rId3"/>
              <a:stretch>
                <a:fillRect l="-2838" t="-22494" r="-26999" b="-4205"/>
              </a:stretch>
            </a:blipFill>
          </p:spPr>
        </p:sp>
        <p:grpSp>
          <p:nvGrpSpPr>
            <p:cNvPr name="Group 7" id="7"/>
            <p:cNvGrpSpPr/>
            <p:nvPr/>
          </p:nvGrpSpPr>
          <p:grpSpPr>
            <a:xfrm rot="0">
              <a:off x="11378892" y="443664"/>
              <a:ext cx="3080976" cy="969444"/>
              <a:chOff x="0" y="0"/>
              <a:chExt cx="1291574" cy="406400"/>
            </a:xfrm>
          </p:grpSpPr>
          <p:sp>
            <p:nvSpPr>
              <p:cNvPr name="Freeform 8" id="8"/>
              <p:cNvSpPr/>
              <p:nvPr/>
            </p:nvSpPr>
            <p:spPr>
              <a:xfrm flipH="false" flipV="false" rot="0">
                <a:off x="0" y="0"/>
                <a:ext cx="1291574" cy="406400"/>
              </a:xfrm>
              <a:custGeom>
                <a:avLst/>
                <a:gdLst/>
                <a:ahLst/>
                <a:cxnLst/>
                <a:rect r="r" b="b" t="t" l="l"/>
                <a:pathLst>
                  <a:path h="406400" w="1291574">
                    <a:moveTo>
                      <a:pt x="1088374" y="0"/>
                    </a:moveTo>
                    <a:cubicBezTo>
                      <a:pt x="1200598" y="0"/>
                      <a:pt x="1291574" y="90976"/>
                      <a:pt x="1291574" y="203200"/>
                    </a:cubicBezTo>
                    <a:cubicBezTo>
                      <a:pt x="1291574" y="315424"/>
                      <a:pt x="1200598" y="406400"/>
                      <a:pt x="1088374"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9" id="9"/>
              <p:cNvSpPr txBox="true"/>
              <p:nvPr/>
            </p:nvSpPr>
            <p:spPr>
              <a:xfrm>
                <a:off x="0" y="-38100"/>
                <a:ext cx="1291574"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1860891" y="593631"/>
              <a:ext cx="211697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Big Data</a:t>
              </a:r>
            </a:p>
          </p:txBody>
        </p:sp>
        <p:grpSp>
          <p:nvGrpSpPr>
            <p:cNvPr name="Group 11" id="11"/>
            <p:cNvGrpSpPr/>
            <p:nvPr/>
          </p:nvGrpSpPr>
          <p:grpSpPr>
            <a:xfrm rot="0">
              <a:off x="16468734" y="443664"/>
              <a:ext cx="5380395" cy="969444"/>
              <a:chOff x="0" y="0"/>
              <a:chExt cx="2255512" cy="406400"/>
            </a:xfrm>
          </p:grpSpPr>
          <p:sp>
            <p:nvSpPr>
              <p:cNvPr name="Freeform 12" id="12"/>
              <p:cNvSpPr/>
              <p:nvPr/>
            </p:nvSpPr>
            <p:spPr>
              <a:xfrm flipH="false" flipV="false" rot="0">
                <a:off x="0" y="0"/>
                <a:ext cx="2255512" cy="406400"/>
              </a:xfrm>
              <a:custGeom>
                <a:avLst/>
                <a:gdLst/>
                <a:ahLst/>
                <a:cxnLst/>
                <a:rect r="r" b="b" t="t" l="l"/>
                <a:pathLst>
                  <a:path h="406400" w="2255512">
                    <a:moveTo>
                      <a:pt x="2052312" y="0"/>
                    </a:moveTo>
                    <a:cubicBezTo>
                      <a:pt x="2164536" y="0"/>
                      <a:pt x="2255512" y="90976"/>
                      <a:pt x="2255512" y="203200"/>
                    </a:cubicBezTo>
                    <a:cubicBezTo>
                      <a:pt x="2255512" y="315424"/>
                      <a:pt x="2164536" y="406400"/>
                      <a:pt x="2052312" y="406400"/>
                    </a:cubicBezTo>
                    <a:lnTo>
                      <a:pt x="203200" y="406400"/>
                    </a:lnTo>
                    <a:cubicBezTo>
                      <a:pt x="90976" y="406400"/>
                      <a:pt x="0" y="315424"/>
                      <a:pt x="0" y="203200"/>
                    </a:cubicBezTo>
                    <a:cubicBezTo>
                      <a:pt x="0" y="90976"/>
                      <a:pt x="90976" y="0"/>
                      <a:pt x="203200" y="0"/>
                    </a:cubicBezTo>
                    <a:close/>
                  </a:path>
                </a:pathLst>
              </a:custGeom>
              <a:solidFill>
                <a:srgbClr val="618273">
                  <a:alpha val="69804"/>
                </a:srgbClr>
              </a:solidFill>
            </p:spPr>
          </p:sp>
          <p:sp>
            <p:nvSpPr>
              <p:cNvPr name="TextBox 13" id="13"/>
              <p:cNvSpPr txBox="true"/>
              <p:nvPr/>
            </p:nvSpPr>
            <p:spPr>
              <a:xfrm>
                <a:off x="0" y="-38100"/>
                <a:ext cx="2255512"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7310463" y="593631"/>
              <a:ext cx="3696937" cy="571085"/>
            </a:xfrm>
            <a:prstGeom prst="rect">
              <a:avLst/>
            </a:prstGeom>
          </p:spPr>
          <p:txBody>
            <a:bodyPr anchor="t" rtlCol="false" tIns="0" lIns="0" bIns="0" rIns="0">
              <a:spAutoFit/>
            </a:bodyPr>
            <a:lstStyle/>
            <a:p>
              <a:pPr algn="l">
                <a:lnSpc>
                  <a:spcPts val="3662"/>
                </a:lnSpc>
              </a:pPr>
              <a:r>
                <a:rPr lang="en-US" sz="2616" b="true">
                  <a:solidFill>
                    <a:srgbClr val="FFFFFF"/>
                  </a:solidFill>
                  <a:latin typeface="Montserrat Bold"/>
                  <a:ea typeface="Montserrat Bold"/>
                  <a:cs typeface="Montserrat Bold"/>
                  <a:sym typeface="Montserrat Bold"/>
                </a:rPr>
                <a:t>Kelompok SIPP</a:t>
              </a:r>
            </a:p>
          </p:txBody>
        </p:sp>
        <p:grpSp>
          <p:nvGrpSpPr>
            <p:cNvPr name="Group 15" id="15"/>
            <p:cNvGrpSpPr/>
            <p:nvPr/>
          </p:nvGrpSpPr>
          <p:grpSpPr>
            <a:xfrm rot="0">
              <a:off x="14828167" y="283406"/>
              <a:ext cx="1277412" cy="127741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18273"/>
              </a:solidFill>
            </p:spPr>
          </p:sp>
          <p:sp>
            <p:nvSpPr>
              <p:cNvPr name="TextBox 17" id="17"/>
              <p:cNvSpPr txBox="true"/>
              <p:nvPr/>
            </p:nvSpPr>
            <p:spPr>
              <a:xfrm>
                <a:off x="76200" y="28575"/>
                <a:ext cx="660400" cy="708025"/>
              </a:xfrm>
              <a:prstGeom prst="rect">
                <a:avLst/>
              </a:prstGeom>
            </p:spPr>
            <p:txBody>
              <a:bodyPr anchor="ctr" rtlCol="false" tIns="22080" lIns="22080" bIns="22080" rIns="22080"/>
              <a:lstStyle/>
              <a:p>
                <a:pPr algn="ctr">
                  <a:lnSpc>
                    <a:spcPts val="3116"/>
                  </a:lnSpc>
                </a:pPr>
              </a:p>
            </p:txBody>
          </p:sp>
        </p:grpSp>
        <p:sp>
          <p:nvSpPr>
            <p:cNvPr name="Freeform 18" id="18"/>
            <p:cNvSpPr/>
            <p:nvPr/>
          </p:nvSpPr>
          <p:spPr>
            <a:xfrm flipH="false" flipV="false" rot="0">
              <a:off x="15009122" y="447801"/>
              <a:ext cx="959662" cy="959662"/>
            </a:xfrm>
            <a:custGeom>
              <a:avLst/>
              <a:gdLst/>
              <a:ahLst/>
              <a:cxnLst/>
              <a:rect r="r" b="b" t="t" l="l"/>
              <a:pathLst>
                <a:path h="959662" w="959662">
                  <a:moveTo>
                    <a:pt x="0" y="0"/>
                  </a:moveTo>
                  <a:lnTo>
                    <a:pt x="959662" y="0"/>
                  </a:lnTo>
                  <a:lnTo>
                    <a:pt x="959662" y="959662"/>
                  </a:lnTo>
                  <a:lnTo>
                    <a:pt x="0" y="959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DAHM5kKsSRQ</dc:identifier>
  <dcterms:modified xsi:type="dcterms:W3CDTF">2011-08-01T06:04:30Z</dcterms:modified>
  <cp:revision>1</cp:revision>
  <dc:title>EAS BIGDA</dc:title>
</cp:coreProperties>
</file>